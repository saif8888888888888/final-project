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23"/>
  </p:notesMasterIdLst>
  <p:sldIdLst>
    <p:sldId id="256" r:id="rId5"/>
    <p:sldId id="269" r:id="rId6"/>
    <p:sldId id="257" r:id="rId7"/>
    <p:sldId id="275" r:id="rId8"/>
    <p:sldId id="276" r:id="rId9"/>
    <p:sldId id="278" r:id="rId10"/>
    <p:sldId id="277" r:id="rId11"/>
    <p:sldId id="279" r:id="rId12"/>
    <p:sldId id="274" r:id="rId13"/>
    <p:sldId id="273" r:id="rId14"/>
    <p:sldId id="268" r:id="rId15"/>
    <p:sldId id="272" r:id="rId16"/>
    <p:sldId id="280" r:id="rId17"/>
    <p:sldId id="271" r:id="rId18"/>
    <p:sldId id="281" r:id="rId19"/>
    <p:sldId id="270" r:id="rId20"/>
    <p:sldId id="265" r:id="rId21"/>
    <p:sldId id="266"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FC2D18-EF63-4D9B-9159-C57170ED9203}" v="1" dt="2025-09-07T17:40:57.987"/>
  </p1510:revLst>
</p1510:revInfo>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75" d="100"/>
          <a:sy n="75" d="100"/>
        </p:scale>
        <p:origin x="931"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ushna t" userId="08f22df647a076ce" providerId="LiveId" clId="{6AFC2D18-EF63-4D9B-9159-C57170ED9203}"/>
    <pc:docChg chg="modSld">
      <pc:chgData name="krushna t" userId="08f22df647a076ce" providerId="LiveId" clId="{6AFC2D18-EF63-4D9B-9159-C57170ED9203}" dt="2025-09-07T17:40:57.987" v="0"/>
      <pc:docMkLst>
        <pc:docMk/>
      </pc:docMkLst>
      <pc:sldChg chg="modTransition">
        <pc:chgData name="krushna t" userId="08f22df647a076ce" providerId="LiveId" clId="{6AFC2D18-EF63-4D9B-9159-C57170ED9203}" dt="2025-09-07T17:40:57.987" v="0"/>
        <pc:sldMkLst>
          <pc:docMk/>
          <pc:sldMk cId="0" sldId="256"/>
        </pc:sldMkLst>
      </pc:sldChg>
      <pc:sldChg chg="modTransition">
        <pc:chgData name="krushna t" userId="08f22df647a076ce" providerId="LiveId" clId="{6AFC2D18-EF63-4D9B-9159-C57170ED9203}" dt="2025-09-07T17:40:57.987" v="0"/>
        <pc:sldMkLst>
          <pc:docMk/>
          <pc:sldMk cId="0" sldId="257"/>
        </pc:sldMkLst>
      </pc:sldChg>
      <pc:sldChg chg="modTransition">
        <pc:chgData name="krushna t" userId="08f22df647a076ce" providerId="LiveId" clId="{6AFC2D18-EF63-4D9B-9159-C57170ED9203}" dt="2025-09-07T17:40:57.987" v="0"/>
        <pc:sldMkLst>
          <pc:docMk/>
          <pc:sldMk cId="0" sldId="265"/>
        </pc:sldMkLst>
      </pc:sldChg>
      <pc:sldChg chg="modTransition">
        <pc:chgData name="krushna t" userId="08f22df647a076ce" providerId="LiveId" clId="{6AFC2D18-EF63-4D9B-9159-C57170ED9203}" dt="2025-09-07T17:40:57.987" v="0"/>
        <pc:sldMkLst>
          <pc:docMk/>
          <pc:sldMk cId="0" sldId="266"/>
        </pc:sldMkLst>
      </pc:sldChg>
      <pc:sldChg chg="modTransition">
        <pc:chgData name="krushna t" userId="08f22df647a076ce" providerId="LiveId" clId="{6AFC2D18-EF63-4D9B-9159-C57170ED9203}" dt="2025-09-07T17:40:57.987" v="0"/>
        <pc:sldMkLst>
          <pc:docMk/>
          <pc:sldMk cId="2856357337" sldId="268"/>
        </pc:sldMkLst>
      </pc:sldChg>
      <pc:sldChg chg="modTransition">
        <pc:chgData name="krushna t" userId="08f22df647a076ce" providerId="LiveId" clId="{6AFC2D18-EF63-4D9B-9159-C57170ED9203}" dt="2025-09-07T17:40:57.987" v="0"/>
        <pc:sldMkLst>
          <pc:docMk/>
          <pc:sldMk cId="2143451837" sldId="269"/>
        </pc:sldMkLst>
      </pc:sldChg>
      <pc:sldChg chg="modTransition">
        <pc:chgData name="krushna t" userId="08f22df647a076ce" providerId="LiveId" clId="{6AFC2D18-EF63-4D9B-9159-C57170ED9203}" dt="2025-09-07T17:40:57.987" v="0"/>
        <pc:sldMkLst>
          <pc:docMk/>
          <pc:sldMk cId="479890276" sldId="270"/>
        </pc:sldMkLst>
      </pc:sldChg>
      <pc:sldChg chg="modTransition">
        <pc:chgData name="krushna t" userId="08f22df647a076ce" providerId="LiveId" clId="{6AFC2D18-EF63-4D9B-9159-C57170ED9203}" dt="2025-09-07T17:40:57.987" v="0"/>
        <pc:sldMkLst>
          <pc:docMk/>
          <pc:sldMk cId="2000455742" sldId="271"/>
        </pc:sldMkLst>
      </pc:sldChg>
      <pc:sldChg chg="modTransition">
        <pc:chgData name="krushna t" userId="08f22df647a076ce" providerId="LiveId" clId="{6AFC2D18-EF63-4D9B-9159-C57170ED9203}" dt="2025-09-07T17:40:57.987" v="0"/>
        <pc:sldMkLst>
          <pc:docMk/>
          <pc:sldMk cId="3338832548" sldId="272"/>
        </pc:sldMkLst>
      </pc:sldChg>
      <pc:sldChg chg="modTransition">
        <pc:chgData name="krushna t" userId="08f22df647a076ce" providerId="LiveId" clId="{6AFC2D18-EF63-4D9B-9159-C57170ED9203}" dt="2025-09-07T17:40:57.987" v="0"/>
        <pc:sldMkLst>
          <pc:docMk/>
          <pc:sldMk cId="1030816154" sldId="273"/>
        </pc:sldMkLst>
      </pc:sldChg>
      <pc:sldChg chg="modTransition">
        <pc:chgData name="krushna t" userId="08f22df647a076ce" providerId="LiveId" clId="{6AFC2D18-EF63-4D9B-9159-C57170ED9203}" dt="2025-09-07T17:40:57.987" v="0"/>
        <pc:sldMkLst>
          <pc:docMk/>
          <pc:sldMk cId="2637979550" sldId="274"/>
        </pc:sldMkLst>
      </pc:sldChg>
      <pc:sldChg chg="modTransition">
        <pc:chgData name="krushna t" userId="08f22df647a076ce" providerId="LiveId" clId="{6AFC2D18-EF63-4D9B-9159-C57170ED9203}" dt="2025-09-07T17:40:57.987" v="0"/>
        <pc:sldMkLst>
          <pc:docMk/>
          <pc:sldMk cId="3807360646" sldId="275"/>
        </pc:sldMkLst>
      </pc:sldChg>
      <pc:sldChg chg="modTransition">
        <pc:chgData name="krushna t" userId="08f22df647a076ce" providerId="LiveId" clId="{6AFC2D18-EF63-4D9B-9159-C57170ED9203}" dt="2025-09-07T17:40:57.987" v="0"/>
        <pc:sldMkLst>
          <pc:docMk/>
          <pc:sldMk cId="1938440938" sldId="276"/>
        </pc:sldMkLst>
      </pc:sldChg>
      <pc:sldChg chg="modTransition">
        <pc:chgData name="krushna t" userId="08f22df647a076ce" providerId="LiveId" clId="{6AFC2D18-EF63-4D9B-9159-C57170ED9203}" dt="2025-09-07T17:40:57.987" v="0"/>
        <pc:sldMkLst>
          <pc:docMk/>
          <pc:sldMk cId="2358928709" sldId="277"/>
        </pc:sldMkLst>
      </pc:sldChg>
      <pc:sldChg chg="modTransition">
        <pc:chgData name="krushna t" userId="08f22df647a076ce" providerId="LiveId" clId="{6AFC2D18-EF63-4D9B-9159-C57170ED9203}" dt="2025-09-07T17:40:57.987" v="0"/>
        <pc:sldMkLst>
          <pc:docMk/>
          <pc:sldMk cId="3674553750" sldId="278"/>
        </pc:sldMkLst>
      </pc:sldChg>
      <pc:sldChg chg="modTransition">
        <pc:chgData name="krushna t" userId="08f22df647a076ce" providerId="LiveId" clId="{6AFC2D18-EF63-4D9B-9159-C57170ED9203}" dt="2025-09-07T17:40:57.987" v="0"/>
        <pc:sldMkLst>
          <pc:docMk/>
          <pc:sldMk cId="1620754771" sldId="279"/>
        </pc:sldMkLst>
      </pc:sldChg>
      <pc:sldChg chg="modTransition">
        <pc:chgData name="krushna t" userId="08f22df647a076ce" providerId="LiveId" clId="{6AFC2D18-EF63-4D9B-9159-C57170ED9203}" dt="2025-09-07T17:40:57.987" v="0"/>
        <pc:sldMkLst>
          <pc:docMk/>
          <pc:sldMk cId="3080768770" sldId="280"/>
        </pc:sldMkLst>
      </pc:sldChg>
      <pc:sldChg chg="modTransition">
        <pc:chgData name="krushna t" userId="08f22df647a076ce" providerId="LiveId" clId="{6AFC2D18-EF63-4D9B-9159-C57170ED9203}" dt="2025-09-07T17:40:57.987" v="0"/>
        <pc:sldMkLst>
          <pc:docMk/>
          <pc:sldMk cId="2486774031"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CB70AF6-4696-1FC4-D5B0-9F9FB406E259}"/>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CCCF6A0-6CF7-3DB2-03D5-1F9FB773C0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3A378A96-D89A-AE1C-AA34-D930AA8F75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80594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610663E-0488-AF58-68F1-54C5E761C62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D734D90D-AD07-13E8-AAD7-7ABA5E157D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B107ADE3-026F-B0DF-AE2A-FDD31FEEE1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93946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0C7B8C8-0C31-341C-AA9B-C9DA5A8DDA9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FF049A8-D3F8-3ED6-D59C-DC9ABE8849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2B2616E9-EBA3-8A0B-6780-D4395A23B4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0453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F6ACC6B-91CC-73DB-6431-3FE3E94F27C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B1E260E-3EBD-3F04-D38F-AA995673FB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DCE028A-F63F-3E5E-72BE-0FBE4BA3FC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01750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42109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rgbClr val="17365D"/>
              </a:buClr>
              <a:buSzPts val="2800"/>
              <a:buFont typeface="Verdana"/>
              <a:buNone/>
            </a:pPr>
            <a:r>
              <a:rPr lang="en-GB" sz="2400" dirty="0">
                <a:solidFill>
                  <a:schemeClr val="tx1"/>
                </a:solidFill>
                <a:latin typeface="Cambria" panose="02040503050406030204" pitchFamily="18" charset="0"/>
                <a:ea typeface="Cambria" panose="02040503050406030204" pitchFamily="18" charset="0"/>
              </a:rPr>
              <a:t>PROJECT TITLE</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CCS-23</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marL="0" marR="0" lvl="0" indent="0" algn="ctr"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Dr./Mr./Ms./Prof.</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Professor / Associate Professor / Assistant Professor</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a:buNone/>
            </a:pPr>
            <a:endParaRPr sz="20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3062972318"/>
              </p:ext>
            </p:extLst>
          </p:nvPr>
        </p:nvGraphicFramePr>
        <p:xfrm>
          <a:off x="553347" y="2721840"/>
          <a:ext cx="5418675" cy="2194620"/>
        </p:xfrm>
        <a:graphic>
          <a:graphicData uri="http://schemas.openxmlformats.org/drawingml/2006/table">
            <a:tbl>
              <a:tblPr firstRow="1" bandRow="1">
                <a:noFill/>
                <a:tableStyleId>{57690726-49DA-4552-BDEB-330DD8EA8BD9}</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51747">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43">
                <a:tc>
                  <a:txBody>
                    <a:bodyPr/>
                    <a:lstStyle/>
                    <a:p>
                      <a:pPr marL="0" marR="0" lvl="0" indent="0" algn="ctr" rtl="0">
                        <a:spcBef>
                          <a:spcPts val="0"/>
                        </a:spcBef>
                        <a:spcAft>
                          <a:spcPts val="0"/>
                        </a:spcAft>
                        <a:buFont typeface="+mj-l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43">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i="0" u="none" strike="noStrike" cap="none" dirty="0" err="1">
                <a:solidFill>
                  <a:schemeClr val="accent1"/>
                </a:solidFill>
                <a:latin typeface="Cambria" panose="02040503050406030204" pitchFamily="18" charset="0"/>
                <a:ea typeface="Cambria" panose="02040503050406030204" pitchFamily="18" charset="0"/>
                <a:cs typeface="Verdana"/>
                <a:sym typeface="Verdana"/>
              </a:rPr>
              <a:t>Btech</a:t>
            </a: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 Cyber Security</a:t>
            </a:r>
          </a:p>
          <a:p>
            <a:pPr marL="0" marR="0" lvl="0" indent="0" rtl="0">
              <a:spcBef>
                <a:spcPts val="0"/>
              </a:spcBef>
              <a:spcAft>
                <a:spcPts val="0"/>
              </a:spcAft>
              <a:buClr>
                <a:srgbClr val="17365D"/>
              </a:buClr>
              <a:buSzPct val="100000"/>
              <a:buFont typeface="Arial"/>
              <a:buNone/>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a:t>
            </a:r>
            <a:r>
              <a:rPr lang="en-US" sz="1800" b="1" dirty="0" err="1">
                <a:solidFill>
                  <a:schemeClr val="accent1"/>
                </a:solidFill>
                <a:latin typeface="Cambria" panose="02040503050406030204" pitchFamily="18" charset="0"/>
                <a:ea typeface="Cambria" panose="02040503050406030204" pitchFamily="18" charset="0"/>
                <a:cs typeface="Verdana"/>
                <a:sym typeface="Verdana"/>
              </a:rPr>
              <a:t>HoD</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err="1">
                <a:solidFill>
                  <a:srgbClr val="FF0000"/>
                </a:solidFill>
                <a:latin typeface="Cambria" panose="02040503050406030204" pitchFamily="18" charset="0"/>
                <a:ea typeface="Cambria" panose="02040503050406030204" pitchFamily="18" charset="0"/>
                <a:cs typeface="Verdana"/>
                <a:sym typeface="Verdana"/>
              </a:rPr>
              <a:t>Anandraj</a:t>
            </a:r>
            <a:r>
              <a:rPr lang="en-US" sz="1800" b="1" dirty="0">
                <a:solidFill>
                  <a:srgbClr val="FF0000"/>
                </a:solidFill>
                <a:latin typeface="Cambria" panose="02040503050406030204" pitchFamily="18" charset="0"/>
                <a:ea typeface="Cambria" panose="02040503050406030204" pitchFamily="18" charset="0"/>
                <a:cs typeface="Verdana"/>
                <a:sym typeface="Verdana"/>
              </a:rPr>
              <a:t> SP</a:t>
            </a: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US" sz="1800" b="1" dirty="0" err="1">
                <a:solidFill>
                  <a:srgbClr val="FF0000"/>
                </a:solidFill>
                <a:latin typeface="Cambria" panose="02040503050406030204" pitchFamily="18" charset="0"/>
                <a:ea typeface="Cambria" panose="02040503050406030204" pitchFamily="18" charset="0"/>
                <a:cs typeface="Verdana"/>
                <a:sym typeface="Verdana"/>
              </a:rPr>
              <a:t>Dr.Sharmasth</a:t>
            </a:r>
            <a:r>
              <a:rPr lang="en-US" sz="1800" b="1" dirty="0">
                <a:solidFill>
                  <a:srgbClr val="FF0000"/>
                </a:solidFill>
                <a:latin typeface="Cambria" panose="02040503050406030204" pitchFamily="18" charset="0"/>
                <a:ea typeface="Cambria" panose="02040503050406030204" pitchFamily="18" charset="0"/>
                <a:cs typeface="Verdana"/>
                <a:sym typeface="Verdana"/>
              </a:rPr>
              <a:t> Vali</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graphicFrame>
        <p:nvGraphicFramePr>
          <p:cNvPr id="3" name="Table 2">
            <a:extLst>
              <a:ext uri="{FF2B5EF4-FFF2-40B4-BE49-F238E27FC236}">
                <a16:creationId xmlns:a16="http://schemas.microsoft.com/office/drawing/2014/main" id="{CACA0794-25AD-866A-52F6-CD1C37F5C098}"/>
              </a:ext>
            </a:extLst>
          </p:cNvPr>
          <p:cNvGraphicFramePr>
            <a:graphicFrameLocks noGrp="1"/>
          </p:cNvGraphicFramePr>
          <p:nvPr>
            <p:extLst>
              <p:ext uri="{D42A27DB-BD31-4B8C-83A1-F6EECF244321}">
                <p14:modId xmlns:p14="http://schemas.microsoft.com/office/powerpoint/2010/main" val="2303696598"/>
              </p:ext>
            </p:extLst>
          </p:nvPr>
        </p:nvGraphicFramePr>
        <p:xfrm>
          <a:off x="698740" y="3220914"/>
          <a:ext cx="4615132" cy="962898"/>
        </p:xfrm>
        <a:graphic>
          <a:graphicData uri="http://schemas.openxmlformats.org/drawingml/2006/table">
            <a:tbl>
              <a:tblPr firstRow="1" bandRow="1"/>
              <a:tblGrid>
                <a:gridCol w="2307566">
                  <a:extLst>
                    <a:ext uri="{9D8B030D-6E8A-4147-A177-3AD203B41FA5}">
                      <a16:colId xmlns:a16="http://schemas.microsoft.com/office/drawing/2014/main" val="1876225763"/>
                    </a:ext>
                  </a:extLst>
                </a:gridCol>
                <a:gridCol w="2307566">
                  <a:extLst>
                    <a:ext uri="{9D8B030D-6E8A-4147-A177-3AD203B41FA5}">
                      <a16:colId xmlns:a16="http://schemas.microsoft.com/office/drawing/2014/main" val="4189128455"/>
                    </a:ext>
                  </a:extLst>
                </a:gridCol>
              </a:tblGrid>
              <a:tr h="320966">
                <a:tc>
                  <a:txBody>
                    <a:bodyPr/>
                    <a:lstStyle/>
                    <a:p>
                      <a:r>
                        <a:rPr lang="en-IN" dirty="0"/>
                        <a:t>20231CCS3004</a:t>
                      </a:r>
                    </a:p>
                  </a:txBody>
                  <a:tcPr/>
                </a:tc>
                <a:tc>
                  <a:txBody>
                    <a:bodyPr/>
                    <a:lstStyle/>
                    <a:p>
                      <a:r>
                        <a:rPr lang="en-IN" dirty="0"/>
                        <a:t>SYED SAIFULLA H</a:t>
                      </a:r>
                    </a:p>
                  </a:txBody>
                  <a:tcPr/>
                </a:tc>
                <a:extLst>
                  <a:ext uri="{0D108BD9-81ED-4DB2-BD59-A6C34878D82A}">
                    <a16:rowId xmlns:a16="http://schemas.microsoft.com/office/drawing/2014/main" val="3063073854"/>
                  </a:ext>
                </a:extLst>
              </a:tr>
              <a:tr h="320966">
                <a:tc>
                  <a:txBody>
                    <a:bodyPr/>
                    <a:lstStyle/>
                    <a:p>
                      <a:r>
                        <a:rPr lang="en-IN" dirty="0"/>
                        <a:t>20221CCS0012</a:t>
                      </a:r>
                    </a:p>
                  </a:txBody>
                  <a:tcPr/>
                </a:tc>
                <a:tc>
                  <a:txBody>
                    <a:bodyPr/>
                    <a:lstStyle/>
                    <a:p>
                      <a:r>
                        <a:rPr lang="en-IN" dirty="0"/>
                        <a:t>SIDDHARTH</a:t>
                      </a:r>
                    </a:p>
                  </a:txBody>
                  <a:tcPr/>
                </a:tc>
                <a:extLst>
                  <a:ext uri="{0D108BD9-81ED-4DB2-BD59-A6C34878D82A}">
                    <a16:rowId xmlns:a16="http://schemas.microsoft.com/office/drawing/2014/main" val="2319801288"/>
                  </a:ext>
                </a:extLst>
              </a:tr>
              <a:tr h="320966">
                <a:tc>
                  <a:txBody>
                    <a:bodyPr/>
                    <a:lstStyle/>
                    <a:p>
                      <a:r>
                        <a:rPr lang="en-IN" dirty="0"/>
                        <a:t>20221CCS0036</a:t>
                      </a:r>
                    </a:p>
                  </a:txBody>
                  <a:tcPr/>
                </a:tc>
                <a:tc>
                  <a:txBody>
                    <a:bodyPr/>
                    <a:lstStyle/>
                    <a:p>
                      <a:r>
                        <a:rPr lang="en-IN" dirty="0"/>
                        <a:t>M CHINMAY</a:t>
                      </a:r>
                    </a:p>
                  </a:txBody>
                  <a:tcPr/>
                </a:tc>
                <a:extLst>
                  <a:ext uri="{0D108BD9-81ED-4DB2-BD59-A6C34878D82A}">
                    <a16:rowId xmlns:a16="http://schemas.microsoft.com/office/drawing/2014/main" val="198808730"/>
                  </a:ext>
                </a:extLst>
              </a:tr>
            </a:tbl>
          </a:graphicData>
        </a:graphic>
      </p:graphicFrame>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Problem Statement Number: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None/>
            </a:pPr>
            <a:r>
              <a:rPr lang="en-US" dirty="0">
                <a:latin typeface="Cambria" panose="02040503050406030204" pitchFamily="18" charset="0"/>
                <a:ea typeface="Cambria" panose="02040503050406030204" pitchFamily="18" charset="0"/>
              </a:rPr>
              <a:t>Organization: Presidency University</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Category (Hardware / Software / Both) : Software</a:t>
            </a:r>
          </a:p>
          <a:p>
            <a:pPr marL="342900" lvl="0" indent="-190500" algn="just">
              <a:lnSpc>
                <a:spcPct val="200000"/>
              </a:lnSpc>
              <a:spcBef>
                <a:spcPts val="0"/>
              </a:spcBef>
              <a:buNone/>
            </a:pPr>
            <a:r>
              <a:rPr lang="en-US" dirty="0">
                <a:latin typeface="Cambria" panose="02040503050406030204" pitchFamily="18" charset="0"/>
                <a:ea typeface="Cambria" panose="02040503050406030204" pitchFamily="18" charset="0"/>
              </a:rPr>
              <a:t>Problem Description: </a:t>
            </a:r>
            <a:r>
              <a:rPr lang="en-US" sz="2000" dirty="0"/>
              <a:t>This problem invites the development of a novel solution leveraging digital technology to address societal or administrative challenges within public services, sustainability, or governance</a:t>
            </a: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434518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Literature Survey </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lvl="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Exsisting</a:t>
            </a:r>
            <a:r>
              <a:rPr lang="en-US" dirty="0">
                <a:latin typeface="Cambria" panose="02040503050406030204" pitchFamily="18" charset="0"/>
                <a:ea typeface="Cambria" panose="02040503050406030204" pitchFamily="18" charset="0"/>
              </a:rPr>
              <a:t> method and drawbacks </a:t>
            </a:r>
          </a:p>
          <a:p>
            <a:pPr marL="495300" lvl="0" indent="-342900" algn="just">
              <a:lnSpc>
                <a:spcPct val="200000"/>
              </a:lnSpc>
              <a:spcBef>
                <a:spcPts val="0"/>
              </a:spcBef>
              <a:buFont typeface="Arial" panose="020B0604020202020204" pitchFamily="34" charset="0"/>
              <a:buChar char="•"/>
            </a:pPr>
            <a:r>
              <a:rPr lang="en-US" sz="2300" dirty="0">
                <a:latin typeface="Cambria" panose="02040503050406030204" pitchFamily="18" charset="0"/>
                <a:ea typeface="Cambria" panose="02040503050406030204" pitchFamily="18" charset="0"/>
              </a:rPr>
              <a:t>Proposed Method &amp; Drawbacks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Architecture Diagram </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Methods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 (Grantt Chart)</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BBFDB87-3308-5E45-ADFF-342144350551}"/>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5488D6AC-CFA3-035E-CBA5-B3D432D9016A}"/>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AC6555BC-EE66-5523-CB41-5076EBEBB58A}"/>
              </a:ext>
            </a:extLst>
          </p:cNvPr>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47500" lnSpcReduction="20000"/>
          </a:bodyPr>
          <a:lstStyle/>
          <a:p>
            <a:pPr marL="152400" lvl="0" indent="0">
              <a:lnSpc>
                <a:spcPct val="200000"/>
              </a:lnSpc>
              <a:spcBef>
                <a:spcPts val="0"/>
              </a:spcBef>
              <a:buNone/>
            </a:pPr>
            <a:r>
              <a:rPr lang="en-US" sz="3300" dirty="0"/>
              <a:t>Fake social media profiles are widely used for spreading misinformation, scams, and impersonation. This project develops a </a:t>
            </a:r>
            <a:r>
              <a:rPr lang="en-US" sz="3300" b="1" dirty="0"/>
              <a:t>web-based system</a:t>
            </a:r>
            <a:r>
              <a:rPr lang="en-US" sz="3300" dirty="0"/>
              <a:t> that allows users to report and detect suspicious accounts through predefined rules and validation checks. The system integrates a simple </a:t>
            </a:r>
            <a:r>
              <a:rPr lang="en-US" sz="3300" b="1" dirty="0"/>
              <a:t>frontend interface</a:t>
            </a:r>
            <a:r>
              <a:rPr lang="en-US" sz="3300" dirty="0"/>
              <a:t> for users and a </a:t>
            </a:r>
            <a:r>
              <a:rPr lang="en-US" sz="3300" b="1" dirty="0"/>
              <a:t>backend API</a:t>
            </a:r>
            <a:r>
              <a:rPr lang="en-US" sz="3300" dirty="0"/>
              <a:t> that verifies profile details such as completeness of information, abnormal follower-to-following ratio, repetitive content, and presence of suspicious links. The backend stores and processes these reports, while an administrator reviews and takes appropriate action. This approach ensures a practical, resource-friendly, and real-time detection and reporting platform</a:t>
            </a:r>
            <a:endParaRPr lang="en-US" sz="33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33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073606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CB263B58-01CD-1284-58E3-38237EBC9430}"/>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8EA2435A-9366-AB34-9E79-49AA41C5BAB3}"/>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Literature Survey  </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2A54F0FC-18D8-83CC-B6D6-3FDBCA99495D}"/>
              </a:ext>
            </a:extLst>
          </p:cNvPr>
          <p:cNvSpPr txBox="1">
            <a:spLocks noGrp="1"/>
          </p:cNvSpPr>
          <p:nvPr>
            <p:ph type="body" idx="1"/>
          </p:nvPr>
        </p:nvSpPr>
        <p:spPr>
          <a:xfrm>
            <a:off x="665942" y="998913"/>
            <a:ext cx="10668000" cy="4460998"/>
          </a:xfrm>
          <a:prstGeom prst="rect">
            <a:avLst/>
          </a:prstGeom>
          <a:noFill/>
          <a:ln>
            <a:noFill/>
          </a:ln>
        </p:spPr>
        <p:txBody>
          <a:bodyPr spcFirstLastPara="1" wrap="square" lIns="91425" tIns="45700" rIns="91425" bIns="45700" anchor="t" anchorCtr="0">
            <a:noAutofit/>
          </a:bodyPr>
          <a:lstStyle/>
          <a:p>
            <a:r>
              <a:rPr lang="en-US" sz="1200" b="1" dirty="0"/>
              <a:t>"Detecting Fake Profiles in Online Social Networks Based on Behavior Analysis"</a:t>
            </a:r>
            <a:r>
              <a:rPr lang="en-US" sz="1200" dirty="0"/>
              <a:t> (IEEE, 2018): This paper explores the use of behavioral patterns, such as posting frequency, friend request patterns, and content similarity, to identify fake profiles. While the original paper uses machine learning, the underlying behavioral analysis principles can be adapted using rule-based systems.</a:t>
            </a:r>
          </a:p>
          <a:p>
            <a:r>
              <a:rPr lang="en-US" sz="1200" b="1" dirty="0"/>
              <a:t>"A Survey on Fake Account Detection Techniques in Online Social Networks"</a:t>
            </a:r>
            <a:r>
              <a:rPr lang="en-US" sz="1200" dirty="0"/>
              <a:t> (Scopus, 2019): This survey provides a broad overview of various fake account detection techniques, including content-based analysis, network-based analysis, and user behavior analysis. It highlights the strengths and weaknesses of each approach.</a:t>
            </a:r>
          </a:p>
          <a:p>
            <a:r>
              <a:rPr lang="en-US" sz="1200" b="1" dirty="0"/>
              <a:t>"Combating Fake News and Disinformation: A Review of Methods and Techniques"</a:t>
            </a:r>
            <a:r>
              <a:rPr lang="en-US" sz="1200" dirty="0"/>
              <a:t> (Web of Science, 2020): Although focused on fake news, this paper discusses techniques for identifying the sources of disinformation, which often involve fake social media profiles. It emphasizes the importance of verifying information and identifying suspicious accounts.</a:t>
            </a:r>
          </a:p>
          <a:p>
            <a:r>
              <a:rPr lang="en-US" sz="1200" b="1" dirty="0"/>
              <a:t>"Social Media Data Mining and Analysis"</a:t>
            </a:r>
            <a:r>
              <a:rPr lang="en-US" sz="1200" dirty="0"/>
              <a:t> (IEEE, 2015): This paper provides a foundational understanding of social media data analysis techniques, including network analysis and sentiment analysis. These techniques can be adapted to identify patterns associated with fake profiles.</a:t>
            </a:r>
          </a:p>
          <a:p>
            <a:r>
              <a:rPr lang="en-US" sz="1200" b="1" dirty="0"/>
              <a:t>"The Spread of Misinformation Online"</a:t>
            </a:r>
            <a:r>
              <a:rPr lang="en-US" sz="1200" dirty="0"/>
              <a:t> (Scopus, 2017): This paper examines the mechanisms by which misinformation spreads online, often facilitated by fake accounts. It highlights the need for effective detection and reporting mechanisms.</a:t>
            </a:r>
          </a:p>
          <a:p>
            <a:r>
              <a:rPr lang="en-US" sz="1200" b="1" dirty="0"/>
              <a:t>"Analyzing User Behavior for Fake Account Detection in Social Networks"</a:t>
            </a:r>
            <a:r>
              <a:rPr lang="en-US" sz="1200" dirty="0"/>
              <a:t> (Web of Science, 2016): This paper focuses on analyzing user behavior patterns, such as posting times, content types, and interaction patterns, to identify fake accounts.</a:t>
            </a:r>
          </a:p>
          <a:p>
            <a:r>
              <a:rPr lang="en-US" sz="1200" b="1" dirty="0"/>
              <a:t>"Detecting Social Bots in Online Social Networks: A Survey"</a:t>
            </a:r>
            <a:r>
              <a:rPr lang="en-US" sz="1200" dirty="0"/>
              <a:t> (IEEE, 2019): While focused on bots, this survey provides insights into the characteristics of automated accounts, which often overlap with fake profiles.</a:t>
            </a:r>
          </a:p>
          <a:p>
            <a:r>
              <a:rPr lang="en-US" sz="1200" b="1" dirty="0"/>
              <a:t>"Fake Profile Detection in Online Social Networks: A Hybrid Approach"</a:t>
            </a:r>
            <a:r>
              <a:rPr lang="en-US" sz="1200" dirty="0"/>
              <a:t> (Scopus, 2020): This paper proposes a hybrid approach that combines multiple detection techniques to improve accuracy.</a:t>
            </a:r>
          </a:p>
          <a:p>
            <a:r>
              <a:rPr lang="en-US" sz="1200" b="1" dirty="0"/>
              <a:t>"The Role of Social Media in Political Campaigns"</a:t>
            </a:r>
            <a:r>
              <a:rPr lang="en-US" sz="1200" dirty="0"/>
              <a:t> (Web of Science, 2018): This paper examines the use of social media in political campaigns, including the use of fake accounts to spread propaganda and influence public opinion.</a:t>
            </a:r>
          </a:p>
          <a:p>
            <a:r>
              <a:rPr lang="en-US" sz="1200" b="1" dirty="0"/>
              <a:t>"Data Mining for Social Network Data"</a:t>
            </a:r>
            <a:r>
              <a:rPr lang="en-US" sz="1200" dirty="0"/>
              <a:t> (IEEE, 2014): This paper provides an overview of data mining techniques applicable to social network data, including clustering and classification.</a:t>
            </a:r>
          </a:p>
        </p:txBody>
      </p:sp>
    </p:spTree>
    <p:extLst>
      <p:ext uri="{BB962C8B-B14F-4D97-AF65-F5344CB8AC3E}">
        <p14:creationId xmlns:p14="http://schemas.microsoft.com/office/powerpoint/2010/main" val="19384409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46572A5-A5E2-2D76-0196-6B014B0EDBA8}"/>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7AC01235-C10C-1A8C-CD38-786B196AA8A2}"/>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Literature Survey </a:t>
            </a:r>
            <a:r>
              <a:rPr lang="en-GB" dirty="0" err="1">
                <a:latin typeface="Cambria" panose="02040503050406030204" pitchFamily="18" charset="0"/>
                <a:ea typeface="Cambria" panose="02040503050406030204" pitchFamily="18" charset="0"/>
              </a:rPr>
              <a:t>Contiuned</a:t>
            </a: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97" name="Google Shape;97;p14">
            <a:extLst>
              <a:ext uri="{FF2B5EF4-FFF2-40B4-BE49-F238E27FC236}">
                <a16:creationId xmlns:a16="http://schemas.microsoft.com/office/drawing/2014/main" id="{F8FAA444-F6EF-1B76-398B-54F91B06D55B}"/>
              </a:ext>
            </a:extLst>
          </p:cNvPr>
          <p:cNvSpPr txBox="1">
            <a:spLocks noGrp="1"/>
          </p:cNvSpPr>
          <p:nvPr>
            <p:ph type="body" idx="1"/>
          </p:nvPr>
        </p:nvSpPr>
        <p:spPr>
          <a:xfrm>
            <a:off x="665942" y="998913"/>
            <a:ext cx="10668000" cy="4460998"/>
          </a:xfrm>
          <a:prstGeom prst="rect">
            <a:avLst/>
          </a:prstGeom>
          <a:noFill/>
          <a:ln>
            <a:noFill/>
          </a:ln>
        </p:spPr>
        <p:txBody>
          <a:bodyPr spcFirstLastPara="1" wrap="square" lIns="91425" tIns="45700" rIns="91425" bIns="45700" anchor="t" anchorCtr="0">
            <a:noAutofit/>
          </a:bodyPr>
          <a:lstStyle/>
          <a:p>
            <a:endParaRPr lang="en-US" sz="1200" dirty="0"/>
          </a:p>
        </p:txBody>
      </p:sp>
      <p:pic>
        <p:nvPicPr>
          <p:cNvPr id="3" name="Picture 2" descr="A diagram of a network&#10;&#10;AI-generated content may be incorrect.">
            <a:extLst>
              <a:ext uri="{FF2B5EF4-FFF2-40B4-BE49-F238E27FC236}">
                <a16:creationId xmlns:a16="http://schemas.microsoft.com/office/drawing/2014/main" id="{E8397818-5F7C-CCD8-BF81-067638A9F140}"/>
              </a:ext>
            </a:extLst>
          </p:cNvPr>
          <p:cNvPicPr>
            <a:picLocks noChangeAspect="1"/>
          </p:cNvPicPr>
          <p:nvPr/>
        </p:nvPicPr>
        <p:blipFill>
          <a:blip r:embed="rId3"/>
          <a:stretch>
            <a:fillRect/>
          </a:stretch>
        </p:blipFill>
        <p:spPr>
          <a:xfrm>
            <a:off x="1040938" y="998913"/>
            <a:ext cx="8411069" cy="4115816"/>
          </a:xfrm>
          <a:prstGeom prst="rect">
            <a:avLst/>
          </a:prstGeom>
        </p:spPr>
      </p:pic>
    </p:spTree>
    <p:extLst>
      <p:ext uri="{BB962C8B-B14F-4D97-AF65-F5344CB8AC3E}">
        <p14:creationId xmlns:p14="http://schemas.microsoft.com/office/powerpoint/2010/main" val="36745537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EA49B31-0C6B-50BD-EBFF-04430BD3EA14}"/>
            </a:ext>
          </a:extLst>
        </p:cNvPr>
        <p:cNvGrpSpPr/>
        <p:nvPr/>
      </p:nvGrpSpPr>
      <p:grpSpPr>
        <a:xfrm>
          <a:off x="0" y="0"/>
          <a:ext cx="0" cy="0"/>
          <a:chOff x="0" y="0"/>
          <a:chExt cx="0" cy="0"/>
        </a:xfrm>
      </p:grpSpPr>
      <p:sp>
        <p:nvSpPr>
          <p:cNvPr id="96" name="Google Shape;96;p14">
            <a:extLst>
              <a:ext uri="{FF2B5EF4-FFF2-40B4-BE49-F238E27FC236}">
                <a16:creationId xmlns:a16="http://schemas.microsoft.com/office/drawing/2014/main" id="{730D5230-E58C-220E-6DB9-B4DF3BDBFDAE}"/>
              </a:ext>
            </a:extLst>
          </p:cNvPr>
          <p:cNvSpPr txBox="1">
            <a:spLocks noGrp="1"/>
          </p:cNvSpPr>
          <p:nvPr>
            <p:ph type="title"/>
          </p:nvPr>
        </p:nvSpPr>
        <p:spPr>
          <a:xfrm>
            <a:off x="812800" y="595222"/>
            <a:ext cx="10668000" cy="166915"/>
          </a:xfrm>
          <a:prstGeom prst="rect">
            <a:avLst/>
          </a:prstGeom>
          <a:noFill/>
          <a:ln>
            <a:noFill/>
          </a:ln>
        </p:spPr>
        <p:txBody>
          <a:bodyPr spcFirstLastPara="1" wrap="square" lIns="91425" tIns="45700" rIns="91425" bIns="45700" anchor="ctr" anchorCtr="0">
            <a:noAutofit/>
          </a:bodyPr>
          <a:lstStyle/>
          <a:p>
            <a:r>
              <a:rPr lang="en-US" dirty="0">
                <a:latin typeface="Cambria" panose="02040503050406030204" pitchFamily="18" charset="0"/>
                <a:ea typeface="Cambria" panose="02040503050406030204" pitchFamily="18" charset="0"/>
              </a:rPr>
              <a:t>Objective</a:t>
            </a:r>
            <a:br>
              <a:rPr lang="en-US" dirty="0">
                <a:latin typeface="Cambria" panose="02040503050406030204" pitchFamily="18" charset="0"/>
                <a:ea typeface="Cambria" panose="02040503050406030204" pitchFamily="18" charset="0"/>
              </a:rPr>
            </a:br>
            <a:r>
              <a:rPr lang="en-GB"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2" name="Text Placeholder 1">
            <a:extLst>
              <a:ext uri="{FF2B5EF4-FFF2-40B4-BE49-F238E27FC236}">
                <a16:creationId xmlns:a16="http://schemas.microsoft.com/office/drawing/2014/main" id="{821DC773-5C6C-77EC-3720-6959BCDBCEF3}"/>
              </a:ext>
            </a:extLst>
          </p:cNvPr>
          <p:cNvSpPr>
            <a:spLocks noGrp="1" noChangeArrowheads="1"/>
          </p:cNvSpPr>
          <p:nvPr>
            <p:ph type="body" idx="1"/>
          </p:nvPr>
        </p:nvSpPr>
        <p:spPr bwMode="auto">
          <a:xfrm>
            <a:off x="283464" y="1191208"/>
            <a:ext cx="11521440" cy="44755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b="1" dirty="0"/>
              <a:t>Develop a web-based platform:</a:t>
            </a:r>
            <a:r>
              <a:rPr lang="en-IN" dirty="0"/>
              <a:t> Create a user-friendly website that allows users to input social media profile URLs for analysis.</a:t>
            </a:r>
          </a:p>
          <a:p>
            <a:r>
              <a:rPr lang="en-IN" b="1" dirty="0"/>
              <a:t>Implement rule-based detection:</a:t>
            </a:r>
            <a:r>
              <a:rPr lang="en-IN" dirty="0"/>
              <a:t> Implement a rule-based system to identify suspicious profiles based on predefined criteria (e.g., lack of profile picture, low follower count, suspicious posting patterns).</a:t>
            </a:r>
          </a:p>
          <a:p>
            <a:r>
              <a:rPr lang="en-IN" b="1" dirty="0"/>
              <a:t>Integrate with social media APIs:</a:t>
            </a:r>
            <a:r>
              <a:rPr lang="en-IN" dirty="0"/>
              <a:t> Utilize social media APIs (e.g., Twitter API, Facebook Graph API) to gather profile data for analysis.</a:t>
            </a:r>
          </a:p>
          <a:p>
            <a:r>
              <a:rPr lang="en-IN" b="1" dirty="0"/>
              <a:t>Enable user reporting:</a:t>
            </a:r>
            <a:r>
              <a:rPr lang="en-IN" dirty="0"/>
              <a:t> Provide a mechanism for users to report suspicious profiles to the platform administrators.</a:t>
            </a:r>
          </a:p>
          <a:p>
            <a:r>
              <a:rPr lang="en-IN" b="1" dirty="0"/>
              <a:t>Generate reports:</a:t>
            </a:r>
            <a:r>
              <a:rPr lang="en-IN" dirty="0"/>
              <a:t> Generate reports summarizing the analysis results and providing evidence for the suspicion.</a:t>
            </a:r>
          </a:p>
        </p:txBody>
      </p:sp>
    </p:spTree>
    <p:extLst>
      <p:ext uri="{BB962C8B-B14F-4D97-AF65-F5344CB8AC3E}">
        <p14:creationId xmlns:p14="http://schemas.microsoft.com/office/powerpoint/2010/main" val="23589287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E8C05-EE19-591A-C963-9021A20C4C95}"/>
              </a:ext>
            </a:extLst>
          </p:cNvPr>
          <p:cNvSpPr>
            <a:spLocks noGrp="1"/>
          </p:cNvSpPr>
          <p:nvPr>
            <p:ph type="title"/>
          </p:nvPr>
        </p:nvSpPr>
        <p:spPr/>
        <p:txBody>
          <a:bodyPr/>
          <a:lstStyle/>
          <a:p>
            <a:r>
              <a:rPr lang="en-IN" dirty="0"/>
              <a:t>Object Continued</a:t>
            </a:r>
          </a:p>
        </p:txBody>
      </p:sp>
      <p:sp>
        <p:nvSpPr>
          <p:cNvPr id="4" name="Rounded Rectangle 1">
            <a:extLst>
              <a:ext uri="{FF2B5EF4-FFF2-40B4-BE49-F238E27FC236}">
                <a16:creationId xmlns:a16="http://schemas.microsoft.com/office/drawing/2014/main" id="{E3335DFD-3657-3E03-E8DC-250C03E767C0}"/>
              </a:ext>
            </a:extLst>
          </p:cNvPr>
          <p:cNvSpPr/>
          <p:nvPr/>
        </p:nvSpPr>
        <p:spPr>
          <a:xfrm>
            <a:off x="2864644" y="3338989"/>
            <a:ext cx="2828925" cy="9525"/>
          </a:xfrm>
          <a:custGeom>
            <a:avLst/>
            <a:gdLst/>
            <a:ahLst/>
            <a:cxnLst/>
            <a:rect l="0" t="0" r="0" b="0"/>
            <a:pathLst>
              <a:path w="2828925" h="9525">
                <a:moveTo>
                  <a:pt x="542925" y="0"/>
                </a:moveTo>
                <a:lnTo>
                  <a:pt x="0" y="0"/>
                </a:lnTo>
                <a:moveTo>
                  <a:pt x="1114717" y="0"/>
                </a:moveTo>
                <a:lnTo>
                  <a:pt x="599794" y="0"/>
                </a:lnTo>
                <a:moveTo>
                  <a:pt x="1685925" y="0"/>
                </a:moveTo>
                <a:lnTo>
                  <a:pt x="1171575" y="0"/>
                </a:lnTo>
                <a:moveTo>
                  <a:pt x="2257425" y="0"/>
                </a:moveTo>
                <a:lnTo>
                  <a:pt x="1742790" y="0"/>
                </a:lnTo>
                <a:moveTo>
                  <a:pt x="2828925" y="0"/>
                </a:moveTo>
                <a:lnTo>
                  <a:pt x="2314292" y="0"/>
                </a:lnTo>
              </a:path>
            </a:pathLst>
          </a:custGeom>
          <a:noFill/>
          <a:ln w="14287">
            <a:solidFill>
              <a:srgbClr val="969696"/>
            </a:solidFill>
          </a:ln>
        </p:spPr>
        <p:txBody>
          <a:bodyPr rtlCol="0" anchor="ctr"/>
          <a:lstStyle/>
          <a:p>
            <a:pPr algn="ctr"/>
            <a:endParaRPr/>
          </a:p>
        </p:txBody>
      </p:sp>
      <p:grpSp>
        <p:nvGrpSpPr>
          <p:cNvPr id="5" name="Group 4">
            <a:extLst>
              <a:ext uri="{FF2B5EF4-FFF2-40B4-BE49-F238E27FC236}">
                <a16:creationId xmlns:a16="http://schemas.microsoft.com/office/drawing/2014/main" id="{072D52E2-6AA2-170A-80FE-F879AF049718}"/>
              </a:ext>
            </a:extLst>
          </p:cNvPr>
          <p:cNvGrpSpPr/>
          <p:nvPr/>
        </p:nvGrpSpPr>
        <p:grpSpPr>
          <a:xfrm>
            <a:off x="5750719" y="3277076"/>
            <a:ext cx="528637" cy="123825"/>
            <a:chOff x="3171825" y="2452687"/>
            <a:chExt cx="528637" cy="123825"/>
          </a:xfrm>
        </p:grpSpPr>
        <p:sp>
          <p:nvSpPr>
            <p:cNvPr id="6" name="Rounded Rectangle 2">
              <a:extLst>
                <a:ext uri="{FF2B5EF4-FFF2-40B4-BE49-F238E27FC236}">
                  <a16:creationId xmlns:a16="http://schemas.microsoft.com/office/drawing/2014/main" id="{4EC05FD4-4056-F4C7-C998-B3ED71444B03}"/>
                </a:ext>
              </a:extLst>
            </p:cNvPr>
            <p:cNvSpPr/>
            <p:nvPr/>
          </p:nvSpPr>
          <p:spPr>
            <a:xfrm>
              <a:off x="3171825" y="2514600"/>
              <a:ext cx="523875" cy="9525"/>
            </a:xfrm>
            <a:custGeom>
              <a:avLst/>
              <a:gdLst/>
              <a:ahLst/>
              <a:cxnLst/>
              <a:rect l="0" t="0" r="0" b="0"/>
              <a:pathLst>
                <a:path w="523875" h="9525">
                  <a:moveTo>
                    <a:pt x="523875" y="0"/>
                  </a:moveTo>
                  <a:lnTo>
                    <a:pt x="0" y="0"/>
                  </a:lnTo>
                </a:path>
              </a:pathLst>
            </a:custGeom>
            <a:noFill/>
            <a:ln w="14287">
              <a:solidFill>
                <a:srgbClr val="484848"/>
              </a:solidFill>
            </a:ln>
          </p:spPr>
          <p:txBody>
            <a:bodyPr rtlCol="0" anchor="ctr"/>
            <a:lstStyle/>
            <a:p>
              <a:pPr algn="ctr"/>
              <a:endParaRPr/>
            </a:p>
          </p:txBody>
        </p:sp>
        <p:sp>
          <p:nvSpPr>
            <p:cNvPr id="7" name="Rounded Rectangle 3">
              <a:extLst>
                <a:ext uri="{FF2B5EF4-FFF2-40B4-BE49-F238E27FC236}">
                  <a16:creationId xmlns:a16="http://schemas.microsoft.com/office/drawing/2014/main" id="{2157A2E6-9464-DA49-5124-99304DF7F274}"/>
                </a:ext>
              </a:extLst>
            </p:cNvPr>
            <p:cNvSpPr/>
            <p:nvPr/>
          </p:nvSpPr>
          <p:spPr>
            <a:xfrm>
              <a:off x="3638550" y="2452687"/>
              <a:ext cx="61912" cy="123825"/>
            </a:xfrm>
            <a:custGeom>
              <a:avLst/>
              <a:gdLst/>
              <a:ahLst/>
              <a:cxnLst/>
              <a:rect l="0" t="0" r="0" b="0"/>
              <a:pathLst>
                <a:path w="61912" h="123825">
                  <a:moveTo>
                    <a:pt x="0" y="123825"/>
                  </a:moveTo>
                  <a:lnTo>
                    <a:pt x="61912" y="61912"/>
                  </a:lnTo>
                  <a:lnTo>
                    <a:pt x="0" y="0"/>
                  </a:lnTo>
                </a:path>
              </a:pathLst>
            </a:custGeom>
            <a:noFill/>
            <a:ln w="14287">
              <a:solidFill>
                <a:srgbClr val="484848"/>
              </a:solidFill>
            </a:ln>
          </p:spPr>
          <p:txBody>
            <a:bodyPr rtlCol="0" anchor="ctr"/>
            <a:lstStyle/>
            <a:p>
              <a:pPr algn="ctr"/>
              <a:endParaRPr/>
            </a:p>
          </p:txBody>
        </p:sp>
      </p:grpSp>
      <p:sp>
        <p:nvSpPr>
          <p:cNvPr id="8" name="Rounded Rectangle 5">
            <a:extLst>
              <a:ext uri="{FF2B5EF4-FFF2-40B4-BE49-F238E27FC236}">
                <a16:creationId xmlns:a16="http://schemas.microsoft.com/office/drawing/2014/main" id="{DB28FA54-6D69-F284-DFD3-6FEBABDAF769}"/>
              </a:ext>
            </a:extLst>
          </p:cNvPr>
          <p:cNvSpPr/>
          <p:nvPr/>
        </p:nvSpPr>
        <p:spPr>
          <a:xfrm>
            <a:off x="3407569" y="3310414"/>
            <a:ext cx="57150" cy="57150"/>
          </a:xfrm>
          <a:custGeom>
            <a:avLst/>
            <a:gdLst/>
            <a:ahLst/>
            <a:cxnLst/>
            <a:rect l="0" t="0" r="0" b="0"/>
            <a:pathLst>
              <a:path w="57150" h="57150">
                <a:moveTo>
                  <a:pt x="57150" y="28575"/>
                </a:moveTo>
                <a:cubicBezTo>
                  <a:pt x="57150" y="44356"/>
                  <a:pt x="44356" y="57150"/>
                  <a:pt x="28575" y="57150"/>
                </a:cubicBezTo>
                <a:cubicBezTo>
                  <a:pt x="12793" y="57150"/>
                  <a:pt x="0" y="44356"/>
                  <a:pt x="0" y="28575"/>
                </a:cubicBezTo>
                <a:cubicBezTo>
                  <a:pt x="0" y="12793"/>
                  <a:pt x="12793" y="0"/>
                  <a:pt x="28575" y="0"/>
                </a:cubicBezTo>
                <a:cubicBezTo>
                  <a:pt x="44356" y="0"/>
                  <a:pt x="57150" y="12793"/>
                  <a:pt x="57150" y="28575"/>
                </a:cubicBezTo>
                <a:close/>
              </a:path>
            </a:pathLst>
          </a:custGeom>
          <a:noFill/>
          <a:ln w="14287">
            <a:solidFill>
              <a:srgbClr val="484848"/>
            </a:solidFill>
          </a:ln>
        </p:spPr>
        <p:txBody>
          <a:bodyPr rtlCol="0" anchor="ctr"/>
          <a:lstStyle/>
          <a:p>
            <a:pPr algn="ctr"/>
            <a:endParaRPr/>
          </a:p>
        </p:txBody>
      </p:sp>
      <p:sp>
        <p:nvSpPr>
          <p:cNvPr id="9" name="Rounded Rectangle 6">
            <a:extLst>
              <a:ext uri="{FF2B5EF4-FFF2-40B4-BE49-F238E27FC236}">
                <a16:creationId xmlns:a16="http://schemas.microsoft.com/office/drawing/2014/main" id="{16FD438C-73A0-86DE-C284-6F0454D85A36}"/>
              </a:ext>
            </a:extLst>
          </p:cNvPr>
          <p:cNvSpPr/>
          <p:nvPr/>
        </p:nvSpPr>
        <p:spPr>
          <a:xfrm>
            <a:off x="3979069" y="3310414"/>
            <a:ext cx="57150" cy="57150"/>
          </a:xfrm>
          <a:custGeom>
            <a:avLst/>
            <a:gdLst/>
            <a:ahLst/>
            <a:cxnLst/>
            <a:rect l="0" t="0" r="0" b="0"/>
            <a:pathLst>
              <a:path w="57150" h="57150">
                <a:moveTo>
                  <a:pt x="57150" y="28575"/>
                </a:moveTo>
                <a:cubicBezTo>
                  <a:pt x="57150" y="44356"/>
                  <a:pt x="44356" y="57150"/>
                  <a:pt x="28575" y="57150"/>
                </a:cubicBezTo>
                <a:cubicBezTo>
                  <a:pt x="12793" y="57150"/>
                  <a:pt x="0" y="44356"/>
                  <a:pt x="0" y="28575"/>
                </a:cubicBezTo>
                <a:cubicBezTo>
                  <a:pt x="0" y="12793"/>
                  <a:pt x="12793" y="0"/>
                  <a:pt x="28575" y="0"/>
                </a:cubicBezTo>
                <a:cubicBezTo>
                  <a:pt x="44356" y="0"/>
                  <a:pt x="57150" y="12793"/>
                  <a:pt x="57150" y="28575"/>
                </a:cubicBezTo>
                <a:close/>
              </a:path>
            </a:pathLst>
          </a:custGeom>
          <a:noFill/>
          <a:ln w="14287">
            <a:solidFill>
              <a:srgbClr val="484848"/>
            </a:solidFill>
          </a:ln>
        </p:spPr>
        <p:txBody>
          <a:bodyPr rtlCol="0" anchor="ctr"/>
          <a:lstStyle/>
          <a:p>
            <a:pPr algn="ctr"/>
            <a:endParaRPr/>
          </a:p>
        </p:txBody>
      </p:sp>
      <p:sp>
        <p:nvSpPr>
          <p:cNvPr id="10" name="Rounded Rectangle 7">
            <a:extLst>
              <a:ext uri="{FF2B5EF4-FFF2-40B4-BE49-F238E27FC236}">
                <a16:creationId xmlns:a16="http://schemas.microsoft.com/office/drawing/2014/main" id="{CC433611-CCAC-8F04-2F01-38219C736E8E}"/>
              </a:ext>
            </a:extLst>
          </p:cNvPr>
          <p:cNvSpPr/>
          <p:nvPr/>
        </p:nvSpPr>
        <p:spPr>
          <a:xfrm>
            <a:off x="4550569" y="3310414"/>
            <a:ext cx="57150" cy="57150"/>
          </a:xfrm>
          <a:custGeom>
            <a:avLst/>
            <a:gdLst/>
            <a:ahLst/>
            <a:cxnLst/>
            <a:rect l="0" t="0" r="0" b="0"/>
            <a:pathLst>
              <a:path w="57150" h="57150">
                <a:moveTo>
                  <a:pt x="57150" y="28575"/>
                </a:moveTo>
                <a:cubicBezTo>
                  <a:pt x="57150" y="44356"/>
                  <a:pt x="44356" y="57150"/>
                  <a:pt x="28575" y="57150"/>
                </a:cubicBezTo>
                <a:cubicBezTo>
                  <a:pt x="12793" y="57150"/>
                  <a:pt x="0" y="44356"/>
                  <a:pt x="0" y="28575"/>
                </a:cubicBezTo>
                <a:cubicBezTo>
                  <a:pt x="0" y="12793"/>
                  <a:pt x="12793" y="0"/>
                  <a:pt x="28575" y="0"/>
                </a:cubicBezTo>
                <a:cubicBezTo>
                  <a:pt x="44356" y="0"/>
                  <a:pt x="57150" y="12793"/>
                  <a:pt x="57150" y="28575"/>
                </a:cubicBezTo>
                <a:close/>
              </a:path>
            </a:pathLst>
          </a:custGeom>
          <a:noFill/>
          <a:ln w="14287">
            <a:solidFill>
              <a:srgbClr val="484848"/>
            </a:solidFill>
          </a:ln>
        </p:spPr>
        <p:txBody>
          <a:bodyPr rtlCol="0" anchor="ctr"/>
          <a:lstStyle/>
          <a:p>
            <a:pPr algn="ctr"/>
            <a:endParaRPr/>
          </a:p>
        </p:txBody>
      </p:sp>
      <p:sp>
        <p:nvSpPr>
          <p:cNvPr id="11" name="Rounded Rectangle 8">
            <a:extLst>
              <a:ext uri="{FF2B5EF4-FFF2-40B4-BE49-F238E27FC236}">
                <a16:creationId xmlns:a16="http://schemas.microsoft.com/office/drawing/2014/main" id="{2A2257B0-B6C9-BC52-3CF6-B46EA2D66CA5}"/>
              </a:ext>
            </a:extLst>
          </p:cNvPr>
          <p:cNvSpPr/>
          <p:nvPr/>
        </p:nvSpPr>
        <p:spPr>
          <a:xfrm>
            <a:off x="5693569" y="3310414"/>
            <a:ext cx="57150" cy="57150"/>
          </a:xfrm>
          <a:custGeom>
            <a:avLst/>
            <a:gdLst/>
            <a:ahLst/>
            <a:cxnLst/>
            <a:rect l="0" t="0" r="0" b="0"/>
            <a:pathLst>
              <a:path w="57150" h="57150">
                <a:moveTo>
                  <a:pt x="57150" y="28575"/>
                </a:moveTo>
                <a:cubicBezTo>
                  <a:pt x="57150" y="44356"/>
                  <a:pt x="44356" y="57150"/>
                  <a:pt x="28575" y="57150"/>
                </a:cubicBezTo>
                <a:cubicBezTo>
                  <a:pt x="12793" y="57150"/>
                  <a:pt x="0" y="44356"/>
                  <a:pt x="0" y="28575"/>
                </a:cubicBezTo>
                <a:cubicBezTo>
                  <a:pt x="0" y="12793"/>
                  <a:pt x="12793" y="0"/>
                  <a:pt x="28575" y="0"/>
                </a:cubicBezTo>
                <a:cubicBezTo>
                  <a:pt x="44356" y="0"/>
                  <a:pt x="57150" y="12793"/>
                  <a:pt x="57150" y="28575"/>
                </a:cubicBezTo>
                <a:close/>
              </a:path>
            </a:pathLst>
          </a:custGeom>
          <a:noFill/>
          <a:ln w="14287">
            <a:solidFill>
              <a:srgbClr val="484848"/>
            </a:solidFill>
          </a:ln>
        </p:spPr>
        <p:txBody>
          <a:bodyPr rtlCol="0" anchor="ctr"/>
          <a:lstStyle/>
          <a:p>
            <a:pPr algn="ctr"/>
            <a:endParaRPr/>
          </a:p>
        </p:txBody>
      </p:sp>
      <p:sp>
        <p:nvSpPr>
          <p:cNvPr id="12" name="Rounded Rectangle 9">
            <a:extLst>
              <a:ext uri="{FF2B5EF4-FFF2-40B4-BE49-F238E27FC236}">
                <a16:creationId xmlns:a16="http://schemas.microsoft.com/office/drawing/2014/main" id="{F650A42B-AB8C-C2CA-95FF-96520C87E3E2}"/>
              </a:ext>
            </a:extLst>
          </p:cNvPr>
          <p:cNvSpPr/>
          <p:nvPr/>
        </p:nvSpPr>
        <p:spPr>
          <a:xfrm>
            <a:off x="5122069" y="3310414"/>
            <a:ext cx="57150" cy="57150"/>
          </a:xfrm>
          <a:custGeom>
            <a:avLst/>
            <a:gdLst/>
            <a:ahLst/>
            <a:cxnLst/>
            <a:rect l="0" t="0" r="0" b="0"/>
            <a:pathLst>
              <a:path w="57150" h="57150">
                <a:moveTo>
                  <a:pt x="57150" y="28575"/>
                </a:moveTo>
                <a:cubicBezTo>
                  <a:pt x="57150" y="44356"/>
                  <a:pt x="44356" y="57150"/>
                  <a:pt x="28575" y="57150"/>
                </a:cubicBezTo>
                <a:cubicBezTo>
                  <a:pt x="12793" y="57150"/>
                  <a:pt x="0" y="44356"/>
                  <a:pt x="0" y="28575"/>
                </a:cubicBezTo>
                <a:cubicBezTo>
                  <a:pt x="0" y="12793"/>
                  <a:pt x="12793" y="0"/>
                  <a:pt x="28575" y="0"/>
                </a:cubicBezTo>
                <a:cubicBezTo>
                  <a:pt x="44356" y="0"/>
                  <a:pt x="57150" y="12793"/>
                  <a:pt x="57150" y="28575"/>
                </a:cubicBezTo>
                <a:close/>
              </a:path>
            </a:pathLst>
          </a:custGeom>
          <a:noFill/>
          <a:ln w="14287">
            <a:solidFill>
              <a:srgbClr val="484848"/>
            </a:solidFill>
          </a:ln>
        </p:spPr>
        <p:txBody>
          <a:bodyPr rtlCol="0" anchor="ctr"/>
          <a:lstStyle/>
          <a:p>
            <a:pPr algn="ctr"/>
            <a:endParaRPr/>
          </a:p>
        </p:txBody>
      </p:sp>
      <p:sp>
        <p:nvSpPr>
          <p:cNvPr id="13" name="TextBox 12">
            <a:extLst>
              <a:ext uri="{FF2B5EF4-FFF2-40B4-BE49-F238E27FC236}">
                <a16:creationId xmlns:a16="http://schemas.microsoft.com/office/drawing/2014/main" id="{FB044F75-0D3B-4BB2-D111-5D74139BF902}"/>
              </a:ext>
            </a:extLst>
          </p:cNvPr>
          <p:cNvSpPr txBox="1"/>
          <p:nvPr/>
        </p:nvSpPr>
        <p:spPr>
          <a:xfrm>
            <a:off x="5417629" y="1863566"/>
            <a:ext cx="609123" cy="400050"/>
          </a:xfrm>
          <a:prstGeom prst="rect">
            <a:avLst/>
          </a:prstGeom>
          <a:noFill/>
          <a:ln>
            <a:noFill/>
          </a:ln>
        </p:spPr>
        <p:txBody>
          <a:bodyPr wrap="none" lIns="0" tIns="0" rIns="0" bIns="0" anchor="t">
            <a:spAutoFit/>
          </a:bodyPr>
          <a:lstStyle/>
          <a:p>
            <a:pPr algn="ctr"/>
            <a:r>
              <a:rPr sz="1100" b="0">
                <a:solidFill>
                  <a:srgbClr val="E0CB15"/>
                </a:solidFill>
                <a:latin typeface="Roboto"/>
              </a:rPr>
              <a:t>Generate
Reports</a:t>
            </a:r>
          </a:p>
        </p:txBody>
      </p:sp>
      <p:sp>
        <p:nvSpPr>
          <p:cNvPr id="14" name="TextBox 13">
            <a:extLst>
              <a:ext uri="{FF2B5EF4-FFF2-40B4-BE49-F238E27FC236}">
                <a16:creationId xmlns:a16="http://schemas.microsoft.com/office/drawing/2014/main" id="{75F004F3-E08C-1D31-04F6-E1FBF87B74CE}"/>
              </a:ext>
            </a:extLst>
          </p:cNvPr>
          <p:cNvSpPr txBox="1"/>
          <p:nvPr/>
        </p:nvSpPr>
        <p:spPr>
          <a:xfrm>
            <a:off x="3019139" y="2262664"/>
            <a:ext cx="833913" cy="360045"/>
          </a:xfrm>
          <a:prstGeom prst="rect">
            <a:avLst/>
          </a:prstGeom>
          <a:noFill/>
          <a:ln>
            <a:noFill/>
          </a:ln>
        </p:spPr>
        <p:txBody>
          <a:bodyPr wrap="none" lIns="0" tIns="0" rIns="0" bIns="0" anchor="t">
            <a:spAutoFit/>
          </a:bodyPr>
          <a:lstStyle/>
          <a:p>
            <a:pPr algn="ctr"/>
            <a:r>
              <a:rPr sz="700" b="0" dirty="0">
                <a:solidFill>
                  <a:srgbClr val="484848"/>
                </a:solidFill>
                <a:latin typeface="Roboto"/>
              </a:rPr>
              <a:t>Create a user-
friendly website for
analysis</a:t>
            </a:r>
          </a:p>
        </p:txBody>
      </p:sp>
      <p:sp>
        <p:nvSpPr>
          <p:cNvPr id="15" name="TextBox 14">
            <a:extLst>
              <a:ext uri="{FF2B5EF4-FFF2-40B4-BE49-F238E27FC236}">
                <a16:creationId xmlns:a16="http://schemas.microsoft.com/office/drawing/2014/main" id="{25318756-9966-757C-D27C-1B41453F9F5A}"/>
              </a:ext>
            </a:extLst>
          </p:cNvPr>
          <p:cNvSpPr txBox="1"/>
          <p:nvPr/>
        </p:nvSpPr>
        <p:spPr>
          <a:xfrm>
            <a:off x="4175093" y="2376964"/>
            <a:ext cx="808196" cy="240030"/>
          </a:xfrm>
          <a:prstGeom prst="rect">
            <a:avLst/>
          </a:prstGeom>
          <a:noFill/>
          <a:ln>
            <a:noFill/>
          </a:ln>
        </p:spPr>
        <p:txBody>
          <a:bodyPr wrap="none" lIns="0" tIns="0" rIns="0" bIns="0" anchor="t">
            <a:spAutoFit/>
          </a:bodyPr>
          <a:lstStyle/>
          <a:p>
            <a:pPr algn="ctr"/>
            <a:r>
              <a:rPr sz="700" b="0">
                <a:solidFill>
                  <a:srgbClr val="484848"/>
                </a:solidFill>
                <a:latin typeface="Roboto"/>
              </a:rPr>
              <a:t>Gather profile data
using APIs</a:t>
            </a:r>
          </a:p>
        </p:txBody>
      </p:sp>
      <p:sp>
        <p:nvSpPr>
          <p:cNvPr id="16" name="TextBox 15">
            <a:extLst>
              <a:ext uri="{FF2B5EF4-FFF2-40B4-BE49-F238E27FC236}">
                <a16:creationId xmlns:a16="http://schemas.microsoft.com/office/drawing/2014/main" id="{4DC2582E-EA99-8E2A-2CCD-E3523F2F4831}"/>
              </a:ext>
            </a:extLst>
          </p:cNvPr>
          <p:cNvSpPr txBox="1"/>
          <p:nvPr/>
        </p:nvSpPr>
        <p:spPr>
          <a:xfrm>
            <a:off x="5290566" y="2262664"/>
            <a:ext cx="863203" cy="360045"/>
          </a:xfrm>
          <a:prstGeom prst="rect">
            <a:avLst/>
          </a:prstGeom>
          <a:noFill/>
          <a:ln>
            <a:noFill/>
          </a:ln>
        </p:spPr>
        <p:txBody>
          <a:bodyPr wrap="none" lIns="0" tIns="0" rIns="0" bIns="0" anchor="t">
            <a:spAutoFit/>
          </a:bodyPr>
          <a:lstStyle/>
          <a:p>
            <a:pPr algn="ctr"/>
            <a:r>
              <a:rPr sz="700" b="0">
                <a:solidFill>
                  <a:srgbClr val="484848"/>
                </a:solidFill>
                <a:latin typeface="Roboto"/>
              </a:rPr>
              <a:t>Summarize analysis
results and provide
evidence</a:t>
            </a:r>
          </a:p>
        </p:txBody>
      </p:sp>
      <p:sp>
        <p:nvSpPr>
          <p:cNvPr id="17" name="TextBox 16">
            <a:extLst>
              <a:ext uri="{FF2B5EF4-FFF2-40B4-BE49-F238E27FC236}">
                <a16:creationId xmlns:a16="http://schemas.microsoft.com/office/drawing/2014/main" id="{C82F1273-5E0D-1922-4F65-2AEB9B02D9BC}"/>
              </a:ext>
            </a:extLst>
          </p:cNvPr>
          <p:cNvSpPr txBox="1"/>
          <p:nvPr/>
        </p:nvSpPr>
        <p:spPr>
          <a:xfrm>
            <a:off x="4155662" y="1777841"/>
            <a:ext cx="846896" cy="600075"/>
          </a:xfrm>
          <a:prstGeom prst="rect">
            <a:avLst/>
          </a:prstGeom>
          <a:noFill/>
          <a:ln>
            <a:noFill/>
          </a:ln>
        </p:spPr>
        <p:txBody>
          <a:bodyPr wrap="none" lIns="0" tIns="0" rIns="0" bIns="0" anchor="t">
            <a:spAutoFit/>
          </a:bodyPr>
          <a:lstStyle/>
          <a:p>
            <a:pPr algn="ctr"/>
            <a:r>
              <a:rPr sz="1100" b="0" dirty="0">
                <a:solidFill>
                  <a:srgbClr val="92BD39"/>
                </a:solidFill>
                <a:latin typeface="Roboto"/>
              </a:rPr>
              <a:t>Integrate
Social Media
APIs</a:t>
            </a:r>
          </a:p>
        </p:txBody>
      </p:sp>
      <p:sp>
        <p:nvSpPr>
          <p:cNvPr id="18" name="TextBox 17">
            <a:extLst>
              <a:ext uri="{FF2B5EF4-FFF2-40B4-BE49-F238E27FC236}">
                <a16:creationId xmlns:a16="http://schemas.microsoft.com/office/drawing/2014/main" id="{C5BDEDF9-3DD4-2410-EEE5-A061968EA5AD}"/>
              </a:ext>
            </a:extLst>
          </p:cNvPr>
          <p:cNvSpPr txBox="1"/>
          <p:nvPr/>
        </p:nvSpPr>
        <p:spPr>
          <a:xfrm>
            <a:off x="3598069" y="4720114"/>
            <a:ext cx="819150" cy="360045"/>
          </a:xfrm>
          <a:prstGeom prst="rect">
            <a:avLst/>
          </a:prstGeom>
          <a:noFill/>
          <a:ln>
            <a:noFill/>
          </a:ln>
        </p:spPr>
        <p:txBody>
          <a:bodyPr wrap="none" lIns="0" tIns="0" rIns="0" bIns="0" anchor="t">
            <a:spAutoFit/>
          </a:bodyPr>
          <a:lstStyle/>
          <a:p>
            <a:pPr algn="ctr"/>
            <a:r>
              <a:rPr sz="700" b="0">
                <a:solidFill>
                  <a:srgbClr val="484848"/>
                </a:solidFill>
                <a:latin typeface="Roboto"/>
              </a:rPr>
              <a:t>Identify suspicious
profiles based on
criteria</a:t>
            </a:r>
          </a:p>
        </p:txBody>
      </p:sp>
      <p:sp>
        <p:nvSpPr>
          <p:cNvPr id="19" name="TextBox 18">
            <a:extLst>
              <a:ext uri="{FF2B5EF4-FFF2-40B4-BE49-F238E27FC236}">
                <a16:creationId xmlns:a16="http://schemas.microsoft.com/office/drawing/2014/main" id="{9F83CDD1-6AD3-2EEE-CF1C-1183162AA072}"/>
              </a:ext>
            </a:extLst>
          </p:cNvPr>
          <p:cNvSpPr txBox="1"/>
          <p:nvPr/>
        </p:nvSpPr>
        <p:spPr>
          <a:xfrm>
            <a:off x="3010757" y="1863566"/>
            <a:ext cx="850820" cy="400050"/>
          </a:xfrm>
          <a:prstGeom prst="rect">
            <a:avLst/>
          </a:prstGeom>
          <a:noFill/>
          <a:ln>
            <a:noFill/>
          </a:ln>
        </p:spPr>
        <p:txBody>
          <a:bodyPr wrap="none" lIns="0" tIns="0" rIns="0" bIns="0" anchor="t">
            <a:spAutoFit/>
          </a:bodyPr>
          <a:lstStyle/>
          <a:p>
            <a:pPr algn="ctr"/>
            <a:r>
              <a:rPr sz="1100" b="0">
                <a:solidFill>
                  <a:srgbClr val="4E88E7"/>
                </a:solidFill>
                <a:latin typeface="Roboto"/>
              </a:rPr>
              <a:t>Develop Web
Platform</a:t>
            </a:r>
          </a:p>
        </p:txBody>
      </p:sp>
      <p:sp>
        <p:nvSpPr>
          <p:cNvPr id="20" name="TextBox 19">
            <a:extLst>
              <a:ext uri="{FF2B5EF4-FFF2-40B4-BE49-F238E27FC236}">
                <a16:creationId xmlns:a16="http://schemas.microsoft.com/office/drawing/2014/main" id="{F3B51F04-BE35-DDCF-8EA3-1BD135F0D4E8}"/>
              </a:ext>
            </a:extLst>
          </p:cNvPr>
          <p:cNvSpPr txBox="1"/>
          <p:nvPr/>
        </p:nvSpPr>
        <p:spPr>
          <a:xfrm>
            <a:off x="3633025" y="4120991"/>
            <a:ext cx="749141" cy="600075"/>
          </a:xfrm>
          <a:prstGeom prst="rect">
            <a:avLst/>
          </a:prstGeom>
          <a:noFill/>
          <a:ln>
            <a:noFill/>
          </a:ln>
        </p:spPr>
        <p:txBody>
          <a:bodyPr wrap="none" lIns="0" tIns="0" rIns="0" bIns="0" anchor="t">
            <a:spAutoFit/>
          </a:bodyPr>
          <a:lstStyle/>
          <a:p>
            <a:pPr algn="ctr"/>
            <a:r>
              <a:rPr sz="1100" b="0">
                <a:solidFill>
                  <a:srgbClr val="3CC583"/>
                </a:solidFill>
                <a:latin typeface="Roboto"/>
              </a:rPr>
              <a:t>Implement
Rule-Based
Detection</a:t>
            </a:r>
          </a:p>
        </p:txBody>
      </p:sp>
      <p:sp>
        <p:nvSpPr>
          <p:cNvPr id="21" name="TextBox 20">
            <a:extLst>
              <a:ext uri="{FF2B5EF4-FFF2-40B4-BE49-F238E27FC236}">
                <a16:creationId xmlns:a16="http://schemas.microsoft.com/office/drawing/2014/main" id="{A9B9388B-0158-C2A3-E308-A1F797E88577}"/>
              </a:ext>
            </a:extLst>
          </p:cNvPr>
          <p:cNvSpPr txBox="1"/>
          <p:nvPr/>
        </p:nvSpPr>
        <p:spPr>
          <a:xfrm>
            <a:off x="4755547" y="4092416"/>
            <a:ext cx="790098" cy="400050"/>
          </a:xfrm>
          <a:prstGeom prst="rect">
            <a:avLst/>
          </a:prstGeom>
          <a:noFill/>
          <a:ln>
            <a:noFill/>
          </a:ln>
        </p:spPr>
        <p:txBody>
          <a:bodyPr wrap="none" lIns="0" tIns="0" rIns="0" bIns="0" anchor="t">
            <a:spAutoFit/>
          </a:bodyPr>
          <a:lstStyle/>
          <a:p>
            <a:pPr algn="ctr"/>
            <a:r>
              <a:rPr sz="1100" b="0">
                <a:solidFill>
                  <a:srgbClr val="1EABDA"/>
                </a:solidFill>
                <a:latin typeface="Roboto"/>
              </a:rPr>
              <a:t>Enable User
Reporting</a:t>
            </a:r>
          </a:p>
        </p:txBody>
      </p:sp>
      <p:sp>
        <p:nvSpPr>
          <p:cNvPr id="22" name="TextBox 21">
            <a:extLst>
              <a:ext uri="{FF2B5EF4-FFF2-40B4-BE49-F238E27FC236}">
                <a16:creationId xmlns:a16="http://schemas.microsoft.com/office/drawing/2014/main" id="{703CAF3D-18CF-A346-16D8-52F75151CA53}"/>
              </a:ext>
            </a:extLst>
          </p:cNvPr>
          <p:cNvSpPr txBox="1"/>
          <p:nvPr/>
        </p:nvSpPr>
        <p:spPr>
          <a:xfrm>
            <a:off x="4818793" y="4491514"/>
            <a:ext cx="663654" cy="480060"/>
          </a:xfrm>
          <a:prstGeom prst="rect">
            <a:avLst/>
          </a:prstGeom>
          <a:noFill/>
          <a:ln>
            <a:noFill/>
          </a:ln>
        </p:spPr>
        <p:txBody>
          <a:bodyPr wrap="none" lIns="0" tIns="0" rIns="0" bIns="0" anchor="t">
            <a:spAutoFit/>
          </a:bodyPr>
          <a:lstStyle/>
          <a:p>
            <a:pPr algn="ctr"/>
            <a:r>
              <a:rPr sz="700" b="0">
                <a:solidFill>
                  <a:srgbClr val="484848"/>
                </a:solidFill>
                <a:latin typeface="Roboto"/>
              </a:rPr>
              <a:t>Provide a
mechanism for
users to report
profiles</a:t>
            </a:r>
          </a:p>
        </p:txBody>
      </p:sp>
      <p:sp>
        <p:nvSpPr>
          <p:cNvPr id="23" name="Rounded Rectangle 20">
            <a:extLst>
              <a:ext uri="{FF2B5EF4-FFF2-40B4-BE49-F238E27FC236}">
                <a16:creationId xmlns:a16="http://schemas.microsoft.com/office/drawing/2014/main" id="{927CF340-3465-92D0-0F77-7E7D31351B6F}"/>
              </a:ext>
            </a:extLst>
          </p:cNvPr>
          <p:cNvSpPr/>
          <p:nvPr/>
        </p:nvSpPr>
        <p:spPr>
          <a:xfrm>
            <a:off x="3272509" y="2888932"/>
            <a:ext cx="328612" cy="328669"/>
          </a:xfrm>
          <a:custGeom>
            <a:avLst/>
            <a:gdLst/>
            <a:ahLst/>
            <a:cxnLst/>
            <a:rect l="0" t="0" r="0" b="0"/>
            <a:pathLst>
              <a:path w="328612" h="328669">
                <a:moveTo>
                  <a:pt x="278606" y="271519"/>
                </a:moveTo>
                <a:lnTo>
                  <a:pt x="321468" y="271519"/>
                </a:lnTo>
                <a:cubicBezTo>
                  <a:pt x="321468" y="271519"/>
                  <a:pt x="328612" y="271519"/>
                  <a:pt x="328612" y="278663"/>
                </a:cubicBezTo>
                <a:lnTo>
                  <a:pt x="328612" y="321525"/>
                </a:lnTo>
                <a:cubicBezTo>
                  <a:pt x="328612" y="321525"/>
                  <a:pt x="328612" y="328669"/>
                  <a:pt x="321468" y="328669"/>
                </a:cubicBezTo>
                <a:lnTo>
                  <a:pt x="278606" y="328669"/>
                </a:lnTo>
                <a:cubicBezTo>
                  <a:pt x="278606" y="328669"/>
                  <a:pt x="271462" y="328669"/>
                  <a:pt x="271462" y="321525"/>
                </a:cubicBezTo>
                <a:lnTo>
                  <a:pt x="271462" y="278663"/>
                </a:lnTo>
                <a:cubicBezTo>
                  <a:pt x="271462" y="278663"/>
                  <a:pt x="271462" y="271519"/>
                  <a:pt x="278606" y="271519"/>
                </a:cubicBezTo>
                <a:moveTo>
                  <a:pt x="192881" y="271519"/>
                </a:moveTo>
                <a:lnTo>
                  <a:pt x="235743" y="271519"/>
                </a:lnTo>
                <a:cubicBezTo>
                  <a:pt x="235743" y="271519"/>
                  <a:pt x="242887" y="271519"/>
                  <a:pt x="242887" y="278663"/>
                </a:cubicBezTo>
                <a:lnTo>
                  <a:pt x="242887" y="321525"/>
                </a:lnTo>
                <a:cubicBezTo>
                  <a:pt x="242887" y="321525"/>
                  <a:pt x="242887" y="328669"/>
                  <a:pt x="235743" y="328669"/>
                </a:cubicBezTo>
                <a:lnTo>
                  <a:pt x="192881" y="328669"/>
                </a:lnTo>
                <a:cubicBezTo>
                  <a:pt x="192881" y="328669"/>
                  <a:pt x="185737" y="328669"/>
                  <a:pt x="185737" y="321525"/>
                </a:cubicBezTo>
                <a:lnTo>
                  <a:pt x="185737" y="278663"/>
                </a:lnTo>
                <a:cubicBezTo>
                  <a:pt x="185737" y="278663"/>
                  <a:pt x="185737" y="271519"/>
                  <a:pt x="192881" y="271519"/>
                </a:cubicBezTo>
                <a:moveTo>
                  <a:pt x="235743" y="185794"/>
                </a:moveTo>
                <a:lnTo>
                  <a:pt x="278606" y="185794"/>
                </a:lnTo>
                <a:cubicBezTo>
                  <a:pt x="278606" y="185794"/>
                  <a:pt x="285750" y="185794"/>
                  <a:pt x="285750" y="192938"/>
                </a:cubicBezTo>
                <a:lnTo>
                  <a:pt x="285750" y="235800"/>
                </a:lnTo>
                <a:cubicBezTo>
                  <a:pt x="285750" y="235800"/>
                  <a:pt x="285750" y="242944"/>
                  <a:pt x="278606" y="242944"/>
                </a:cubicBezTo>
                <a:lnTo>
                  <a:pt x="235743" y="242944"/>
                </a:lnTo>
                <a:cubicBezTo>
                  <a:pt x="235743" y="242944"/>
                  <a:pt x="228600" y="242944"/>
                  <a:pt x="228600" y="235800"/>
                </a:cubicBezTo>
                <a:lnTo>
                  <a:pt x="228600" y="192938"/>
                </a:lnTo>
                <a:cubicBezTo>
                  <a:pt x="228600" y="192938"/>
                  <a:pt x="228600" y="185794"/>
                  <a:pt x="235743" y="185794"/>
                </a:cubicBezTo>
                <a:moveTo>
                  <a:pt x="0" y="57207"/>
                </a:moveTo>
                <a:lnTo>
                  <a:pt x="285750" y="57207"/>
                </a:lnTo>
                <a:moveTo>
                  <a:pt x="42862" y="25060"/>
                </a:moveTo>
                <a:lnTo>
                  <a:pt x="42862" y="25060"/>
                </a:lnTo>
                <a:moveTo>
                  <a:pt x="42862" y="25060"/>
                </a:moveTo>
                <a:cubicBezTo>
                  <a:pt x="40889" y="25060"/>
                  <a:pt x="39290" y="26659"/>
                  <a:pt x="39290" y="28632"/>
                </a:cubicBezTo>
                <a:cubicBezTo>
                  <a:pt x="39290" y="30604"/>
                  <a:pt x="40889" y="32204"/>
                  <a:pt x="42862" y="32204"/>
                </a:cubicBezTo>
                <a:cubicBezTo>
                  <a:pt x="44835" y="32204"/>
                  <a:pt x="46434" y="30604"/>
                  <a:pt x="46434" y="28632"/>
                </a:cubicBezTo>
                <a:cubicBezTo>
                  <a:pt x="46434" y="26659"/>
                  <a:pt x="44835" y="25060"/>
                  <a:pt x="42862" y="25060"/>
                </a:cubicBezTo>
                <a:moveTo>
                  <a:pt x="71437" y="25060"/>
                </a:moveTo>
                <a:lnTo>
                  <a:pt x="71437" y="25060"/>
                </a:lnTo>
                <a:moveTo>
                  <a:pt x="71437" y="25060"/>
                </a:moveTo>
                <a:cubicBezTo>
                  <a:pt x="69464" y="25060"/>
                  <a:pt x="67865" y="26659"/>
                  <a:pt x="67865" y="28632"/>
                </a:cubicBezTo>
                <a:cubicBezTo>
                  <a:pt x="67865" y="30604"/>
                  <a:pt x="69464" y="32204"/>
                  <a:pt x="71437" y="32204"/>
                </a:cubicBezTo>
                <a:cubicBezTo>
                  <a:pt x="73410" y="32204"/>
                  <a:pt x="75009" y="30604"/>
                  <a:pt x="75009" y="28632"/>
                </a:cubicBezTo>
                <a:cubicBezTo>
                  <a:pt x="75009" y="26659"/>
                  <a:pt x="73410" y="25060"/>
                  <a:pt x="71437" y="25060"/>
                </a:cubicBezTo>
                <a:moveTo>
                  <a:pt x="100012" y="25060"/>
                </a:moveTo>
                <a:lnTo>
                  <a:pt x="100012" y="25060"/>
                </a:lnTo>
                <a:moveTo>
                  <a:pt x="100012" y="25060"/>
                </a:moveTo>
                <a:cubicBezTo>
                  <a:pt x="98039" y="25060"/>
                  <a:pt x="96440" y="26659"/>
                  <a:pt x="96440" y="28632"/>
                </a:cubicBezTo>
                <a:cubicBezTo>
                  <a:pt x="96440" y="30604"/>
                  <a:pt x="98039" y="32204"/>
                  <a:pt x="100012" y="32204"/>
                </a:cubicBezTo>
                <a:cubicBezTo>
                  <a:pt x="101985" y="32204"/>
                  <a:pt x="103584" y="30604"/>
                  <a:pt x="103584" y="28632"/>
                </a:cubicBezTo>
                <a:cubicBezTo>
                  <a:pt x="103584" y="26659"/>
                  <a:pt x="101985" y="25060"/>
                  <a:pt x="100012" y="25060"/>
                </a:cubicBezTo>
                <a:moveTo>
                  <a:pt x="185737" y="228600"/>
                </a:moveTo>
                <a:lnTo>
                  <a:pt x="28574" y="228600"/>
                </a:lnTo>
                <a:cubicBezTo>
                  <a:pt x="12793" y="228600"/>
                  <a:pt x="0" y="215806"/>
                  <a:pt x="0" y="200025"/>
                </a:cubicBezTo>
                <a:lnTo>
                  <a:pt x="0" y="28575"/>
                </a:lnTo>
                <a:cubicBezTo>
                  <a:pt x="0" y="12793"/>
                  <a:pt x="12793" y="0"/>
                  <a:pt x="28574" y="0"/>
                </a:cubicBezTo>
                <a:lnTo>
                  <a:pt x="257175" y="0"/>
                </a:lnTo>
                <a:cubicBezTo>
                  <a:pt x="272956" y="0"/>
                  <a:pt x="285750" y="12793"/>
                  <a:pt x="285750" y="28575"/>
                </a:cubicBezTo>
                <a:lnTo>
                  <a:pt x="285750" y="157162"/>
                </a:lnTo>
              </a:path>
            </a:pathLst>
          </a:custGeom>
          <a:noFill/>
          <a:ln w="14287">
            <a:solidFill>
              <a:srgbClr val="4E88E7"/>
            </a:solidFill>
          </a:ln>
        </p:spPr>
        <p:txBody>
          <a:bodyPr rtlCol="0" anchor="ctr"/>
          <a:lstStyle/>
          <a:p>
            <a:pPr algn="ctr"/>
            <a:endParaRPr/>
          </a:p>
        </p:txBody>
      </p:sp>
      <p:sp>
        <p:nvSpPr>
          <p:cNvPr id="24" name="Rounded Rectangle 21">
            <a:extLst>
              <a:ext uri="{FF2B5EF4-FFF2-40B4-BE49-F238E27FC236}">
                <a16:creationId xmlns:a16="http://schemas.microsoft.com/office/drawing/2014/main" id="{BA6598B8-1C61-F960-1F9F-1CCA53E772C5}"/>
              </a:ext>
            </a:extLst>
          </p:cNvPr>
          <p:cNvSpPr/>
          <p:nvPr/>
        </p:nvSpPr>
        <p:spPr>
          <a:xfrm>
            <a:off x="4414980" y="2888932"/>
            <a:ext cx="328326" cy="328612"/>
          </a:xfrm>
          <a:custGeom>
            <a:avLst/>
            <a:gdLst/>
            <a:ahLst/>
            <a:cxnLst/>
            <a:rect l="0" t="0" r="0" b="0"/>
            <a:pathLst>
              <a:path w="328326" h="328612">
                <a:moveTo>
                  <a:pt x="185923" y="284792"/>
                </a:moveTo>
                <a:cubicBezTo>
                  <a:pt x="204071" y="284792"/>
                  <a:pt x="218784" y="270080"/>
                  <a:pt x="218784" y="251931"/>
                </a:cubicBezTo>
                <a:cubicBezTo>
                  <a:pt x="218784" y="233782"/>
                  <a:pt x="204071" y="219070"/>
                  <a:pt x="185923" y="219070"/>
                </a:cubicBezTo>
                <a:cubicBezTo>
                  <a:pt x="167774" y="219070"/>
                  <a:pt x="153061" y="233782"/>
                  <a:pt x="153061" y="251931"/>
                </a:cubicBezTo>
                <a:cubicBezTo>
                  <a:pt x="153061" y="270080"/>
                  <a:pt x="167774" y="284792"/>
                  <a:pt x="185923" y="284792"/>
                </a:cubicBezTo>
                <a:close/>
                <a:moveTo>
                  <a:pt x="295465" y="328612"/>
                </a:moveTo>
                <a:cubicBezTo>
                  <a:pt x="313614" y="328612"/>
                  <a:pt x="328326" y="313899"/>
                  <a:pt x="328326" y="295751"/>
                </a:cubicBezTo>
                <a:cubicBezTo>
                  <a:pt x="328326" y="277602"/>
                  <a:pt x="313614" y="262889"/>
                  <a:pt x="295465" y="262889"/>
                </a:cubicBezTo>
                <a:cubicBezTo>
                  <a:pt x="277316" y="262889"/>
                  <a:pt x="262604" y="277602"/>
                  <a:pt x="262604" y="295751"/>
                </a:cubicBezTo>
                <a:cubicBezTo>
                  <a:pt x="262604" y="313899"/>
                  <a:pt x="277316" y="328612"/>
                  <a:pt x="295465" y="328612"/>
                </a:cubicBezTo>
                <a:close/>
                <a:moveTo>
                  <a:pt x="295465" y="219084"/>
                </a:moveTo>
                <a:cubicBezTo>
                  <a:pt x="313614" y="219084"/>
                  <a:pt x="328326" y="204372"/>
                  <a:pt x="328326" y="186223"/>
                </a:cubicBezTo>
                <a:cubicBezTo>
                  <a:pt x="328326" y="168074"/>
                  <a:pt x="313614" y="153362"/>
                  <a:pt x="295465" y="153362"/>
                </a:cubicBezTo>
                <a:cubicBezTo>
                  <a:pt x="277316" y="153362"/>
                  <a:pt x="262604" y="168074"/>
                  <a:pt x="262604" y="186223"/>
                </a:cubicBezTo>
                <a:cubicBezTo>
                  <a:pt x="262604" y="204372"/>
                  <a:pt x="277316" y="219084"/>
                  <a:pt x="295465" y="219084"/>
                </a:cubicBezTo>
                <a:close/>
                <a:moveTo>
                  <a:pt x="214026" y="235143"/>
                </a:moveTo>
                <a:lnTo>
                  <a:pt x="267333" y="203168"/>
                </a:lnTo>
                <a:moveTo>
                  <a:pt x="216427" y="264204"/>
                </a:moveTo>
                <a:lnTo>
                  <a:pt x="265004" y="283635"/>
                </a:lnTo>
                <a:moveTo>
                  <a:pt x="0" y="56964"/>
                </a:moveTo>
                <a:lnTo>
                  <a:pt x="277634" y="56964"/>
                </a:lnTo>
                <a:moveTo>
                  <a:pt x="0" y="178250"/>
                </a:moveTo>
                <a:lnTo>
                  <a:pt x="194695" y="178250"/>
                </a:lnTo>
                <a:moveTo>
                  <a:pt x="0" y="117700"/>
                </a:moveTo>
                <a:lnTo>
                  <a:pt x="240701" y="117700"/>
                </a:lnTo>
                <a:moveTo>
                  <a:pt x="113399" y="56964"/>
                </a:moveTo>
                <a:lnTo>
                  <a:pt x="113399" y="241001"/>
                </a:lnTo>
                <a:moveTo>
                  <a:pt x="194695" y="56964"/>
                </a:moveTo>
                <a:lnTo>
                  <a:pt x="194695" y="178250"/>
                </a:lnTo>
                <a:moveTo>
                  <a:pt x="109613" y="240972"/>
                </a:moveTo>
                <a:lnTo>
                  <a:pt x="29289" y="240972"/>
                </a:lnTo>
                <a:cubicBezTo>
                  <a:pt x="13160" y="240972"/>
                  <a:pt x="85" y="227898"/>
                  <a:pt x="85" y="211769"/>
                </a:cubicBezTo>
                <a:lnTo>
                  <a:pt x="85" y="29203"/>
                </a:lnTo>
                <a:cubicBezTo>
                  <a:pt x="85" y="13074"/>
                  <a:pt x="13160" y="0"/>
                  <a:pt x="29289" y="0"/>
                </a:cubicBezTo>
                <a:lnTo>
                  <a:pt x="248359" y="0"/>
                </a:lnTo>
                <a:cubicBezTo>
                  <a:pt x="264488" y="0"/>
                  <a:pt x="277563" y="13074"/>
                  <a:pt x="277563" y="29203"/>
                </a:cubicBezTo>
                <a:lnTo>
                  <a:pt x="277563" y="100198"/>
                </a:lnTo>
              </a:path>
            </a:pathLst>
          </a:custGeom>
          <a:noFill/>
          <a:ln w="14287">
            <a:solidFill>
              <a:srgbClr val="92BD39"/>
            </a:solidFill>
          </a:ln>
        </p:spPr>
        <p:txBody>
          <a:bodyPr rtlCol="0" anchor="ctr"/>
          <a:lstStyle/>
          <a:p>
            <a:pPr algn="ctr"/>
            <a:endParaRPr/>
          </a:p>
        </p:txBody>
      </p:sp>
      <p:sp>
        <p:nvSpPr>
          <p:cNvPr id="25" name="Rounded Rectangle 22">
            <a:extLst>
              <a:ext uri="{FF2B5EF4-FFF2-40B4-BE49-F238E27FC236}">
                <a16:creationId xmlns:a16="http://schemas.microsoft.com/office/drawing/2014/main" id="{179C111F-949E-983E-2B0D-F47CE14FA241}"/>
              </a:ext>
            </a:extLst>
          </p:cNvPr>
          <p:cNvSpPr/>
          <p:nvPr/>
        </p:nvSpPr>
        <p:spPr>
          <a:xfrm>
            <a:off x="5557837" y="2888932"/>
            <a:ext cx="328612" cy="328612"/>
          </a:xfrm>
          <a:custGeom>
            <a:avLst/>
            <a:gdLst/>
            <a:ahLst/>
            <a:cxnLst/>
            <a:rect l="0" t="0" r="0" b="0"/>
            <a:pathLst>
              <a:path w="328612" h="328612">
                <a:moveTo>
                  <a:pt x="185737" y="92868"/>
                </a:moveTo>
                <a:cubicBezTo>
                  <a:pt x="185737" y="120486"/>
                  <a:pt x="208126" y="142875"/>
                  <a:pt x="235743" y="142875"/>
                </a:cubicBezTo>
                <a:cubicBezTo>
                  <a:pt x="263361" y="142875"/>
                  <a:pt x="285750" y="120486"/>
                  <a:pt x="285750" y="92868"/>
                </a:cubicBezTo>
                <a:cubicBezTo>
                  <a:pt x="285750" y="65251"/>
                  <a:pt x="263361" y="42862"/>
                  <a:pt x="235743" y="42862"/>
                </a:cubicBezTo>
                <a:cubicBezTo>
                  <a:pt x="208126" y="42862"/>
                  <a:pt x="185737" y="65251"/>
                  <a:pt x="185737" y="92868"/>
                </a:cubicBezTo>
                <a:moveTo>
                  <a:pt x="42862" y="285750"/>
                </a:moveTo>
                <a:lnTo>
                  <a:pt x="74294" y="241701"/>
                </a:lnTo>
                <a:cubicBezTo>
                  <a:pt x="75411" y="240138"/>
                  <a:pt x="77110" y="239091"/>
                  <a:pt x="79008" y="238795"/>
                </a:cubicBezTo>
                <a:cubicBezTo>
                  <a:pt x="80905" y="238499"/>
                  <a:pt x="82842" y="238980"/>
                  <a:pt x="84381" y="240130"/>
                </a:cubicBezTo>
                <a:lnTo>
                  <a:pt x="101441" y="252888"/>
                </a:lnTo>
                <a:cubicBezTo>
                  <a:pt x="104597" y="255255"/>
                  <a:pt x="109075" y="254616"/>
                  <a:pt x="111442" y="251460"/>
                </a:cubicBezTo>
                <a:lnTo>
                  <a:pt x="150018" y="200025"/>
                </a:lnTo>
                <a:moveTo>
                  <a:pt x="285378" y="86796"/>
                </a:moveTo>
                <a:lnTo>
                  <a:pt x="235743" y="92868"/>
                </a:lnTo>
                <a:lnTo>
                  <a:pt x="246473" y="44019"/>
                </a:lnTo>
                <a:moveTo>
                  <a:pt x="207168" y="185737"/>
                </a:moveTo>
                <a:cubicBezTo>
                  <a:pt x="200025" y="185737"/>
                  <a:pt x="200025" y="192881"/>
                  <a:pt x="200025" y="192881"/>
                </a:cubicBezTo>
                <a:lnTo>
                  <a:pt x="200025" y="278606"/>
                </a:lnTo>
                <a:cubicBezTo>
                  <a:pt x="200025" y="285750"/>
                  <a:pt x="207168" y="285750"/>
                  <a:pt x="207168" y="285750"/>
                </a:cubicBezTo>
                <a:lnTo>
                  <a:pt x="278606" y="285750"/>
                </a:lnTo>
                <a:cubicBezTo>
                  <a:pt x="285750" y="285750"/>
                  <a:pt x="285750" y="278606"/>
                  <a:pt x="285750" y="278606"/>
                </a:cubicBezTo>
                <a:lnTo>
                  <a:pt x="285750" y="192881"/>
                </a:lnTo>
                <a:cubicBezTo>
                  <a:pt x="285750" y="185737"/>
                  <a:pt x="278606" y="185737"/>
                  <a:pt x="278606" y="185737"/>
                </a:cubicBezTo>
                <a:lnTo>
                  <a:pt x="207168" y="185737"/>
                </a:lnTo>
                <a:moveTo>
                  <a:pt x="228600" y="228600"/>
                </a:moveTo>
                <a:lnTo>
                  <a:pt x="257175" y="228600"/>
                </a:lnTo>
                <a:moveTo>
                  <a:pt x="228600" y="257175"/>
                </a:moveTo>
                <a:lnTo>
                  <a:pt x="242887" y="257175"/>
                </a:lnTo>
                <a:moveTo>
                  <a:pt x="50006" y="42862"/>
                </a:moveTo>
                <a:cubicBezTo>
                  <a:pt x="42862" y="42862"/>
                  <a:pt x="42862" y="50006"/>
                  <a:pt x="42862" y="50006"/>
                </a:cubicBezTo>
                <a:lnTo>
                  <a:pt x="42862" y="135731"/>
                </a:lnTo>
                <a:cubicBezTo>
                  <a:pt x="42862" y="142875"/>
                  <a:pt x="50006" y="142875"/>
                  <a:pt x="50006" y="142875"/>
                </a:cubicBezTo>
                <a:lnTo>
                  <a:pt x="121443" y="142875"/>
                </a:lnTo>
                <a:cubicBezTo>
                  <a:pt x="128587" y="142875"/>
                  <a:pt x="128587" y="135731"/>
                  <a:pt x="128587" y="135731"/>
                </a:cubicBezTo>
                <a:lnTo>
                  <a:pt x="128587" y="50006"/>
                </a:lnTo>
                <a:cubicBezTo>
                  <a:pt x="128587" y="42862"/>
                  <a:pt x="121443" y="42862"/>
                  <a:pt x="121443" y="42862"/>
                </a:cubicBezTo>
                <a:lnTo>
                  <a:pt x="50006" y="42862"/>
                </a:lnTo>
                <a:moveTo>
                  <a:pt x="71437" y="71437"/>
                </a:moveTo>
                <a:lnTo>
                  <a:pt x="100012" y="71437"/>
                </a:lnTo>
                <a:moveTo>
                  <a:pt x="71437" y="100012"/>
                </a:moveTo>
                <a:lnTo>
                  <a:pt x="85725" y="100012"/>
                </a:lnTo>
                <a:moveTo>
                  <a:pt x="14287" y="0"/>
                </a:moveTo>
                <a:lnTo>
                  <a:pt x="314325" y="0"/>
                </a:lnTo>
                <a:cubicBezTo>
                  <a:pt x="314325" y="0"/>
                  <a:pt x="328612" y="0"/>
                  <a:pt x="328612" y="14287"/>
                </a:cubicBezTo>
                <a:lnTo>
                  <a:pt x="328612" y="314325"/>
                </a:lnTo>
                <a:cubicBezTo>
                  <a:pt x="328612" y="314325"/>
                  <a:pt x="328612" y="328612"/>
                  <a:pt x="314325" y="328612"/>
                </a:cubicBezTo>
                <a:lnTo>
                  <a:pt x="14287" y="328612"/>
                </a:lnTo>
                <a:cubicBezTo>
                  <a:pt x="14287" y="328612"/>
                  <a:pt x="0" y="328612"/>
                  <a:pt x="0" y="314325"/>
                </a:cubicBezTo>
                <a:lnTo>
                  <a:pt x="0" y="14287"/>
                </a:lnTo>
                <a:cubicBezTo>
                  <a:pt x="0" y="14287"/>
                  <a:pt x="0" y="0"/>
                  <a:pt x="14287" y="0"/>
                </a:cubicBezTo>
              </a:path>
            </a:pathLst>
          </a:custGeom>
          <a:noFill/>
          <a:ln w="14287">
            <a:solidFill>
              <a:srgbClr val="E0CB15"/>
            </a:solidFill>
          </a:ln>
        </p:spPr>
        <p:txBody>
          <a:bodyPr rtlCol="0" anchor="ctr"/>
          <a:lstStyle/>
          <a:p>
            <a:pPr algn="ctr"/>
            <a:endParaRPr/>
          </a:p>
        </p:txBody>
      </p:sp>
      <p:sp>
        <p:nvSpPr>
          <p:cNvPr id="26" name="Rounded Rectangle 23">
            <a:extLst>
              <a:ext uri="{FF2B5EF4-FFF2-40B4-BE49-F238E27FC236}">
                <a16:creationId xmlns:a16="http://schemas.microsoft.com/office/drawing/2014/main" id="{F8B21B4C-27A1-D60A-D2B6-D5405FF8DE2F}"/>
              </a:ext>
            </a:extLst>
          </p:cNvPr>
          <p:cNvSpPr/>
          <p:nvPr/>
        </p:nvSpPr>
        <p:spPr>
          <a:xfrm>
            <a:off x="3843337" y="3461447"/>
            <a:ext cx="328612" cy="326583"/>
          </a:xfrm>
          <a:custGeom>
            <a:avLst/>
            <a:gdLst/>
            <a:ahLst/>
            <a:cxnLst/>
            <a:rect l="0" t="0" r="0" b="0"/>
            <a:pathLst>
              <a:path w="328612" h="326583">
                <a:moveTo>
                  <a:pt x="328612" y="100855"/>
                </a:moveTo>
                <a:cubicBezTo>
                  <a:pt x="328174" y="136261"/>
                  <a:pt x="308209" y="168528"/>
                  <a:pt x="276720" y="184723"/>
                </a:cubicBezTo>
                <a:lnTo>
                  <a:pt x="238486" y="205197"/>
                </a:lnTo>
                <a:lnTo>
                  <a:pt x="200267" y="184723"/>
                </a:lnTo>
                <a:cubicBezTo>
                  <a:pt x="168771" y="168535"/>
                  <a:pt x="148799" y="136265"/>
                  <a:pt x="148361" y="100855"/>
                </a:cubicBezTo>
                <a:lnTo>
                  <a:pt x="148361" y="0"/>
                </a:lnTo>
                <a:lnTo>
                  <a:pt x="151361" y="3757"/>
                </a:lnTo>
                <a:cubicBezTo>
                  <a:pt x="160648" y="15115"/>
                  <a:pt x="174263" y="22067"/>
                  <a:pt x="188909" y="22931"/>
                </a:cubicBezTo>
                <a:cubicBezTo>
                  <a:pt x="203606" y="23974"/>
                  <a:pt x="218081" y="18903"/>
                  <a:pt x="228914" y="8915"/>
                </a:cubicBezTo>
                <a:lnTo>
                  <a:pt x="238429" y="0"/>
                </a:lnTo>
                <a:lnTo>
                  <a:pt x="247945" y="8915"/>
                </a:lnTo>
                <a:cubicBezTo>
                  <a:pt x="258777" y="18903"/>
                  <a:pt x="273253" y="23974"/>
                  <a:pt x="287950" y="22931"/>
                </a:cubicBezTo>
                <a:cubicBezTo>
                  <a:pt x="302636" y="22099"/>
                  <a:pt x="316299" y="15143"/>
                  <a:pt x="325612" y="3757"/>
                </a:cubicBezTo>
                <a:lnTo>
                  <a:pt x="328612" y="0"/>
                </a:lnTo>
                <a:close/>
                <a:moveTo>
                  <a:pt x="285750" y="101669"/>
                </a:moveTo>
                <a:lnTo>
                  <a:pt x="285892" y="52306"/>
                </a:lnTo>
                <a:cubicBezTo>
                  <a:pt x="255519" y="64423"/>
                  <a:pt x="221654" y="64423"/>
                  <a:pt x="191281" y="52306"/>
                </a:cubicBezTo>
                <a:lnTo>
                  <a:pt x="191281" y="101669"/>
                </a:lnTo>
                <a:cubicBezTo>
                  <a:pt x="191515" y="120247"/>
                  <a:pt x="201999" y="137174"/>
                  <a:pt x="218527" y="145661"/>
                </a:cubicBezTo>
                <a:lnTo>
                  <a:pt x="238529" y="156405"/>
                </a:lnTo>
                <a:lnTo>
                  <a:pt x="258603" y="145661"/>
                </a:lnTo>
                <a:cubicBezTo>
                  <a:pt x="275090" y="137144"/>
                  <a:pt x="285531" y="120225"/>
                  <a:pt x="285750" y="101669"/>
                </a:cubicBezTo>
                <a:close/>
                <a:moveTo>
                  <a:pt x="168392" y="311267"/>
                </a:moveTo>
                <a:cubicBezTo>
                  <a:pt x="168392" y="319726"/>
                  <a:pt x="161535" y="326583"/>
                  <a:pt x="153076" y="326583"/>
                </a:cubicBezTo>
                <a:lnTo>
                  <a:pt x="15301" y="326583"/>
                </a:lnTo>
                <a:cubicBezTo>
                  <a:pt x="6848" y="326575"/>
                  <a:pt x="0" y="319720"/>
                  <a:pt x="0" y="311267"/>
                </a:cubicBezTo>
                <a:lnTo>
                  <a:pt x="0" y="273005"/>
                </a:lnTo>
                <a:cubicBezTo>
                  <a:pt x="0" y="226505"/>
                  <a:pt x="37695" y="188809"/>
                  <a:pt x="84196" y="188809"/>
                </a:cubicBezTo>
                <a:cubicBezTo>
                  <a:pt x="130696" y="188809"/>
                  <a:pt x="168392" y="226505"/>
                  <a:pt x="168392" y="273005"/>
                </a:cubicBezTo>
                <a:close/>
                <a:moveTo>
                  <a:pt x="52049" y="240858"/>
                </a:moveTo>
                <a:cubicBezTo>
                  <a:pt x="52049" y="242831"/>
                  <a:pt x="53648" y="244430"/>
                  <a:pt x="55621" y="244430"/>
                </a:cubicBezTo>
                <a:cubicBezTo>
                  <a:pt x="57593" y="244430"/>
                  <a:pt x="59193" y="242831"/>
                  <a:pt x="59193" y="240858"/>
                </a:cubicBezTo>
                <a:cubicBezTo>
                  <a:pt x="59193" y="238885"/>
                  <a:pt x="57593" y="237286"/>
                  <a:pt x="55621" y="237286"/>
                </a:cubicBezTo>
                <a:cubicBezTo>
                  <a:pt x="53648" y="237286"/>
                  <a:pt x="52049" y="238885"/>
                  <a:pt x="52049" y="240858"/>
                </a:cubicBezTo>
                <a:moveTo>
                  <a:pt x="109199" y="240758"/>
                </a:moveTo>
                <a:cubicBezTo>
                  <a:pt x="109199" y="242731"/>
                  <a:pt x="110798" y="244330"/>
                  <a:pt x="112771" y="244330"/>
                </a:cubicBezTo>
                <a:cubicBezTo>
                  <a:pt x="114743" y="244330"/>
                  <a:pt x="116343" y="242731"/>
                  <a:pt x="116343" y="240758"/>
                </a:cubicBezTo>
                <a:cubicBezTo>
                  <a:pt x="116343" y="238785"/>
                  <a:pt x="114743" y="237186"/>
                  <a:pt x="112771" y="237186"/>
                </a:cubicBezTo>
                <a:cubicBezTo>
                  <a:pt x="110798" y="237186"/>
                  <a:pt x="109199" y="238785"/>
                  <a:pt x="109199" y="240758"/>
                </a:cubicBezTo>
                <a:moveTo>
                  <a:pt x="84196" y="188809"/>
                </a:moveTo>
                <a:lnTo>
                  <a:pt x="84196" y="158191"/>
                </a:lnTo>
                <a:moveTo>
                  <a:pt x="61236" y="135231"/>
                </a:moveTo>
                <a:cubicBezTo>
                  <a:pt x="61236" y="147911"/>
                  <a:pt x="71515" y="158191"/>
                  <a:pt x="84196" y="158191"/>
                </a:cubicBezTo>
                <a:cubicBezTo>
                  <a:pt x="96876" y="158191"/>
                  <a:pt x="107156" y="147911"/>
                  <a:pt x="107156" y="135231"/>
                </a:cubicBezTo>
                <a:cubicBezTo>
                  <a:pt x="107156" y="122550"/>
                  <a:pt x="96876" y="112271"/>
                  <a:pt x="84196" y="112271"/>
                </a:cubicBezTo>
                <a:cubicBezTo>
                  <a:pt x="71515" y="112271"/>
                  <a:pt x="61236" y="122550"/>
                  <a:pt x="61236" y="135231"/>
                </a:cubicBezTo>
                <a:moveTo>
                  <a:pt x="0" y="288221"/>
                </a:moveTo>
                <a:lnTo>
                  <a:pt x="168392" y="288221"/>
                </a:lnTo>
              </a:path>
            </a:pathLst>
          </a:custGeom>
          <a:noFill/>
          <a:ln w="14287">
            <a:solidFill>
              <a:srgbClr val="3CC583"/>
            </a:solidFill>
          </a:ln>
        </p:spPr>
        <p:txBody>
          <a:bodyPr rtlCol="0" anchor="ctr"/>
          <a:lstStyle/>
          <a:p>
            <a:pPr algn="ctr"/>
            <a:endParaRPr/>
          </a:p>
        </p:txBody>
      </p:sp>
      <p:sp>
        <p:nvSpPr>
          <p:cNvPr id="27" name="Rounded Rectangle 24">
            <a:extLst>
              <a:ext uri="{FF2B5EF4-FFF2-40B4-BE49-F238E27FC236}">
                <a16:creationId xmlns:a16="http://schemas.microsoft.com/office/drawing/2014/main" id="{101A0D35-165C-2ACF-CA08-D99CB407DA10}"/>
              </a:ext>
            </a:extLst>
          </p:cNvPr>
          <p:cNvSpPr/>
          <p:nvPr/>
        </p:nvSpPr>
        <p:spPr>
          <a:xfrm>
            <a:off x="4988325" y="3460432"/>
            <a:ext cx="324624" cy="328612"/>
          </a:xfrm>
          <a:custGeom>
            <a:avLst/>
            <a:gdLst/>
            <a:ahLst/>
            <a:cxnLst/>
            <a:rect l="0" t="0" r="0" b="0"/>
            <a:pathLst>
              <a:path w="324624" h="328612">
                <a:moveTo>
                  <a:pt x="39302" y="60721"/>
                </a:moveTo>
                <a:cubicBezTo>
                  <a:pt x="39302" y="94257"/>
                  <a:pt x="66488" y="121443"/>
                  <a:pt x="100024" y="121443"/>
                </a:cubicBezTo>
                <a:cubicBezTo>
                  <a:pt x="133560" y="121443"/>
                  <a:pt x="160746" y="94257"/>
                  <a:pt x="160746" y="60721"/>
                </a:cubicBezTo>
                <a:cubicBezTo>
                  <a:pt x="160746" y="27186"/>
                  <a:pt x="133560" y="0"/>
                  <a:pt x="100024" y="0"/>
                </a:cubicBezTo>
                <a:cubicBezTo>
                  <a:pt x="66488" y="0"/>
                  <a:pt x="39302" y="27186"/>
                  <a:pt x="39302" y="60721"/>
                </a:cubicBezTo>
                <a:moveTo>
                  <a:pt x="153174" y="257175"/>
                </a:moveTo>
                <a:lnTo>
                  <a:pt x="12" y="257260"/>
                </a:lnTo>
                <a:lnTo>
                  <a:pt x="12" y="242887"/>
                </a:lnTo>
                <a:cubicBezTo>
                  <a:pt x="0" y="204455"/>
                  <a:pt x="22010" y="169416"/>
                  <a:pt x="56637" y="152744"/>
                </a:cubicBezTo>
                <a:cubicBezTo>
                  <a:pt x="91264" y="136071"/>
                  <a:pt x="132382" y="140716"/>
                  <a:pt x="162418" y="164692"/>
                </a:cubicBezTo>
                <a:moveTo>
                  <a:pt x="117398" y="92868"/>
                </a:moveTo>
                <a:cubicBezTo>
                  <a:pt x="113113" y="87741"/>
                  <a:pt x="106780" y="84769"/>
                  <a:pt x="100098" y="84750"/>
                </a:cubicBezTo>
                <a:cubicBezTo>
                  <a:pt x="93415" y="84730"/>
                  <a:pt x="87065" y="87665"/>
                  <a:pt x="82751" y="92768"/>
                </a:cubicBezTo>
                <a:moveTo>
                  <a:pt x="100067" y="200053"/>
                </a:moveTo>
                <a:lnTo>
                  <a:pt x="100067" y="257260"/>
                </a:lnTo>
                <a:moveTo>
                  <a:pt x="54033" y="154033"/>
                </a:moveTo>
                <a:lnTo>
                  <a:pt x="100067" y="200053"/>
                </a:lnTo>
                <a:moveTo>
                  <a:pt x="100067" y="200053"/>
                </a:moveTo>
                <a:lnTo>
                  <a:pt x="146116" y="154033"/>
                </a:lnTo>
                <a:moveTo>
                  <a:pt x="196036" y="171450"/>
                </a:moveTo>
                <a:lnTo>
                  <a:pt x="310336" y="171450"/>
                </a:lnTo>
                <a:cubicBezTo>
                  <a:pt x="310336" y="171450"/>
                  <a:pt x="324624" y="171450"/>
                  <a:pt x="324624" y="185737"/>
                </a:cubicBezTo>
                <a:lnTo>
                  <a:pt x="324624" y="314325"/>
                </a:lnTo>
                <a:cubicBezTo>
                  <a:pt x="324624" y="314325"/>
                  <a:pt x="324624" y="328612"/>
                  <a:pt x="310336" y="328612"/>
                </a:cubicBezTo>
                <a:lnTo>
                  <a:pt x="196036" y="328612"/>
                </a:lnTo>
                <a:cubicBezTo>
                  <a:pt x="196036" y="328612"/>
                  <a:pt x="181749" y="328612"/>
                  <a:pt x="181749" y="314325"/>
                </a:cubicBezTo>
                <a:lnTo>
                  <a:pt x="181749" y="185737"/>
                </a:lnTo>
                <a:cubicBezTo>
                  <a:pt x="181749" y="185737"/>
                  <a:pt x="181749" y="171450"/>
                  <a:pt x="196036" y="171450"/>
                </a:cubicBezTo>
                <a:moveTo>
                  <a:pt x="217468" y="214312"/>
                </a:moveTo>
                <a:lnTo>
                  <a:pt x="288905" y="214312"/>
                </a:lnTo>
                <a:moveTo>
                  <a:pt x="217468" y="250031"/>
                </a:moveTo>
                <a:lnTo>
                  <a:pt x="288905" y="250031"/>
                </a:lnTo>
                <a:moveTo>
                  <a:pt x="217468" y="285750"/>
                </a:moveTo>
                <a:lnTo>
                  <a:pt x="246043" y="285750"/>
                </a:lnTo>
              </a:path>
            </a:pathLst>
          </a:custGeom>
          <a:noFill/>
          <a:ln w="14287">
            <a:solidFill>
              <a:srgbClr val="1EABDA"/>
            </a:solidFill>
          </a:ln>
        </p:spPr>
        <p:txBody>
          <a:bodyPr rtlCol="0" anchor="ctr"/>
          <a:lstStyle/>
          <a:p>
            <a:pPr algn="ctr"/>
            <a:endParaRPr/>
          </a:p>
        </p:txBody>
      </p:sp>
    </p:spTree>
    <p:extLst>
      <p:ext uri="{BB962C8B-B14F-4D97-AF65-F5344CB8AC3E}">
        <p14:creationId xmlns:p14="http://schemas.microsoft.com/office/powerpoint/2010/main" val="16207547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US" dirty="0"/>
              <a:t>Existing Methods and Drawbacks</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92500" lnSpcReduction="10000"/>
          </a:bodyPr>
          <a:lstStyle/>
          <a:p>
            <a:r>
              <a:rPr lang="en-US" b="1" dirty="0"/>
              <a:t>Existing Methods and Drawbacks </a:t>
            </a:r>
          </a:p>
          <a:p>
            <a:r>
              <a:rPr lang="en-US" b="1" dirty="0"/>
              <a:t>Manual Reporting Systems</a:t>
            </a:r>
            <a:r>
              <a:rPr lang="en-US" dirty="0"/>
              <a:t>: Rely on user complaints but often delayed and inconsistent.</a:t>
            </a:r>
          </a:p>
          <a:p>
            <a:r>
              <a:rPr lang="en-US" b="1" dirty="0"/>
              <a:t>Network-based Detection</a:t>
            </a:r>
            <a:r>
              <a:rPr lang="en-US" dirty="0"/>
              <a:t>: Focuses on relationships but needs large datasets.</a:t>
            </a:r>
          </a:p>
          <a:p>
            <a:r>
              <a:rPr lang="en-US" b="1" dirty="0"/>
              <a:t>Content-Based Checks</a:t>
            </a:r>
            <a:r>
              <a:rPr lang="en-US" dirty="0"/>
              <a:t>: Can identify spam but not always accurate.</a:t>
            </a:r>
          </a:p>
          <a:p>
            <a:r>
              <a:rPr lang="en-US" b="1" dirty="0"/>
              <a:t>Drawbacks</a:t>
            </a:r>
            <a:r>
              <a:rPr lang="en-US" dirty="0"/>
              <a:t>:</a:t>
            </a:r>
          </a:p>
          <a:p>
            <a:r>
              <a:rPr lang="en-US" dirty="0"/>
              <a:t>Many methods are resource-intensive.</a:t>
            </a:r>
          </a:p>
          <a:p>
            <a:r>
              <a:rPr lang="en-US" dirty="0"/>
              <a:t>Delay in response to user complaints.</a:t>
            </a:r>
          </a:p>
          <a:p>
            <a:r>
              <a:rPr lang="en-US" dirty="0"/>
              <a:t>Lack of real-time, lightweight detection mechanisms.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379795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143913"/>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IN" dirty="0"/>
              <a:t>Proposed Method &amp; Feasibility Study</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97864"/>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r>
              <a:rPr lang="en-US" dirty="0">
                <a:latin typeface="Cambria" panose="02040503050406030204" pitchFamily="18" charset="0"/>
                <a:ea typeface="Cambria" panose="02040503050406030204" pitchFamily="18" charset="0"/>
              </a:rPr>
              <a:t>.</a:t>
            </a: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D9ACF3CE-53B7-1E11-A5CC-89F652BFC91A}"/>
              </a:ext>
            </a:extLst>
          </p:cNvPr>
          <p:cNvSpPr>
            <a:spLocks noChangeArrowheads="1"/>
          </p:cNvSpPr>
          <p:nvPr/>
        </p:nvSpPr>
        <p:spPr bwMode="auto">
          <a:xfrm>
            <a:off x="1197864" y="1843267"/>
            <a:ext cx="957652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The proposed project adopts a </a:t>
            </a:r>
            <a:r>
              <a:rPr lang="en-US" sz="1800" b="1" dirty="0"/>
              <a:t>rule-based + API-driven approach</a:t>
            </a:r>
            <a:r>
              <a:rPr lang="en-US" sz="1800" dirty="0"/>
              <a:t>:</a:t>
            </a:r>
          </a:p>
          <a:p>
            <a:r>
              <a:rPr lang="en-US" sz="1800" b="1" dirty="0"/>
              <a:t>Frontend</a:t>
            </a:r>
            <a:r>
              <a:rPr lang="en-US" sz="1800" dirty="0"/>
              <a:t>: Simple, user-friendly interface for users to submit suspicious profile details.</a:t>
            </a:r>
          </a:p>
          <a:p>
            <a:r>
              <a:rPr lang="en-US" sz="1800" b="1" dirty="0"/>
              <a:t>Backend API</a:t>
            </a:r>
            <a:r>
              <a:rPr lang="en-US" sz="1800" dirty="0"/>
              <a:t>: Validates reports against predefined rules such as incomplete information, abnormal follower ratio, repeated suspicious posts, or spam links.</a:t>
            </a:r>
          </a:p>
          <a:p>
            <a:r>
              <a:rPr lang="en-US" sz="1800" b="1" dirty="0"/>
              <a:t>Database</a:t>
            </a:r>
            <a:r>
              <a:rPr lang="en-US" sz="1800" dirty="0"/>
              <a:t>: Stores reported profiles, user complaints, and admin decisions.</a:t>
            </a:r>
          </a:p>
          <a:p>
            <a:r>
              <a:rPr lang="en-US" sz="1800" b="1" dirty="0"/>
              <a:t>Admin Module</a:t>
            </a:r>
            <a:r>
              <a:rPr lang="en-US" sz="1800" dirty="0"/>
              <a:t>: Allows authorized users to review, verify, and take action.</a:t>
            </a:r>
          </a:p>
          <a:p>
            <a:r>
              <a:rPr lang="en-US" sz="1800" b="1" dirty="0"/>
              <a:t>Feasibility</a:t>
            </a:r>
            <a:r>
              <a:rPr lang="en-US" sz="1800" dirty="0"/>
              <a:t>:</a:t>
            </a:r>
          </a:p>
          <a:p>
            <a:r>
              <a:rPr lang="en-US" sz="1800" b="1" dirty="0"/>
              <a:t>Technology</a:t>
            </a:r>
            <a:r>
              <a:rPr lang="en-US" sz="1800" dirty="0"/>
              <a:t>: Web stack (HTML, CSS, JS for frontend; Node.js/Express or Django for backend; MySQL/MongoDB for database).</a:t>
            </a:r>
          </a:p>
          <a:p>
            <a:r>
              <a:rPr lang="en-US" sz="1800" b="1" dirty="0"/>
              <a:t>Cost</a:t>
            </a:r>
            <a:r>
              <a:rPr lang="en-US" sz="1800" dirty="0"/>
              <a:t>: Minimal since all tools are open-source.</a:t>
            </a:r>
          </a:p>
          <a:p>
            <a:r>
              <a:rPr lang="en-US" sz="1800" b="1" dirty="0"/>
              <a:t>Resources</a:t>
            </a:r>
            <a:r>
              <a:rPr lang="en-US" sz="1800" dirty="0"/>
              <a:t>: Works on standard PC/laptop or affordable cloud hosting.</a:t>
            </a:r>
          </a:p>
          <a:p>
            <a:r>
              <a:rPr lang="en-US" sz="1800" dirty="0"/>
              <a:t>This solution is practical, scalable, and implementable in an academic environment.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03081615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Architecture Diagram</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r>
              <a:rPr lang="en-IN" sz="1800" b="1" dirty="0"/>
              <a:t>Flow</a:t>
            </a:r>
            <a:r>
              <a:rPr lang="en-IN" sz="1800" dirty="0"/>
              <a:t>:</a:t>
            </a:r>
          </a:p>
          <a:p>
            <a:r>
              <a:rPr lang="en-IN" sz="1800" b="1" dirty="0"/>
              <a:t>User (Frontend)</a:t>
            </a:r>
            <a:r>
              <a:rPr lang="en-IN" sz="1800" dirty="0"/>
              <a:t> → submits suspicious profile.</a:t>
            </a:r>
          </a:p>
          <a:p>
            <a:r>
              <a:rPr lang="en-IN" sz="1800" b="1" dirty="0"/>
              <a:t>Backend API</a:t>
            </a:r>
            <a:r>
              <a:rPr lang="en-IN" sz="1800" dirty="0"/>
              <a:t> → applies rule-based validation.</a:t>
            </a:r>
          </a:p>
          <a:p>
            <a:r>
              <a:rPr lang="en-IN" sz="1800" b="1" dirty="0"/>
              <a:t>Database</a:t>
            </a:r>
            <a:r>
              <a:rPr lang="en-IN" sz="1800" dirty="0"/>
              <a:t> → stores reports and logs.</a:t>
            </a:r>
          </a:p>
          <a:p>
            <a:r>
              <a:rPr lang="en-IN" sz="1800" b="1" dirty="0"/>
              <a:t>Admin Module</a:t>
            </a:r>
            <a:r>
              <a:rPr lang="en-IN" sz="1800" dirty="0"/>
              <a:t> → reviews, verifies, and updates status.</a:t>
            </a:r>
          </a:p>
          <a:p>
            <a:r>
              <a:rPr lang="en-IN" sz="1800" b="1" dirty="0"/>
              <a:t>Notification System</a:t>
            </a:r>
            <a:r>
              <a:rPr lang="en-IN" sz="1800" dirty="0"/>
              <a:t> → informs users of report outcomes.</a:t>
            </a:r>
          </a:p>
          <a:p>
            <a:pPr marL="342900" indent="-190500" algn="just">
              <a:spcBef>
                <a:spcPts val="0"/>
              </a:spcBef>
              <a:buSzPct val="100000"/>
              <a:buFont typeface="Arial"/>
              <a:buNone/>
            </a:pPr>
            <a:endParaRPr lang="en-US" sz="1800"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sz="18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sz="1800"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pic>
        <p:nvPicPr>
          <p:cNvPr id="40" name="Picture 39" descr="A diagram of a software process&#10;&#10;AI-generated content may be incorrect.">
            <a:extLst>
              <a:ext uri="{FF2B5EF4-FFF2-40B4-BE49-F238E27FC236}">
                <a16:creationId xmlns:a16="http://schemas.microsoft.com/office/drawing/2014/main" id="{2B7146CA-4AA8-48A3-EE9A-4B0680D64573}"/>
              </a:ext>
            </a:extLst>
          </p:cNvPr>
          <p:cNvPicPr>
            <a:picLocks noChangeAspect="1"/>
          </p:cNvPicPr>
          <p:nvPr/>
        </p:nvPicPr>
        <p:blipFill>
          <a:blip r:embed="rId3"/>
          <a:stretch>
            <a:fillRect/>
          </a:stretch>
        </p:blipFill>
        <p:spPr>
          <a:xfrm>
            <a:off x="8620276" y="1266167"/>
            <a:ext cx="5034763" cy="4588395"/>
          </a:xfrm>
          <a:prstGeom prst="rect">
            <a:avLst/>
          </a:prstGeom>
        </p:spPr>
      </p:pic>
    </p:spTree>
    <p:extLst>
      <p:ext uri="{BB962C8B-B14F-4D97-AF65-F5344CB8AC3E}">
        <p14:creationId xmlns:p14="http://schemas.microsoft.com/office/powerpoint/2010/main" val="28563573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638206" y="0"/>
            <a:ext cx="10668000" cy="1143000"/>
          </a:xfrm>
          <a:prstGeom prst="rect">
            <a:avLst/>
          </a:prstGeom>
          <a:noFill/>
          <a:ln>
            <a:noFill/>
          </a:ln>
        </p:spPr>
        <p:txBody>
          <a:bodyPr spcFirstLastPara="1" wrap="square" lIns="91425" tIns="45700" rIns="91425" bIns="45700" anchor="ctr" anchorCtr="0">
            <a:noAutofit/>
          </a:bodyPr>
          <a:lstStyle/>
          <a:p>
            <a:r>
              <a:rPr lang="en-IN" dirty="0"/>
              <a:t>Modules</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sz="1800"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45C7A86B-6E0A-0B81-EA0B-CEFD814FE996}"/>
              </a:ext>
            </a:extLst>
          </p:cNvPr>
          <p:cNvSpPr>
            <a:spLocks noChangeArrowheads="1"/>
          </p:cNvSpPr>
          <p:nvPr/>
        </p:nvSpPr>
        <p:spPr bwMode="auto">
          <a:xfrm>
            <a:off x="163902" y="3502609"/>
            <a:ext cx="1143862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
        <p:nvSpPr>
          <p:cNvPr id="4" name="Rectangle 2">
            <a:extLst>
              <a:ext uri="{FF2B5EF4-FFF2-40B4-BE49-F238E27FC236}">
                <a16:creationId xmlns:a16="http://schemas.microsoft.com/office/drawing/2014/main" id="{7CCB7026-EAD8-3C14-8A09-E68EF54D8D36}"/>
              </a:ext>
            </a:extLst>
          </p:cNvPr>
          <p:cNvSpPr>
            <a:spLocks noChangeArrowheads="1"/>
          </p:cNvSpPr>
          <p:nvPr/>
        </p:nvSpPr>
        <p:spPr bwMode="auto">
          <a:xfrm>
            <a:off x="457201" y="2259293"/>
            <a:ext cx="1084900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User Module</a:t>
            </a:r>
            <a:r>
              <a:rPr kumimoji="0" lang="en-US" altLang="en-US" sz="2400" b="0" i="0" u="none" strike="noStrike" cap="none" normalizeH="0" baseline="0" dirty="0">
                <a:ln>
                  <a:noFill/>
                </a:ln>
                <a:solidFill>
                  <a:schemeClr val="tx1"/>
                </a:solidFill>
                <a:effectLst/>
                <a:latin typeface="Arial" panose="020B0604020202020204" pitchFamily="34" charset="0"/>
              </a:rPr>
              <a:t> – Allows registration, login, and profile reporting.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Detection Module</a:t>
            </a:r>
            <a:r>
              <a:rPr kumimoji="0" lang="en-US" altLang="en-US" sz="2400" b="0" i="0" u="none" strike="noStrike" cap="none" normalizeH="0" baseline="0" dirty="0">
                <a:ln>
                  <a:noFill/>
                </a:ln>
                <a:solidFill>
                  <a:schemeClr val="tx1"/>
                </a:solidFill>
                <a:effectLst/>
                <a:latin typeface="Arial" panose="020B0604020202020204" pitchFamily="34" charset="0"/>
              </a:rPr>
              <a:t> – Applies predefined rule-based checks for suspicious accounts.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Admin Module</a:t>
            </a:r>
            <a:r>
              <a:rPr kumimoji="0" lang="en-US" altLang="en-US" sz="2400" b="0" i="0" u="none" strike="noStrike" cap="none" normalizeH="0" baseline="0" dirty="0">
                <a:ln>
                  <a:noFill/>
                </a:ln>
                <a:solidFill>
                  <a:schemeClr val="tx1"/>
                </a:solidFill>
                <a:effectLst/>
                <a:latin typeface="Arial" panose="020B0604020202020204" pitchFamily="34" charset="0"/>
              </a:rPr>
              <a:t> – Manages reports, verifies cases, and updates status.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Database Module</a:t>
            </a:r>
            <a:r>
              <a:rPr kumimoji="0" lang="en-US" altLang="en-US" sz="2400" b="0" i="0" u="none" strike="noStrike" cap="none" normalizeH="0" baseline="0" dirty="0">
                <a:ln>
                  <a:noFill/>
                </a:ln>
                <a:solidFill>
                  <a:schemeClr val="tx1"/>
                </a:solidFill>
                <a:effectLst/>
                <a:latin typeface="Arial" panose="020B0604020202020204" pitchFamily="34" charset="0"/>
              </a:rPr>
              <a:t> – Stores user details, reported profiles, and actions.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Notification Module</a:t>
            </a:r>
            <a:r>
              <a:rPr kumimoji="0" lang="en-US" altLang="en-US" sz="2400" b="0" i="0" u="none" strike="noStrike" cap="none" normalizeH="0" baseline="0" dirty="0">
                <a:ln>
                  <a:noFill/>
                </a:ln>
                <a:solidFill>
                  <a:schemeClr val="tx1"/>
                </a:solidFill>
                <a:effectLst/>
                <a:latin typeface="Arial" panose="020B0604020202020204" pitchFamily="34" charset="0"/>
              </a:rPr>
              <a:t> – Provides feedback to users about their repo</a:t>
            </a:r>
          </a:p>
        </p:txBody>
      </p:sp>
    </p:spTree>
    <p:extLst>
      <p:ext uri="{BB962C8B-B14F-4D97-AF65-F5344CB8AC3E}">
        <p14:creationId xmlns:p14="http://schemas.microsoft.com/office/powerpoint/2010/main" val="33388325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0C69B-4BD7-D6BC-2633-8EFF834F4E5F}"/>
              </a:ext>
            </a:extLst>
          </p:cNvPr>
          <p:cNvSpPr>
            <a:spLocks noGrp="1"/>
          </p:cNvSpPr>
          <p:nvPr>
            <p:ph type="title"/>
          </p:nvPr>
        </p:nvSpPr>
        <p:spPr/>
        <p:txBody>
          <a:bodyPr/>
          <a:lstStyle/>
          <a:p>
            <a:r>
              <a:rPr lang="en-IN" dirty="0"/>
              <a:t>Modules Continued</a:t>
            </a:r>
          </a:p>
        </p:txBody>
      </p:sp>
      <p:sp>
        <p:nvSpPr>
          <p:cNvPr id="3" name="Text Placeholder 2">
            <a:extLst>
              <a:ext uri="{FF2B5EF4-FFF2-40B4-BE49-F238E27FC236}">
                <a16:creationId xmlns:a16="http://schemas.microsoft.com/office/drawing/2014/main" id="{7200AD39-AC6C-82C9-E54A-3AD1D0599E5C}"/>
              </a:ext>
            </a:extLst>
          </p:cNvPr>
          <p:cNvSpPr>
            <a:spLocks noGrp="1"/>
          </p:cNvSpPr>
          <p:nvPr>
            <p:ph type="body" idx="1"/>
          </p:nvPr>
        </p:nvSpPr>
        <p:spPr/>
        <p:txBody>
          <a:bodyPr/>
          <a:lstStyle/>
          <a:p>
            <a:endParaRPr lang="en-IN"/>
          </a:p>
        </p:txBody>
      </p:sp>
      <p:pic>
        <p:nvPicPr>
          <p:cNvPr id="5" name="Picture 4" descr="A screenshot of a computer&#10;&#10;AI-generated content may be incorrect.">
            <a:extLst>
              <a:ext uri="{FF2B5EF4-FFF2-40B4-BE49-F238E27FC236}">
                <a16:creationId xmlns:a16="http://schemas.microsoft.com/office/drawing/2014/main" id="{80C89EAB-BD4E-E32F-7005-762292D82E39}"/>
              </a:ext>
            </a:extLst>
          </p:cNvPr>
          <p:cNvPicPr>
            <a:picLocks noChangeAspect="1"/>
          </p:cNvPicPr>
          <p:nvPr/>
        </p:nvPicPr>
        <p:blipFill>
          <a:blip r:embed="rId2"/>
          <a:stretch>
            <a:fillRect/>
          </a:stretch>
        </p:blipFill>
        <p:spPr>
          <a:xfrm>
            <a:off x="1860550" y="1143001"/>
            <a:ext cx="8572500" cy="6286500"/>
          </a:xfrm>
          <a:prstGeom prst="rect">
            <a:avLst/>
          </a:prstGeom>
        </p:spPr>
      </p:pic>
    </p:spTree>
    <p:extLst>
      <p:ext uri="{BB962C8B-B14F-4D97-AF65-F5344CB8AC3E}">
        <p14:creationId xmlns:p14="http://schemas.microsoft.com/office/powerpoint/2010/main" val="30807687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Hardware and Software Details </a:t>
            </a:r>
          </a:p>
        </p:txBody>
      </p:sp>
      <p:sp>
        <p:nvSpPr>
          <p:cNvPr id="2" name="Text Placeholder 1">
            <a:extLst>
              <a:ext uri="{FF2B5EF4-FFF2-40B4-BE49-F238E27FC236}">
                <a16:creationId xmlns:a16="http://schemas.microsoft.com/office/drawing/2014/main" id="{0C8EA5D2-4C67-0B80-E5B3-3F881AC77806}"/>
              </a:ext>
            </a:extLst>
          </p:cNvPr>
          <p:cNvSpPr>
            <a:spLocks noGrp="1" noChangeArrowheads="1"/>
          </p:cNvSpPr>
          <p:nvPr>
            <p:ph type="body" idx="1"/>
          </p:nvPr>
        </p:nvSpPr>
        <p:spPr bwMode="auto">
          <a:xfrm>
            <a:off x="812800" y="1524054"/>
            <a:ext cx="8739893" cy="4190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IN" b="1" dirty="0"/>
              <a:t>Hardware:</a:t>
            </a:r>
            <a:endParaRPr lang="en-IN" dirty="0"/>
          </a:p>
          <a:p>
            <a:pPr lvl="1"/>
            <a:r>
              <a:rPr lang="en-IN" dirty="0"/>
              <a:t>Web server (e.g., AWS EC2 instance, </a:t>
            </a:r>
            <a:r>
              <a:rPr lang="en-IN" dirty="0" err="1"/>
              <a:t>DigitalOcean</a:t>
            </a:r>
            <a:r>
              <a:rPr lang="en-IN" dirty="0"/>
              <a:t> droplet)</a:t>
            </a:r>
          </a:p>
          <a:p>
            <a:pPr lvl="1"/>
            <a:r>
              <a:rPr lang="en-IN" dirty="0"/>
              <a:t>Database server (e.g., AWS RDS, PostgreSQL)</a:t>
            </a:r>
          </a:p>
          <a:p>
            <a:r>
              <a:rPr lang="en-IN" b="1" dirty="0"/>
              <a:t>Software:</a:t>
            </a:r>
            <a:endParaRPr lang="en-IN" dirty="0"/>
          </a:p>
          <a:p>
            <a:pPr lvl="1"/>
            <a:r>
              <a:rPr lang="en-IN" dirty="0"/>
              <a:t>Operating System: Linux (e.g., Ubuntu, CentOS)</a:t>
            </a:r>
          </a:p>
          <a:p>
            <a:pPr lvl="1"/>
            <a:r>
              <a:rPr lang="en-IN" dirty="0"/>
              <a:t>Web Server: Apache or Nginx</a:t>
            </a:r>
          </a:p>
          <a:p>
            <a:pPr lvl="1"/>
            <a:r>
              <a:rPr lang="en-IN" dirty="0"/>
              <a:t>Programming Language: Python</a:t>
            </a:r>
          </a:p>
          <a:p>
            <a:pPr lvl="1"/>
            <a:r>
              <a:rPr lang="en-IN" dirty="0"/>
              <a:t>Web Framework: Flask or Django</a:t>
            </a:r>
          </a:p>
          <a:p>
            <a:pPr lvl="1"/>
            <a:r>
              <a:rPr lang="en-IN" dirty="0"/>
              <a:t>Database: PostgreSQL or MySQL</a:t>
            </a:r>
          </a:p>
          <a:p>
            <a:pPr lvl="1"/>
            <a:r>
              <a:rPr lang="en-IN" dirty="0"/>
              <a:t>Frontend: HTML, CSS, JavaScript</a:t>
            </a:r>
          </a:p>
          <a:p>
            <a:pPr lvl="1"/>
            <a:r>
              <a:rPr lang="en-IN" dirty="0"/>
              <a:t>Social Media APIs: Twitter API, Facebook Graph API</a:t>
            </a:r>
          </a:p>
        </p:txBody>
      </p:sp>
    </p:spTree>
    <p:extLst>
      <p:ext uri="{BB962C8B-B14F-4D97-AF65-F5344CB8AC3E}">
        <p14:creationId xmlns:p14="http://schemas.microsoft.com/office/powerpoint/2010/main" val="20004557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80BE18-348A-CB63-1FD5-14CC8B136DD6}"/>
              </a:ext>
            </a:extLst>
          </p:cNvPr>
          <p:cNvSpPr>
            <a:spLocks noGrp="1"/>
          </p:cNvSpPr>
          <p:nvPr>
            <p:ph type="title"/>
          </p:nvPr>
        </p:nvSpPr>
        <p:spPr/>
        <p:txBody>
          <a:bodyPr/>
          <a:lstStyle/>
          <a:p>
            <a:r>
              <a:rPr lang="en-US" dirty="0">
                <a:latin typeface="Cambria" panose="02040503050406030204" pitchFamily="18" charset="0"/>
                <a:ea typeface="Cambria" panose="02040503050406030204" pitchFamily="18" charset="0"/>
              </a:rPr>
              <a:t>Hardware and Software Details Component Diagram</a:t>
            </a:r>
            <a:endParaRPr lang="en-IN" dirty="0"/>
          </a:p>
        </p:txBody>
      </p:sp>
      <p:sp>
        <p:nvSpPr>
          <p:cNvPr id="3" name="Text Placeholder 2">
            <a:extLst>
              <a:ext uri="{FF2B5EF4-FFF2-40B4-BE49-F238E27FC236}">
                <a16:creationId xmlns:a16="http://schemas.microsoft.com/office/drawing/2014/main" id="{43A68074-6EFC-5E5E-CF5F-DA757BEE0E04}"/>
              </a:ext>
            </a:extLst>
          </p:cNvPr>
          <p:cNvSpPr>
            <a:spLocks noGrp="1"/>
          </p:cNvSpPr>
          <p:nvPr>
            <p:ph type="body" idx="1"/>
          </p:nvPr>
        </p:nvSpPr>
        <p:spPr/>
        <p:txBody>
          <a:bodyPr/>
          <a:lstStyle/>
          <a:p>
            <a:endParaRPr lang="en-IN" dirty="0"/>
          </a:p>
        </p:txBody>
      </p:sp>
      <p:pic>
        <p:nvPicPr>
          <p:cNvPr id="5" name="Picture 4" descr="A screen shot of a computer&#10;&#10;AI-generated content may be incorrect.">
            <a:extLst>
              <a:ext uri="{FF2B5EF4-FFF2-40B4-BE49-F238E27FC236}">
                <a16:creationId xmlns:a16="http://schemas.microsoft.com/office/drawing/2014/main" id="{9BC9C8E2-08CA-AC79-543E-3CCD88AD8600}"/>
              </a:ext>
            </a:extLst>
          </p:cNvPr>
          <p:cNvPicPr>
            <a:picLocks noChangeAspect="1"/>
          </p:cNvPicPr>
          <p:nvPr/>
        </p:nvPicPr>
        <p:blipFill>
          <a:blip r:embed="rId2"/>
          <a:stretch>
            <a:fillRect/>
          </a:stretch>
        </p:blipFill>
        <p:spPr>
          <a:xfrm>
            <a:off x="4074159" y="1010720"/>
            <a:ext cx="4888709" cy="5847279"/>
          </a:xfrm>
          <a:prstGeom prst="rect">
            <a:avLst/>
          </a:prstGeom>
        </p:spPr>
      </p:pic>
    </p:spTree>
    <p:extLst>
      <p:ext uri="{BB962C8B-B14F-4D97-AF65-F5344CB8AC3E}">
        <p14:creationId xmlns:p14="http://schemas.microsoft.com/office/powerpoint/2010/main" val="248677403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pic>
        <p:nvPicPr>
          <p:cNvPr id="4" name="Picture 3" descr="A timeline of a project&#10;&#10;AI-generated content may be incorrect.">
            <a:extLst>
              <a:ext uri="{FF2B5EF4-FFF2-40B4-BE49-F238E27FC236}">
                <a16:creationId xmlns:a16="http://schemas.microsoft.com/office/drawing/2014/main" id="{219815AE-2E07-59A8-6552-EEC540581E0F}"/>
              </a:ext>
            </a:extLst>
          </p:cNvPr>
          <p:cNvPicPr>
            <a:picLocks noChangeAspect="1"/>
          </p:cNvPicPr>
          <p:nvPr/>
        </p:nvPicPr>
        <p:blipFill>
          <a:blip r:embed="rId3"/>
          <a:stretch>
            <a:fillRect/>
          </a:stretch>
        </p:blipFill>
        <p:spPr>
          <a:xfrm>
            <a:off x="2281237" y="1109662"/>
            <a:ext cx="7629525" cy="4638675"/>
          </a:xfrm>
          <a:prstGeom prst="rect">
            <a:avLst/>
          </a:prstGeom>
        </p:spPr>
      </p:pic>
    </p:spTree>
    <p:extLst>
      <p:ext uri="{BB962C8B-B14F-4D97-AF65-F5344CB8AC3E}">
        <p14:creationId xmlns:p14="http://schemas.microsoft.com/office/powerpoint/2010/main" val="4798902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99064" y="274499"/>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
        <p:nvSpPr>
          <p:cNvPr id="2" name="Rectangle 1">
            <a:extLst>
              <a:ext uri="{FF2B5EF4-FFF2-40B4-BE49-F238E27FC236}">
                <a16:creationId xmlns:a16="http://schemas.microsoft.com/office/drawing/2014/main" id="{C49F3250-7959-6E57-E3B2-2F89E6A61E87}"/>
              </a:ext>
            </a:extLst>
          </p:cNvPr>
          <p:cNvSpPr>
            <a:spLocks noChangeArrowheads="1"/>
          </p:cNvSpPr>
          <p:nvPr/>
        </p:nvSpPr>
        <p:spPr bwMode="auto">
          <a:xfrm>
            <a:off x="1179576" y="1339292"/>
            <a:ext cx="9912096"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IN" sz="1800" dirty="0"/>
              <a:t>[1] S. Al-</a:t>
            </a:r>
            <a:r>
              <a:rPr lang="en-IN" sz="1800" dirty="0" err="1"/>
              <a:t>Qurishi</a:t>
            </a:r>
            <a:r>
              <a:rPr lang="en-IN" sz="1800" dirty="0"/>
              <a:t>, et al., “Detecting Fake Accounts in Online Social Networks,” </a:t>
            </a:r>
            <a:r>
              <a:rPr lang="en-IN" sz="1800" i="1" dirty="0"/>
              <a:t>IEEE Access</a:t>
            </a:r>
            <a:r>
              <a:rPr lang="en-IN" sz="1800" dirty="0"/>
              <a:t>, vol. 5, pp. 4761–4770, 2017.</a:t>
            </a:r>
            <a:br>
              <a:rPr lang="en-IN" sz="1800" dirty="0"/>
            </a:br>
            <a:r>
              <a:rPr lang="en-IN" sz="1800" dirty="0"/>
              <a:t>[2] S. Cresci, et al., “Fake Followers Detection on Twitter,” </a:t>
            </a:r>
            <a:r>
              <a:rPr lang="en-IN" sz="1800" i="1" dirty="0"/>
              <a:t>Proc. of Social Media</a:t>
            </a:r>
            <a:r>
              <a:rPr lang="en-IN" sz="1800" dirty="0"/>
              <a:t>, 2015.</a:t>
            </a:r>
            <a:br>
              <a:rPr lang="en-IN" sz="1800" dirty="0"/>
            </a:br>
            <a:r>
              <a:rPr lang="en-IN" sz="1800" dirty="0"/>
              <a:t>[3] J. Yang, et al., “Online Human-Bot Interactions,” </a:t>
            </a:r>
            <a:r>
              <a:rPr lang="en-IN" sz="1800" i="1" dirty="0"/>
              <a:t>First Monday</a:t>
            </a:r>
            <a:r>
              <a:rPr lang="en-IN" sz="1800" dirty="0"/>
              <a:t>, vol. 21, no. 11, 2016.</a:t>
            </a:r>
            <a:br>
              <a:rPr lang="en-IN" sz="1800" dirty="0"/>
            </a:br>
            <a:r>
              <a:rPr lang="en-IN" sz="1800" dirty="0"/>
              <a:t>[4] A. Ahmed, et al., “Detection of Fake Facebook Accounts,” </a:t>
            </a:r>
            <a:r>
              <a:rPr lang="en-IN" sz="1800" i="1" dirty="0"/>
              <a:t>IJACSA</a:t>
            </a:r>
            <a:r>
              <a:rPr lang="en-IN" sz="1800" dirty="0"/>
              <a:t>, vol. 8, no. 5, 2017.</a:t>
            </a:r>
            <a:br>
              <a:rPr lang="en-IN" sz="1800" dirty="0"/>
            </a:br>
            <a:r>
              <a:rPr lang="en-IN" sz="1800" dirty="0"/>
              <a:t>[5] M. </a:t>
            </a:r>
            <a:r>
              <a:rPr lang="en-IN" sz="1800" dirty="0" err="1"/>
              <a:t>Egele</a:t>
            </a:r>
            <a:r>
              <a:rPr lang="en-IN" sz="1800" dirty="0"/>
              <a:t>, et al., “Detecting Compromised Accounts on Social Networks,” </a:t>
            </a:r>
            <a:r>
              <a:rPr lang="en-IN" sz="1800" i="1" dirty="0"/>
              <a:t>NDSS Symposium</a:t>
            </a:r>
            <a:r>
              <a:rPr lang="en-IN" sz="1800" dirty="0"/>
              <a:t>, 2013.</a:t>
            </a:r>
            <a:br>
              <a:rPr lang="en-IN" sz="1800" dirty="0"/>
            </a:br>
            <a:r>
              <a:rPr lang="en-IN" sz="1800" dirty="0"/>
              <a:t>[6] S. Kumar and N. Shah, “False Information on Web and Social Media,” </a:t>
            </a:r>
            <a:r>
              <a:rPr lang="en-IN" sz="1800" i="1" dirty="0"/>
              <a:t>ACM Computing Surveys</a:t>
            </a:r>
            <a:r>
              <a:rPr lang="en-IN" sz="1800" dirty="0"/>
              <a:t>, 2018.</a:t>
            </a:r>
            <a:br>
              <a:rPr lang="en-IN" sz="1800" dirty="0"/>
            </a:br>
            <a:r>
              <a:rPr lang="en-IN" sz="1800" dirty="0"/>
              <a:t>[7] K. Thomas, et al., “Suspended Accounts in Twitter,” </a:t>
            </a:r>
            <a:r>
              <a:rPr lang="en-IN" sz="1800" i="1" dirty="0"/>
              <a:t>USENIX Security</a:t>
            </a:r>
            <a:r>
              <a:rPr lang="en-IN" sz="1800" dirty="0"/>
              <a:t>, 2011.</a:t>
            </a:r>
            <a:br>
              <a:rPr lang="en-IN" sz="1800" dirty="0"/>
            </a:br>
            <a:r>
              <a:rPr lang="en-IN" sz="1800" dirty="0"/>
              <a:t>[8] A. Gupta, et al., “Survey of Fake Social Media Accounts,” </a:t>
            </a:r>
            <a:r>
              <a:rPr lang="en-IN" sz="1800" i="1" dirty="0"/>
              <a:t>IEEE ICACCI</a:t>
            </a:r>
            <a:r>
              <a:rPr lang="en-IN" sz="1800" dirty="0"/>
              <a:t>, 2016.</a:t>
            </a:r>
            <a:br>
              <a:rPr lang="en-IN" sz="1800" dirty="0"/>
            </a:br>
            <a:r>
              <a:rPr lang="en-IN" sz="1800" dirty="0"/>
              <a:t>[9] F. Benevenuto, et al., “Detecting Spammers on Twitter,” </a:t>
            </a:r>
            <a:r>
              <a:rPr lang="en-IN" sz="1800" i="1" dirty="0"/>
              <a:t>Proc. CEAS</a:t>
            </a:r>
            <a:r>
              <a:rPr lang="en-IN" sz="1800" dirty="0"/>
              <a:t>, 2010.</a:t>
            </a:r>
            <a:br>
              <a:rPr lang="en-IN" sz="1800" dirty="0"/>
            </a:br>
            <a:r>
              <a:rPr lang="en-IN" sz="1800" dirty="0"/>
              <a:t>[10] V. Varol, et al., “</a:t>
            </a:r>
            <a:r>
              <a:rPr lang="en-IN" sz="1800" dirty="0" err="1"/>
              <a:t>Analyzing</a:t>
            </a:r>
            <a:r>
              <a:rPr lang="en-IN" sz="1800" dirty="0"/>
              <a:t> Online Social </a:t>
            </a:r>
            <a:r>
              <a:rPr lang="en-IN" sz="1800" dirty="0" err="1"/>
              <a:t>Behavior</a:t>
            </a:r>
            <a:r>
              <a:rPr lang="en-IN" sz="1800" dirty="0"/>
              <a:t>,” </a:t>
            </a:r>
            <a:r>
              <a:rPr lang="en-IN" sz="1800" i="1" dirty="0"/>
              <a:t>Social Network Analysis Journal</a:t>
            </a:r>
            <a:r>
              <a:rPr lang="en-IN" sz="1800" dirty="0"/>
              <a:t>, 2017.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81DDB871361914C92E59AEC9AD0EF2A" ma:contentTypeVersion="5" ma:contentTypeDescription="Create a new document." ma:contentTypeScope="" ma:versionID="df18af257353ad6694e2ccb33d066a9e">
  <xsd:schema xmlns:xsd="http://www.w3.org/2001/XMLSchema" xmlns:xs="http://www.w3.org/2001/XMLSchema" xmlns:p="http://schemas.microsoft.com/office/2006/metadata/properties" xmlns:ns3="d450f434-8884-451b-956f-1819749fd748" targetNamespace="http://schemas.microsoft.com/office/2006/metadata/properties" ma:root="true" ma:fieldsID="acd195796dd4757a6fe20f2cebe0f22f" ns3:_="">
    <xsd:import namespace="d450f434-8884-451b-956f-1819749fd748"/>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_activity"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50f434-8884-451b-956f-1819749fd7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_activity" ma:index="11" nillable="true" ma:displayName="_activity" ma:hidden="true" ma:internalName="_activity">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d450f434-8884-451b-956f-1819749fd748" xsi:nil="true"/>
  </documentManagement>
</p:properties>
</file>

<file path=customXml/itemProps1.xml><?xml version="1.0" encoding="utf-8"?>
<ds:datastoreItem xmlns:ds="http://schemas.openxmlformats.org/officeDocument/2006/customXml" ds:itemID="{00890EC4-12F8-44DA-80FB-CCC276D6861B}">
  <ds:schemaRefs>
    <ds:schemaRef ds:uri="http://schemas.microsoft.com/sharepoint/v3/contenttype/forms"/>
  </ds:schemaRefs>
</ds:datastoreItem>
</file>

<file path=customXml/itemProps2.xml><?xml version="1.0" encoding="utf-8"?>
<ds:datastoreItem xmlns:ds="http://schemas.openxmlformats.org/officeDocument/2006/customXml" ds:itemID="{30BA93F4-4B42-49AB-BACC-7BC001673C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50f434-8884-451b-956f-1819749fd74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9BEA3F3-2AE2-4AE3-8A00-2D60B5258395}">
  <ds:schemaRefs>
    <ds:schemaRef ds:uri="http://schemas.microsoft.com/office/infopath/2007/PartnerControls"/>
    <ds:schemaRef ds:uri="http://purl.org/dc/elements/1.1/"/>
    <ds:schemaRef ds:uri="http://www.w3.org/XML/1998/namespace"/>
    <ds:schemaRef ds:uri="d450f434-8884-451b-956f-1819749fd748"/>
    <ds:schemaRef ds:uri="http://schemas.microsoft.com/office/2006/metadata/properties"/>
    <ds:schemaRef ds:uri="http://schemas.microsoft.com/office/2006/documentManagement/types"/>
    <ds:schemaRef ds:uri="http://purl.org/dc/dcmitype/"/>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445</TotalTime>
  <Words>1612</Words>
  <Application>Microsoft Office PowerPoint</Application>
  <PresentationFormat>Widescreen</PresentationFormat>
  <Paragraphs>134</Paragraphs>
  <Slides>18</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Cambria</vt:lpstr>
      <vt:lpstr>Roboto</vt:lpstr>
      <vt:lpstr>Verdana</vt:lpstr>
      <vt:lpstr>Wingdings</vt:lpstr>
      <vt:lpstr>Bioinformatics</vt:lpstr>
      <vt:lpstr>PROJECT TITLE</vt:lpstr>
      <vt:lpstr>Problem Statement Number: </vt:lpstr>
      <vt:lpstr>Content</vt:lpstr>
      <vt:lpstr>Abstract</vt:lpstr>
      <vt:lpstr>Literature Survey  </vt:lpstr>
      <vt:lpstr>Literature Survey Contiuned  </vt:lpstr>
      <vt:lpstr>Objective  </vt:lpstr>
      <vt:lpstr>Object Continued</vt:lpstr>
      <vt:lpstr>Existing Methods and Drawbacks</vt:lpstr>
      <vt:lpstr>Proposed Method &amp; Feasibility Study</vt:lpstr>
      <vt:lpstr>Architecture Diagram</vt:lpstr>
      <vt:lpstr>Modules</vt:lpstr>
      <vt:lpstr>Modules Continued</vt:lpstr>
      <vt:lpstr>Hardware and Software Details </vt:lpstr>
      <vt:lpstr>Hardware and Software Details Component Diagram</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krushna t</cp:lastModifiedBy>
  <cp:revision>42</cp:revision>
  <dcterms:modified xsi:type="dcterms:W3CDTF">2025-09-07T17:41:07Z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0x010100881DDB871361914C92E59AEC9AD0EF2A</vt:lpwstr>
  </property>
</Properties>
</file>