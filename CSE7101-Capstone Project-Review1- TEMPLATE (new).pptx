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7"/>
  </p:notesMasterIdLst>
  <p:sldIdLst>
    <p:sldId id="256" r:id="rId2"/>
    <p:sldId id="257" r:id="rId3"/>
    <p:sldId id="274" r:id="rId4"/>
    <p:sldId id="269" r:id="rId5"/>
    <p:sldId id="275" r:id="rId6"/>
    <p:sldId id="276" r:id="rId7"/>
    <p:sldId id="273" r:id="rId8"/>
    <p:sldId id="277" r:id="rId9"/>
    <p:sldId id="278" r:id="rId10"/>
    <p:sldId id="268" r:id="rId11"/>
    <p:sldId id="272" r:id="rId12"/>
    <p:sldId id="279" r:id="rId13"/>
    <p:sldId id="280" r:id="rId14"/>
    <p:sldId id="265" r:id="rId15"/>
    <p:sldId id="26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93" y="6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3A04DC37-006B-F6B0-8465-3DC916D3CA79}"/>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693BB6E4-7834-642D-B678-476BE774C6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12EA4538-D615-58F5-08AA-B3FD767E6D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000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E2708F17-6285-4E05-CF47-9724AA1891DB}"/>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0459CABC-1804-8E45-7B9E-A6D5F9E66D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88CD0DAD-6FAC-B201-3A08-C01E7F5BCC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94943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0031E979-2086-DC5E-B755-8B33DC71BC1E}"/>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1C93D94A-39B1-80CA-DD6D-31C28DA5F4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0B35A052-09D3-7DA5-9BEC-28BABB8B25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6333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837845B8-C1B6-E567-D3BF-0C582B1DCA5F}"/>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5CDB6C81-6260-E38E-7E3A-A2A9C7B4C8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A885D0E7-B845-B91E-5672-B41039AF76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82637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DC84057F-0008-0C5E-62BA-9CA85B7E89B8}"/>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308C679A-6111-776E-9D48-0D40A70F2B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73439941-6314-72D1-C190-1D4DF68699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12397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199ECF16-DC66-8105-31BD-4910AE669EFA}"/>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42F305BB-AA23-FFD1-72CC-837D687411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7C529424-86D8-E462-D6C5-54B25EC0DA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63465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sz="2400" dirty="0">
                <a:solidFill>
                  <a:schemeClr val="tx1"/>
                </a:solidFill>
                <a:latin typeface="Cambria" panose="02040503050406030204" pitchFamily="18" charset="0"/>
                <a:ea typeface="Cambria" panose="02040503050406030204" pitchFamily="18" charset="0"/>
              </a:rPr>
              <a:t>PROJECT TITLE</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Dr./Mr./Ms./Prof.</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3303526492"/>
              </p:ext>
            </p:extLst>
          </p:nvPr>
        </p:nvGraphicFramePr>
        <p:xfrm>
          <a:off x="553347" y="2721840"/>
          <a:ext cx="5418675" cy="274326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US" sz="1800" u="none" strike="noStrike" cap="none" dirty="0"/>
                        <a:t>20231CCS3004</a:t>
                      </a:r>
                    </a:p>
                    <a:p>
                      <a:pPr marL="0" marR="0" lvl="0" indent="0" algn="ctr" rtl="0">
                        <a:spcBef>
                          <a:spcPts val="0"/>
                        </a:spcBef>
                        <a:spcAft>
                          <a:spcPts val="0"/>
                        </a:spcAft>
                        <a:buFont typeface="+mj-lt"/>
                        <a:buNone/>
                      </a:pPr>
                      <a:r>
                        <a:rPr lang="en-US" sz="1800" u="none" strike="noStrike" cap="none" dirty="0"/>
                        <a:t>20221CCS0012</a:t>
                      </a:r>
                    </a:p>
                    <a:p>
                      <a:pPr marL="0" marR="0" lvl="0" indent="0" algn="ctr" rtl="0">
                        <a:spcBef>
                          <a:spcPts val="0"/>
                        </a:spcBef>
                        <a:spcAft>
                          <a:spcPts val="0"/>
                        </a:spcAft>
                        <a:buFont typeface="+mj-lt"/>
                        <a:buNone/>
                      </a:pPr>
                      <a:r>
                        <a:rPr lang="en-US" sz="1800" u="none" strike="noStrike" cap="none" dirty="0"/>
                        <a:t>20221CCS0036</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Syed Saifulla H</a:t>
                      </a:r>
                    </a:p>
                    <a:p>
                      <a:pPr marL="0" marR="0" lvl="0" indent="0" algn="ctr" rtl="0">
                        <a:spcBef>
                          <a:spcPts val="0"/>
                        </a:spcBef>
                        <a:spcAft>
                          <a:spcPts val="0"/>
                        </a:spcAft>
                        <a:buNone/>
                      </a:pPr>
                      <a:r>
                        <a:rPr lang="en-US" sz="1800" u="none" strike="noStrike" cap="none" dirty="0"/>
                        <a:t>Siddharth</a:t>
                      </a:r>
                    </a:p>
                    <a:p>
                      <a:pPr marL="0" marR="0" lvl="0" indent="0" algn="ctr" rtl="0">
                        <a:spcBef>
                          <a:spcPts val="0"/>
                        </a:spcBef>
                        <a:spcAft>
                          <a:spcPts val="0"/>
                        </a:spcAft>
                        <a:buNone/>
                      </a:pPr>
                      <a:r>
                        <a:rPr lang="en-US" sz="1800" u="none" strike="noStrike" cap="none" dirty="0"/>
                        <a:t>M Chinmay</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err="1">
                <a:solidFill>
                  <a:schemeClr val="accent1"/>
                </a:solidFill>
                <a:latin typeface="Cambria" panose="02040503050406030204" pitchFamily="18" charset="0"/>
                <a:ea typeface="Cambria" panose="02040503050406030204" pitchFamily="18" charset="0"/>
                <a:cs typeface="Verdana"/>
                <a:sym typeface="Verdana"/>
              </a:rPr>
              <a:t>Btech</a:t>
            </a: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 Cyber Security</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Dr. Anandaraj S P </a:t>
            </a:r>
          </a:p>
          <a:p>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Dr. </a:t>
            </a:r>
            <a:r>
              <a:rPr lang="en-US" sz="1800" b="1" i="0" u="none" strike="noStrike" cap="none" dirty="0" err="1">
                <a:solidFill>
                  <a:schemeClr val="accent1"/>
                </a:solidFill>
                <a:latin typeface="Cambria" panose="02040503050406030204" pitchFamily="18" charset="0"/>
                <a:ea typeface="Cambria" panose="02040503050406030204" pitchFamily="18" charset="0"/>
                <a:cs typeface="Verdana"/>
                <a:sym typeface="Verdana"/>
              </a:rPr>
              <a:t>Sharmasth</a:t>
            </a: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 Vali</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79795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None/>
            </a:pPr>
            <a:r>
              <a:rPr lang="en-US" sz="2000" dirty="0">
                <a:latin typeface="Cambria" panose="02040503050406030204" pitchFamily="18" charset="0"/>
                <a:ea typeface="Cambria" panose="02040503050406030204" pitchFamily="18" charset="0"/>
              </a:rPr>
              <a:t>Organization: Presidency University</a:t>
            </a:r>
          </a:p>
          <a:p>
            <a:pPr marL="342900" lvl="0" indent="-190500" algn="just">
              <a:spcBef>
                <a:spcPts val="0"/>
              </a:spcBef>
              <a:buNone/>
            </a:pPr>
            <a:r>
              <a:rPr lang="en-US" sz="2000" dirty="0">
                <a:latin typeface="Cambria" panose="02040503050406030204" pitchFamily="18" charset="0"/>
                <a:ea typeface="Cambria" panose="02040503050406030204" pitchFamily="18" charset="0"/>
              </a:rPr>
              <a:t>Category (Hardware / Software / Both) : Software</a:t>
            </a:r>
          </a:p>
          <a:p>
            <a:pPr marL="342900" lvl="0" indent="-190500" algn="just">
              <a:spcBef>
                <a:spcPts val="0"/>
              </a:spcBef>
              <a:buNone/>
            </a:pPr>
            <a:endParaRPr lang="en-US" sz="2000" dirty="0">
              <a:latin typeface="Cambria" panose="02040503050406030204" pitchFamily="18" charset="0"/>
              <a:ea typeface="Cambria" panose="02040503050406030204" pitchFamily="18" charset="0"/>
            </a:endParaRPr>
          </a:p>
          <a:p>
            <a:pPr marL="342900" lvl="0" indent="-190500" algn="just">
              <a:spcBef>
                <a:spcPts val="0"/>
              </a:spcBef>
              <a:buNone/>
            </a:pPr>
            <a:r>
              <a:rPr lang="en-US" sz="2000" dirty="0">
                <a:latin typeface="Cambria" panose="02040503050406030204" pitchFamily="18" charset="0"/>
                <a:ea typeface="Cambria" panose="02040503050406030204" pitchFamily="18" charset="0"/>
              </a:rPr>
              <a:t>Problem Description: </a:t>
            </a:r>
            <a:r>
              <a:rPr lang="en-US" altLang="en-US" sz="2000" dirty="0">
                <a:solidFill>
                  <a:schemeClr val="tx1"/>
                </a:solidFill>
                <a:latin typeface="fkGroteskNeue"/>
              </a:rPr>
              <a:t>Monitoring digital activity across multiple social media platforms can offer key insights into behavioral patterns, threat detection, and compliance for public services and governance. The absence of an integrated system for multi-platform monitoring leads to:</a:t>
            </a:r>
          </a:p>
          <a:p>
            <a:pPr marL="342900" lvl="0" indent="-190500" algn="just">
              <a:spcBef>
                <a:spcPts val="0"/>
              </a:spcBef>
              <a:buNone/>
            </a:pPr>
            <a:endParaRPr lang="en-US" altLang="en-US" sz="2000" dirty="0">
              <a:solidFill>
                <a:schemeClr val="tx1"/>
              </a:solidFill>
            </a:endParaRPr>
          </a:p>
          <a:p>
            <a:pPr marL="0" lvl="0" indent="0" eaLnBrk="0" fontAlgn="base" hangingPunct="0">
              <a:spcBef>
                <a:spcPct val="0"/>
              </a:spcBef>
              <a:spcAft>
                <a:spcPct val="0"/>
              </a:spcAft>
              <a:buClrTx/>
              <a:buSzTx/>
              <a:buFontTx/>
              <a:buChar char="•"/>
            </a:pPr>
            <a:r>
              <a:rPr lang="en-US" altLang="en-US" sz="2000" dirty="0">
                <a:solidFill>
                  <a:schemeClr val="tx1"/>
                </a:solidFill>
                <a:latin typeface="fkGroteskNeue"/>
              </a:rPr>
              <a:t>Difficulty in identifying suspicious activity, misinformation, and policy violations.</a:t>
            </a:r>
          </a:p>
          <a:p>
            <a:pPr marL="0" lvl="0" indent="0" eaLnBrk="0" fontAlgn="base" hangingPunct="0">
              <a:spcBef>
                <a:spcPct val="0"/>
              </a:spcBef>
              <a:spcAft>
                <a:spcPct val="0"/>
              </a:spcAft>
              <a:buClrTx/>
              <a:buSzTx/>
              <a:buFontTx/>
              <a:buChar char="•"/>
            </a:pPr>
            <a:r>
              <a:rPr lang="en-US" altLang="en-US" sz="2000" dirty="0">
                <a:solidFill>
                  <a:schemeClr val="tx1"/>
                </a:solidFill>
                <a:latin typeface="fkGroteskNeue"/>
              </a:rPr>
              <a:t>Delays in responding to potentially harmful posts or viral content.</a:t>
            </a:r>
          </a:p>
          <a:p>
            <a:pPr marL="0" lvl="0" indent="0" eaLnBrk="0" fontAlgn="base" hangingPunct="0">
              <a:spcBef>
                <a:spcPct val="0"/>
              </a:spcBef>
              <a:spcAft>
                <a:spcPct val="0"/>
              </a:spcAft>
              <a:buClrTx/>
              <a:buSzTx/>
              <a:buFontTx/>
              <a:buChar char="•"/>
            </a:pPr>
            <a:r>
              <a:rPr lang="en-US" altLang="en-US" sz="2000" dirty="0">
                <a:solidFill>
                  <a:schemeClr val="tx1"/>
                </a:solidFill>
                <a:latin typeface="fkGroteskNeue"/>
              </a:rPr>
              <a:t>No centralized repository for aggregating user activity.</a:t>
            </a:r>
          </a:p>
          <a:p>
            <a:pPr marL="0" lvl="0" indent="0" eaLnBrk="0" fontAlgn="base" hangingPunct="0">
              <a:spcBef>
                <a:spcPct val="0"/>
              </a:spcBef>
              <a:spcAft>
                <a:spcPct val="0"/>
              </a:spcAft>
              <a:buClrTx/>
              <a:buSzTx/>
              <a:buFontTx/>
              <a:buChar char="•"/>
            </a:pPr>
            <a:r>
              <a:rPr lang="en-US" altLang="en-US" sz="2000" dirty="0">
                <a:solidFill>
                  <a:schemeClr val="tx1"/>
                </a:solidFill>
                <a:latin typeface="fkGroteskNeue"/>
              </a:rPr>
              <a:t>Manual monitoring is time-consuming and error-prone.</a:t>
            </a:r>
          </a:p>
          <a:p>
            <a:pPr marL="0" lvl="0" indent="0" eaLnBrk="0" fontAlgn="base" hangingPunct="0">
              <a:spcBef>
                <a:spcPct val="0"/>
              </a:spcBef>
              <a:spcAft>
                <a:spcPct val="0"/>
              </a:spcAft>
              <a:buClrTx/>
              <a:buSzTx/>
              <a:buFontTx/>
              <a:buChar char="•"/>
            </a:pPr>
            <a:r>
              <a:rPr lang="en-US" altLang="en-US" sz="2000" dirty="0">
                <a:solidFill>
                  <a:schemeClr val="tx1"/>
                </a:solidFill>
                <a:latin typeface="fkGroteskNeue"/>
              </a:rPr>
              <a:t>Lack of automation and intelligence in current tools for real-time monitoring and alerts.</a:t>
            </a:r>
          </a:p>
          <a:p>
            <a:pPr marL="0" lvl="0" indent="0" eaLnBrk="0" fontAlgn="base" hangingPunct="0">
              <a:spcBef>
                <a:spcPct val="0"/>
              </a:spcBef>
              <a:spcAft>
                <a:spcPct val="0"/>
              </a:spcAft>
              <a:buClrTx/>
              <a:buSzTx/>
              <a:buNone/>
            </a:pPr>
            <a:r>
              <a:rPr lang="en-US" altLang="en-US" sz="2000" b="1" dirty="0">
                <a:solidFill>
                  <a:schemeClr val="tx1"/>
                </a:solidFill>
              </a:rPr>
              <a:t>Need:</a:t>
            </a:r>
            <a:r>
              <a:rPr lang="en-US" altLang="en-US" sz="2000" dirty="0">
                <a:solidFill>
                  <a:schemeClr val="tx1"/>
                </a:solidFill>
                <a:latin typeface="Arial" panose="020B0604020202020204" pitchFamily="34" charset="0"/>
              </a:rPr>
              <a:t> A robust system capable of aggregating, classifying, analyzing, and alerting on an individual’s social media activity in real time.</a:t>
            </a:r>
          </a:p>
          <a:p>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4E4D2726-E93C-F56D-0532-29E2AD4A525F}"/>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DBF070EF-AE8B-44CA-6AAA-555C428C402E}"/>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US" dirty="0"/>
              <a:t>Objectives</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37C1741D-418D-C54F-4D3E-2ED70FDDDD69}"/>
              </a:ext>
            </a:extLst>
          </p:cNvPr>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r>
              <a:rPr lang="en-US" dirty="0"/>
              <a:t>Aggregate and monitor activity from multiple social platforms (Facebook, X/Twitter, Instagram, LinkedIn, etc.).</a:t>
            </a:r>
          </a:p>
          <a:p>
            <a:r>
              <a:rPr lang="en-US" dirty="0"/>
              <a:t>Automate content-based classification (political comments, threats, misinformation).</a:t>
            </a:r>
          </a:p>
          <a:p>
            <a:r>
              <a:rPr lang="en-US" dirty="0"/>
              <a:t>Enable real-time notifications for flagged or anomalous activities.</a:t>
            </a:r>
          </a:p>
          <a:p>
            <a:r>
              <a:rPr lang="en-US" dirty="0"/>
              <a:t>Provide visualization dashboards for user activity trends.</a:t>
            </a:r>
          </a:p>
          <a:p>
            <a:r>
              <a:rPr lang="en-US" dirty="0"/>
              <a:t>Ensure privacy compliance and data security.</a:t>
            </a:r>
          </a:p>
          <a:p>
            <a:r>
              <a:rPr lang="en-US" dirty="0"/>
              <a:t>Support scalable architecture for large user bases.</a:t>
            </a:r>
          </a:p>
          <a:p>
            <a:r>
              <a:rPr lang="en-US" dirty="0"/>
              <a:t>Facilitate decision-making for governance and public services.</a:t>
            </a:r>
          </a:p>
          <a:p>
            <a:r>
              <a:rPr lang="en-US" dirty="0"/>
              <a:t>Enable future AI &amp; ML module integration for advanced analytics.</a:t>
            </a:r>
            <a:br>
              <a:rPr lang="en-US" sz="2000" dirty="0"/>
            </a:br>
            <a:endParaRPr lang="en-US" sz="2000" dirty="0"/>
          </a:p>
        </p:txBody>
      </p:sp>
    </p:spTree>
    <p:extLst>
      <p:ext uri="{BB962C8B-B14F-4D97-AF65-F5344CB8AC3E}">
        <p14:creationId xmlns:p14="http://schemas.microsoft.com/office/powerpoint/2010/main" val="8234069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461141AC-E09F-E41E-ACAE-B93B91548807}"/>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20423DFC-9466-47C7-6E31-DC6097FF96AE}"/>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US" dirty="0"/>
              <a:t>Background and Related Work</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C9826318-78FF-8C19-4546-FED2AFC170A5}"/>
              </a:ext>
            </a:extLst>
          </p:cNvPr>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r>
              <a:rPr lang="en-US" dirty="0"/>
              <a:t>Existing tools (e.g., Social Mention, </a:t>
            </a:r>
            <a:r>
              <a:rPr lang="en-US" dirty="0" err="1"/>
              <a:t>Brandwatch</a:t>
            </a:r>
            <a:r>
              <a:rPr lang="en-US" dirty="0"/>
              <a:t>, Hootsuite) provide monitoring, but are fragmented and costly.</a:t>
            </a:r>
          </a:p>
          <a:p>
            <a:r>
              <a:rPr lang="en-US" dirty="0"/>
              <a:t>Government/public agencies often lack tailored solutions for real-time and multi-platform tracking.</a:t>
            </a:r>
          </a:p>
          <a:p>
            <a:r>
              <a:rPr lang="en-US" dirty="0"/>
              <a:t>Related work:</a:t>
            </a:r>
          </a:p>
          <a:p>
            <a:pPr lvl="1"/>
            <a:r>
              <a:rPr lang="en-US" dirty="0"/>
              <a:t>Social listening tools for brands and agencies.</a:t>
            </a:r>
          </a:p>
          <a:p>
            <a:pPr lvl="1"/>
            <a:r>
              <a:rPr lang="en-US" dirty="0"/>
              <a:t>Threat intelligence platforms for cybersecurity.</a:t>
            </a:r>
          </a:p>
          <a:p>
            <a:r>
              <a:rPr lang="en-US" dirty="0"/>
              <a:t>Proposed system integrates aggregation, classification, alerting, and dashboarding in a lightweight, customizable solution for governance and societal challenges.</a:t>
            </a:r>
          </a:p>
        </p:txBody>
      </p:sp>
    </p:spTree>
    <p:extLst>
      <p:ext uri="{BB962C8B-B14F-4D97-AF65-F5344CB8AC3E}">
        <p14:creationId xmlns:p14="http://schemas.microsoft.com/office/powerpoint/2010/main" val="41114050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r>
              <a:rPr lang="en-US" dirty="0"/>
              <a:t>Current solutions:</a:t>
            </a:r>
          </a:p>
          <a:p>
            <a:pPr lvl="1"/>
            <a:r>
              <a:rPr lang="en-US" dirty="0"/>
              <a:t>Are either too expensive or lack real-time cross-platform integration.</a:t>
            </a:r>
          </a:p>
          <a:p>
            <a:pPr lvl="1"/>
            <a:r>
              <a:rPr lang="en-US" dirty="0"/>
              <a:t>Do not offer customizable classification for governance needs.</a:t>
            </a:r>
          </a:p>
          <a:p>
            <a:pPr marL="558800" lvl="1" indent="0">
              <a:buNone/>
            </a:pPr>
            <a:endParaRPr lang="en-US" dirty="0"/>
          </a:p>
          <a:p>
            <a:r>
              <a:rPr lang="en-US" dirty="0"/>
              <a:t>Challenges include privacy, large data volume, and evolving platform rules.</a:t>
            </a:r>
          </a:p>
          <a:p>
            <a:pPr marL="76200" indent="0">
              <a:buNone/>
            </a:pPr>
            <a:endParaRPr lang="en-US" dirty="0"/>
          </a:p>
          <a:p>
            <a:r>
              <a:rPr lang="en-US" dirty="0"/>
              <a:t>The proposed system:</a:t>
            </a:r>
          </a:p>
          <a:p>
            <a:pPr lvl="1"/>
            <a:r>
              <a:rPr lang="en-US" dirty="0"/>
              <a:t>Solves integration and automation gaps.</a:t>
            </a:r>
          </a:p>
          <a:p>
            <a:pPr lvl="1"/>
            <a:r>
              <a:rPr lang="en-US" dirty="0"/>
              <a:t>Prioritizes cost-effectiveness, modularity, and compliance.</a:t>
            </a:r>
          </a:p>
        </p:txBody>
      </p:sp>
    </p:spTree>
    <p:extLst>
      <p:ext uri="{BB962C8B-B14F-4D97-AF65-F5344CB8AC3E}">
        <p14:creationId xmlns:p14="http://schemas.microsoft.com/office/powerpoint/2010/main" val="10308161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0D9C397A-ECEF-C0B1-6C50-74CF64436D05}"/>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C82DC070-ABC9-36C8-8C4B-EB871290F20B}"/>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US" dirty="0"/>
              <a:t>Innovation and Contributions</a:t>
            </a:r>
          </a:p>
        </p:txBody>
      </p:sp>
      <p:sp>
        <p:nvSpPr>
          <p:cNvPr id="115" name="Google Shape;115;p17">
            <a:extLst>
              <a:ext uri="{FF2B5EF4-FFF2-40B4-BE49-F238E27FC236}">
                <a16:creationId xmlns:a16="http://schemas.microsoft.com/office/drawing/2014/main" id="{615F2EEA-40D9-B0F9-BBD5-38FC61C9A6A5}"/>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r>
              <a:rPr lang="en-US" dirty="0"/>
              <a:t>Unified content-based classification across platforms.</a:t>
            </a:r>
          </a:p>
          <a:p>
            <a:r>
              <a:rPr lang="en-US" dirty="0"/>
              <a:t>Real-time notification engine for flagged activities.</a:t>
            </a:r>
          </a:p>
          <a:p>
            <a:r>
              <a:rPr lang="en-US" dirty="0"/>
              <a:t>Backend log storage and retention strategies.</a:t>
            </a:r>
          </a:p>
          <a:p>
            <a:r>
              <a:rPr lang="en-US" dirty="0"/>
              <a:t>Integrated privacy management and compliance tracking.</a:t>
            </a:r>
          </a:p>
          <a:p>
            <a:r>
              <a:rPr lang="en-US" dirty="0"/>
              <a:t>Interactive dashboards with trend analytics and user profiling.</a:t>
            </a:r>
          </a:p>
          <a:p>
            <a:r>
              <a:rPr lang="en-US" dirty="0"/>
              <a:t>Modular design for easy extension (new platforms &amp; features).</a:t>
            </a:r>
          </a:p>
          <a:p>
            <a:r>
              <a:rPr lang="en-US" dirty="0"/>
              <a:t>AI/ML models for detecting anomalies, threats, and misinformation.</a:t>
            </a:r>
          </a:p>
          <a:p>
            <a:r>
              <a:rPr lang="en-US" dirty="0"/>
              <a:t>User-friendly UI for technical and non-technical users.</a:t>
            </a:r>
          </a:p>
        </p:txBody>
      </p:sp>
    </p:spTree>
    <p:extLst>
      <p:ext uri="{BB962C8B-B14F-4D97-AF65-F5344CB8AC3E}">
        <p14:creationId xmlns:p14="http://schemas.microsoft.com/office/powerpoint/2010/main" val="16333994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76F3D9C3-A150-F6E0-0A2F-D2C1E45B79B3}"/>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093D7DE9-0677-0DC5-42F3-238F1DF34B8F}"/>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US" dirty="0"/>
              <a:t>System Architecture</a:t>
            </a:r>
          </a:p>
        </p:txBody>
      </p:sp>
      <p:sp>
        <p:nvSpPr>
          <p:cNvPr id="115" name="Google Shape;115;p17">
            <a:extLst>
              <a:ext uri="{FF2B5EF4-FFF2-40B4-BE49-F238E27FC236}">
                <a16:creationId xmlns:a16="http://schemas.microsoft.com/office/drawing/2014/main" id="{D5C4C0A4-4960-6888-443F-787922FBBF28}"/>
              </a:ext>
            </a:extLst>
          </p:cNvPr>
          <p:cNvSpPr txBox="1">
            <a:spLocks noGrp="1"/>
          </p:cNvSpPr>
          <p:nvPr>
            <p:ph type="body" idx="1"/>
          </p:nvPr>
        </p:nvSpPr>
        <p:spPr>
          <a:xfrm>
            <a:off x="812800" y="1143000"/>
            <a:ext cx="5873750" cy="4953000"/>
          </a:xfrm>
          <a:prstGeom prst="rect">
            <a:avLst/>
          </a:prstGeom>
          <a:noFill/>
          <a:ln>
            <a:noFill/>
          </a:ln>
        </p:spPr>
        <p:txBody>
          <a:bodyPr spcFirstLastPara="1" wrap="square" lIns="91425" tIns="45700" rIns="91425" bIns="45700" anchor="t" anchorCtr="0">
            <a:normAutofit lnSpcReduction="10000"/>
          </a:bodyPr>
          <a:lstStyle/>
          <a:p>
            <a:r>
              <a:rPr lang="en-US" sz="1800" b="1" dirty="0"/>
              <a:t>Data Collection Layer:</a:t>
            </a:r>
            <a:r>
              <a:rPr lang="en-US" sz="1800" dirty="0"/>
              <a:t> APIs for social networks (Facebook Graph API, Twitter API, etc.).</a:t>
            </a:r>
          </a:p>
          <a:p>
            <a:r>
              <a:rPr lang="en-US" sz="1800" b="1" dirty="0"/>
              <a:t>Backend Layer:</a:t>
            </a:r>
            <a:r>
              <a:rPr lang="en-US" sz="1800" dirty="0"/>
              <a:t> Database + APIs for aggregation and storage.</a:t>
            </a:r>
          </a:p>
          <a:p>
            <a:r>
              <a:rPr lang="en-US" sz="1800" b="1" dirty="0"/>
              <a:t>Analysis Engine:</a:t>
            </a:r>
            <a:r>
              <a:rPr lang="en-US" sz="1800" dirty="0"/>
              <a:t> Content parsing, classification (NLP, keyword, sentiment analysis), anomaly detection.</a:t>
            </a:r>
          </a:p>
          <a:p>
            <a:r>
              <a:rPr lang="en-US" sz="1800" b="1" dirty="0"/>
              <a:t>Alert Module:</a:t>
            </a:r>
            <a:r>
              <a:rPr lang="en-US" sz="1800" dirty="0"/>
              <a:t> Real-time notifications (Email, SMS, Push, Admin Dash).</a:t>
            </a:r>
          </a:p>
          <a:p>
            <a:r>
              <a:rPr lang="en-US" sz="1800" b="1" dirty="0"/>
              <a:t>Frontend Dashboard:</a:t>
            </a:r>
            <a:r>
              <a:rPr lang="en-US" sz="1800" dirty="0"/>
              <a:t> Visualization (graphs, reports, search), responsive for desktop/mobile.</a:t>
            </a:r>
          </a:p>
          <a:p>
            <a:r>
              <a:rPr lang="en-US" sz="1800" b="1" dirty="0"/>
              <a:t>Microservices Approach:</a:t>
            </a:r>
            <a:r>
              <a:rPr lang="en-US" sz="1800" dirty="0"/>
              <a:t> Modular for scalability and easy updates/integration.</a:t>
            </a:r>
          </a:p>
          <a:p>
            <a:br>
              <a:rPr lang="en-US" sz="1800" dirty="0"/>
            </a:br>
            <a:endParaRPr lang="en-US" sz="1800" dirty="0"/>
          </a:p>
        </p:txBody>
      </p:sp>
      <p:pic>
        <p:nvPicPr>
          <p:cNvPr id="3" name="Picture 2">
            <a:extLst>
              <a:ext uri="{FF2B5EF4-FFF2-40B4-BE49-F238E27FC236}">
                <a16:creationId xmlns:a16="http://schemas.microsoft.com/office/drawing/2014/main" id="{602770D1-6C67-DB9C-374D-FC7FCC531F76}"/>
              </a:ext>
            </a:extLst>
          </p:cNvPr>
          <p:cNvPicPr>
            <a:picLocks noChangeAspect="1"/>
          </p:cNvPicPr>
          <p:nvPr/>
        </p:nvPicPr>
        <p:blipFill>
          <a:blip r:embed="rId3"/>
          <a:stretch>
            <a:fillRect/>
          </a:stretch>
        </p:blipFill>
        <p:spPr>
          <a:xfrm>
            <a:off x="6591298" y="1143000"/>
            <a:ext cx="5219701" cy="5229225"/>
          </a:xfrm>
          <a:prstGeom prst="rect">
            <a:avLst/>
          </a:prstGeom>
        </p:spPr>
      </p:pic>
    </p:spTree>
    <p:extLst>
      <p:ext uri="{BB962C8B-B14F-4D97-AF65-F5344CB8AC3E}">
        <p14:creationId xmlns:p14="http://schemas.microsoft.com/office/powerpoint/2010/main" val="40356295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b="1" dirty="0" err="1">
                <a:solidFill>
                  <a:schemeClr val="accent2">
                    <a:lumMod val="75000"/>
                  </a:schemeClr>
                </a:solidFill>
                <a:latin typeface="Cambria" panose="02040503050406030204" pitchFamily="18" charset="0"/>
                <a:ea typeface="Cambria" panose="02040503050406030204" pitchFamily="18" charset="0"/>
              </a:rPr>
              <a:t>Github</a:t>
            </a:r>
            <a:r>
              <a:rPr lang="en-US" b="1" dirty="0">
                <a:solidFill>
                  <a:schemeClr val="accent2">
                    <a:lumMod val="75000"/>
                  </a:schemeClr>
                </a:solidFill>
                <a:latin typeface="Cambria" panose="02040503050406030204" pitchFamily="18" charset="0"/>
                <a:ea typeface="Cambria" panose="02040503050406030204" pitchFamily="18" charset="0"/>
              </a:rPr>
              <a:t> Link: https://github.com/saif8888888888888/Saifproject</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US" dirty="0"/>
              <a:t>Timeline (Gantt Chart)</a:t>
            </a:r>
          </a:p>
        </p:txBody>
      </p:sp>
      <p:graphicFrame>
        <p:nvGraphicFramePr>
          <p:cNvPr id="3" name="Table 2">
            <a:extLst>
              <a:ext uri="{FF2B5EF4-FFF2-40B4-BE49-F238E27FC236}">
                <a16:creationId xmlns:a16="http://schemas.microsoft.com/office/drawing/2014/main" id="{2A27B8A7-B86C-1FC5-4544-309323BD4FC8}"/>
              </a:ext>
            </a:extLst>
          </p:cNvPr>
          <p:cNvGraphicFramePr>
            <a:graphicFrameLocks noGrp="1"/>
          </p:cNvGraphicFramePr>
          <p:nvPr>
            <p:extLst>
              <p:ext uri="{D42A27DB-BD31-4B8C-83A1-F6EECF244321}">
                <p14:modId xmlns:p14="http://schemas.microsoft.com/office/powerpoint/2010/main" val="3500464429"/>
              </p:ext>
            </p:extLst>
          </p:nvPr>
        </p:nvGraphicFramePr>
        <p:xfrm>
          <a:off x="812800" y="1123950"/>
          <a:ext cx="10668000" cy="4715439"/>
        </p:xfrm>
        <a:graphic>
          <a:graphicData uri="http://schemas.openxmlformats.org/drawingml/2006/table">
            <a:tbl>
              <a:tblPr/>
              <a:tblGrid>
                <a:gridCol w="3556000">
                  <a:extLst>
                    <a:ext uri="{9D8B030D-6E8A-4147-A177-3AD203B41FA5}">
                      <a16:colId xmlns:a16="http://schemas.microsoft.com/office/drawing/2014/main" val="268720363"/>
                    </a:ext>
                  </a:extLst>
                </a:gridCol>
                <a:gridCol w="3556000">
                  <a:extLst>
                    <a:ext uri="{9D8B030D-6E8A-4147-A177-3AD203B41FA5}">
                      <a16:colId xmlns:a16="http://schemas.microsoft.com/office/drawing/2014/main" val="4146194375"/>
                    </a:ext>
                  </a:extLst>
                </a:gridCol>
                <a:gridCol w="3556000">
                  <a:extLst>
                    <a:ext uri="{9D8B030D-6E8A-4147-A177-3AD203B41FA5}">
                      <a16:colId xmlns:a16="http://schemas.microsoft.com/office/drawing/2014/main" val="2290151316"/>
                    </a:ext>
                  </a:extLst>
                </a:gridCol>
              </a:tblGrid>
              <a:tr h="336817">
                <a:tc>
                  <a:txBody>
                    <a:bodyPr/>
                    <a:lstStyle/>
                    <a:p>
                      <a:pPr algn="l" fontAlgn="t" latinLnBrk="0">
                        <a:buNone/>
                      </a:pPr>
                      <a:r>
                        <a:rPr lang="en-US" sz="1800" b="0">
                          <a:effectLst/>
                        </a:rPr>
                        <a:t>Phase</a:t>
                      </a:r>
                    </a:p>
                  </a:txBody>
                  <a:tcPr marL="62433" marR="62433" marT="31216" marB="31216">
                    <a:lnL w="4763" cap="flat" cmpd="sng" algn="ctr">
                      <a:solidFill>
                        <a:srgbClr val="400244"/>
                      </a:solidFill>
                      <a:prstDash val="solid"/>
                      <a:round/>
                      <a:headEnd type="none" w="med" len="med"/>
                      <a:tailEnd type="none" w="med" len="med"/>
                    </a:lnL>
                    <a:lnR w="4763" cap="flat" cmpd="sng" algn="ctr">
                      <a:solidFill>
                        <a:srgbClr val="401E43"/>
                      </a:solidFill>
                      <a:prstDash val="solid"/>
                      <a:round/>
                      <a:headEnd type="none" w="med" len="med"/>
                      <a:tailEnd type="none" w="med" len="med"/>
                    </a:lnR>
                    <a:lnT w="4763" cap="flat" cmpd="sng" algn="ctr">
                      <a:solidFill>
                        <a:srgbClr val="400244"/>
                      </a:solidFill>
                      <a:prstDash val="solid"/>
                      <a:round/>
                      <a:headEnd type="none" w="med" len="med"/>
                      <a:tailEnd type="none" w="med" len="med"/>
                    </a:lnT>
                    <a:lnB w="4763" cap="flat" cmpd="sng" algn="ctr">
                      <a:solidFill>
                        <a:srgbClr val="C00944"/>
                      </a:solidFill>
                      <a:prstDash val="solid"/>
                      <a:round/>
                      <a:headEnd type="none" w="med" len="med"/>
                      <a:tailEnd type="none" w="med" len="med"/>
                    </a:lnB>
                    <a:noFill/>
                  </a:tcPr>
                </a:tc>
                <a:tc>
                  <a:txBody>
                    <a:bodyPr/>
                    <a:lstStyle/>
                    <a:p>
                      <a:pPr algn="l" fontAlgn="t" latinLnBrk="0">
                        <a:buNone/>
                      </a:pPr>
                      <a:r>
                        <a:rPr lang="en-US" sz="1800" b="0">
                          <a:effectLst/>
                        </a:rPr>
                        <a:t>Duration</a:t>
                      </a:r>
                    </a:p>
                  </a:txBody>
                  <a:tcPr marL="62433" marR="62433" marT="31216" marB="31216">
                    <a:lnL w="4763" cap="flat" cmpd="sng" algn="ctr">
                      <a:solidFill>
                        <a:srgbClr val="401E43"/>
                      </a:solidFill>
                      <a:prstDash val="solid"/>
                      <a:round/>
                      <a:headEnd type="none" w="med" len="med"/>
                      <a:tailEnd type="none" w="med" len="med"/>
                    </a:lnL>
                    <a:lnR w="4763" cap="flat" cmpd="sng" algn="ctr">
                      <a:solidFill>
                        <a:srgbClr val="C01D43"/>
                      </a:solidFill>
                      <a:prstDash val="solid"/>
                      <a:round/>
                      <a:headEnd type="none" w="med" len="med"/>
                      <a:tailEnd type="none" w="med" len="med"/>
                    </a:lnR>
                    <a:lnT w="4763" cap="flat" cmpd="sng" algn="ctr">
                      <a:solidFill>
                        <a:srgbClr val="401E43"/>
                      </a:solidFill>
                      <a:prstDash val="solid"/>
                      <a:round/>
                      <a:headEnd type="none" w="med" len="med"/>
                      <a:tailEnd type="none" w="med" len="med"/>
                    </a:lnT>
                    <a:lnB w="4763" cap="flat" cmpd="sng" algn="ctr">
                      <a:solidFill>
                        <a:srgbClr val="C01A43"/>
                      </a:solidFill>
                      <a:prstDash val="solid"/>
                      <a:round/>
                      <a:headEnd type="none" w="med" len="med"/>
                      <a:tailEnd type="none" w="med" len="med"/>
                    </a:lnB>
                    <a:noFill/>
                  </a:tcPr>
                </a:tc>
                <a:tc>
                  <a:txBody>
                    <a:bodyPr/>
                    <a:lstStyle/>
                    <a:p>
                      <a:pPr algn="l" fontAlgn="t" latinLnBrk="0">
                        <a:buNone/>
                      </a:pPr>
                      <a:r>
                        <a:rPr lang="en-US" sz="1800" b="0">
                          <a:effectLst/>
                        </a:rPr>
                        <a:t>Deliverables</a:t>
                      </a:r>
                    </a:p>
                  </a:txBody>
                  <a:tcPr marL="62433" marR="62433" marT="31216" marB="31216">
                    <a:lnL w="4763" cap="flat" cmpd="sng" algn="ctr">
                      <a:solidFill>
                        <a:srgbClr val="C01D43"/>
                      </a:solidFill>
                      <a:prstDash val="solid"/>
                      <a:round/>
                      <a:headEnd type="none" w="med" len="med"/>
                      <a:tailEnd type="none" w="med" len="med"/>
                    </a:lnL>
                    <a:lnR w="4763" cap="flat" cmpd="sng" algn="ctr">
                      <a:solidFill>
                        <a:srgbClr val="C01D43"/>
                      </a:solidFill>
                      <a:prstDash val="solid"/>
                      <a:round/>
                      <a:headEnd type="none" w="med" len="med"/>
                      <a:tailEnd type="none" w="med" len="med"/>
                    </a:lnR>
                    <a:lnT w="4763" cap="flat" cmpd="sng" algn="ctr">
                      <a:solidFill>
                        <a:srgbClr val="C01D43"/>
                      </a:solidFill>
                      <a:prstDash val="solid"/>
                      <a:round/>
                      <a:headEnd type="none" w="med" len="med"/>
                      <a:tailEnd type="none" w="med" len="med"/>
                    </a:lnT>
                    <a:lnB w="4763" cap="flat" cmpd="sng" algn="ctr">
                      <a:solidFill>
                        <a:srgbClr val="C03443"/>
                      </a:solidFill>
                      <a:prstDash val="solid"/>
                      <a:round/>
                      <a:headEnd type="none" w="med" len="med"/>
                      <a:tailEnd type="none" w="med" len="med"/>
                    </a:lnB>
                    <a:noFill/>
                  </a:tcPr>
                </a:tc>
                <a:extLst>
                  <a:ext uri="{0D108BD9-81ED-4DB2-BD59-A6C34878D82A}">
                    <a16:rowId xmlns:a16="http://schemas.microsoft.com/office/drawing/2014/main" val="753352410"/>
                  </a:ext>
                </a:extLst>
              </a:tr>
              <a:tr h="891575">
                <a:tc>
                  <a:txBody>
                    <a:bodyPr/>
                    <a:lstStyle/>
                    <a:p>
                      <a:pPr fontAlgn="base" latinLnBrk="0">
                        <a:buNone/>
                      </a:pPr>
                      <a:r>
                        <a:rPr lang="en-US" sz="1800">
                          <a:effectLst/>
                        </a:rPr>
                        <a:t>Phase 1 - Req. Gathering/Design</a:t>
                      </a:r>
                    </a:p>
                  </a:txBody>
                  <a:tcPr marL="62433" marR="62433" marT="31216" marB="31216" anchor="ctr">
                    <a:lnL w="4763" cap="flat" cmpd="sng" algn="ctr">
                      <a:solidFill>
                        <a:srgbClr val="C00944"/>
                      </a:solidFill>
                      <a:prstDash val="solid"/>
                      <a:round/>
                      <a:headEnd type="none" w="med" len="med"/>
                      <a:tailEnd type="none" w="med" len="med"/>
                    </a:lnL>
                    <a:lnR w="4763" cap="flat" cmpd="sng" algn="ctr">
                      <a:solidFill>
                        <a:srgbClr val="C01A43"/>
                      </a:solidFill>
                      <a:prstDash val="solid"/>
                      <a:round/>
                      <a:headEnd type="none" w="med" len="med"/>
                      <a:tailEnd type="none" w="med" len="med"/>
                    </a:lnR>
                    <a:lnT w="4763" cap="flat" cmpd="sng" algn="ctr">
                      <a:solidFill>
                        <a:srgbClr val="C00944"/>
                      </a:solidFill>
                      <a:prstDash val="solid"/>
                      <a:round/>
                      <a:headEnd type="none" w="med" len="med"/>
                      <a:tailEnd type="none" w="med" len="med"/>
                    </a:lnT>
                    <a:lnB w="4763" cap="flat" cmpd="sng" algn="ctr">
                      <a:solidFill>
                        <a:srgbClr val="C00944"/>
                      </a:solidFill>
                      <a:prstDash val="solid"/>
                      <a:round/>
                      <a:headEnd type="none" w="med" len="med"/>
                      <a:tailEnd type="none" w="med" len="med"/>
                    </a:lnB>
                    <a:noFill/>
                  </a:tcPr>
                </a:tc>
                <a:tc>
                  <a:txBody>
                    <a:bodyPr/>
                    <a:lstStyle/>
                    <a:p>
                      <a:pPr fontAlgn="base" latinLnBrk="0">
                        <a:buNone/>
                      </a:pPr>
                      <a:r>
                        <a:rPr lang="en-US" sz="1800">
                          <a:effectLst/>
                        </a:rPr>
                        <a:t>Week 1-2</a:t>
                      </a:r>
                    </a:p>
                  </a:txBody>
                  <a:tcPr marL="62433" marR="62433" marT="31216" marB="31216" anchor="ctr">
                    <a:lnL w="4763" cap="flat" cmpd="sng" algn="ctr">
                      <a:solidFill>
                        <a:srgbClr val="C01A43"/>
                      </a:solidFill>
                      <a:prstDash val="solid"/>
                      <a:round/>
                      <a:headEnd type="none" w="med" len="med"/>
                      <a:tailEnd type="none" w="med" len="med"/>
                    </a:lnL>
                    <a:lnR w="4763" cap="flat" cmpd="sng" algn="ctr">
                      <a:solidFill>
                        <a:srgbClr val="C03443"/>
                      </a:solidFill>
                      <a:prstDash val="solid"/>
                      <a:round/>
                      <a:headEnd type="none" w="med" len="med"/>
                      <a:tailEnd type="none" w="med" len="med"/>
                    </a:lnR>
                    <a:lnT w="4763" cap="flat" cmpd="sng" algn="ctr">
                      <a:solidFill>
                        <a:srgbClr val="C01A43"/>
                      </a:solidFill>
                      <a:prstDash val="solid"/>
                      <a:round/>
                      <a:headEnd type="none" w="med" len="med"/>
                      <a:tailEnd type="none" w="med" len="med"/>
                    </a:lnT>
                    <a:lnB w="4763" cap="flat" cmpd="sng" algn="ctr">
                      <a:solidFill>
                        <a:srgbClr val="401A43"/>
                      </a:solidFill>
                      <a:prstDash val="solid"/>
                      <a:round/>
                      <a:headEnd type="none" w="med" len="med"/>
                      <a:tailEnd type="none" w="med" len="med"/>
                    </a:lnB>
                    <a:noFill/>
                  </a:tcPr>
                </a:tc>
                <a:tc>
                  <a:txBody>
                    <a:bodyPr/>
                    <a:lstStyle/>
                    <a:p>
                      <a:pPr fontAlgn="base" latinLnBrk="0">
                        <a:buNone/>
                      </a:pPr>
                      <a:r>
                        <a:rPr lang="en-US" sz="1800">
                          <a:effectLst/>
                        </a:rPr>
                        <a:t>Identify platforms, data sources, requirements</a:t>
                      </a:r>
                    </a:p>
                  </a:txBody>
                  <a:tcPr marL="62433" marR="62433" marT="31216" marB="31216" anchor="ctr">
                    <a:lnL w="4763" cap="flat" cmpd="sng" algn="ctr">
                      <a:solidFill>
                        <a:srgbClr val="C03443"/>
                      </a:solidFill>
                      <a:prstDash val="solid"/>
                      <a:round/>
                      <a:headEnd type="none" w="med" len="med"/>
                      <a:tailEnd type="none" w="med" len="med"/>
                    </a:lnL>
                    <a:lnR w="4763" cap="flat" cmpd="sng" algn="ctr">
                      <a:solidFill>
                        <a:srgbClr val="C03443"/>
                      </a:solidFill>
                      <a:prstDash val="solid"/>
                      <a:round/>
                      <a:headEnd type="none" w="med" len="med"/>
                      <a:tailEnd type="none" w="med" len="med"/>
                    </a:lnR>
                    <a:lnT w="4763" cap="flat" cmpd="sng" algn="ctr">
                      <a:solidFill>
                        <a:srgbClr val="C03443"/>
                      </a:solidFill>
                      <a:prstDash val="solid"/>
                      <a:round/>
                      <a:headEnd type="none" w="med" len="med"/>
                      <a:tailEnd type="none" w="med" len="med"/>
                    </a:lnT>
                    <a:lnB w="4763" cap="flat" cmpd="sng" algn="ctr">
                      <a:solidFill>
                        <a:srgbClr val="C02A43"/>
                      </a:solidFill>
                      <a:prstDash val="solid"/>
                      <a:round/>
                      <a:headEnd type="none" w="med" len="med"/>
                      <a:tailEnd type="none" w="med" len="med"/>
                    </a:lnB>
                    <a:noFill/>
                  </a:tcPr>
                </a:tc>
                <a:extLst>
                  <a:ext uri="{0D108BD9-81ED-4DB2-BD59-A6C34878D82A}">
                    <a16:rowId xmlns:a16="http://schemas.microsoft.com/office/drawing/2014/main" val="206159726"/>
                  </a:ext>
                </a:extLst>
              </a:tr>
              <a:tr h="752885">
                <a:tc>
                  <a:txBody>
                    <a:bodyPr/>
                    <a:lstStyle/>
                    <a:p>
                      <a:pPr fontAlgn="base" latinLnBrk="0">
                        <a:buNone/>
                      </a:pPr>
                      <a:r>
                        <a:rPr lang="en-US" sz="1800">
                          <a:effectLst/>
                        </a:rPr>
                        <a:t>Phase 2 - Backend Development</a:t>
                      </a:r>
                    </a:p>
                  </a:txBody>
                  <a:tcPr marL="62433" marR="62433" marT="31216" marB="31216" anchor="ctr">
                    <a:lnL w="4763" cap="flat" cmpd="sng" algn="ctr">
                      <a:solidFill>
                        <a:srgbClr val="C00944"/>
                      </a:solidFill>
                      <a:prstDash val="solid"/>
                      <a:round/>
                      <a:headEnd type="none" w="med" len="med"/>
                      <a:tailEnd type="none" w="med" len="med"/>
                    </a:lnL>
                    <a:lnR w="4763" cap="flat" cmpd="sng" algn="ctr">
                      <a:solidFill>
                        <a:srgbClr val="401A43"/>
                      </a:solidFill>
                      <a:prstDash val="solid"/>
                      <a:round/>
                      <a:headEnd type="none" w="med" len="med"/>
                      <a:tailEnd type="none" w="med" len="med"/>
                    </a:lnR>
                    <a:lnT w="4763" cap="flat" cmpd="sng" algn="ctr">
                      <a:solidFill>
                        <a:srgbClr val="C00944"/>
                      </a:solidFill>
                      <a:prstDash val="solid"/>
                      <a:round/>
                      <a:headEnd type="none" w="med" len="med"/>
                      <a:tailEnd type="none" w="med" len="med"/>
                    </a:lnT>
                    <a:lnB w="4763" cap="flat" cmpd="sng" algn="ctr">
                      <a:solidFill>
                        <a:srgbClr val="400244"/>
                      </a:solidFill>
                      <a:prstDash val="solid"/>
                      <a:round/>
                      <a:headEnd type="none" w="med" len="med"/>
                      <a:tailEnd type="none" w="med" len="med"/>
                    </a:lnB>
                    <a:noFill/>
                  </a:tcPr>
                </a:tc>
                <a:tc>
                  <a:txBody>
                    <a:bodyPr/>
                    <a:lstStyle/>
                    <a:p>
                      <a:pPr fontAlgn="base" latinLnBrk="0">
                        <a:buNone/>
                      </a:pPr>
                      <a:r>
                        <a:rPr lang="en-US" sz="1800" dirty="0">
                          <a:effectLst/>
                        </a:rPr>
                        <a:t>Week 3-4</a:t>
                      </a:r>
                    </a:p>
                  </a:txBody>
                  <a:tcPr marL="62433" marR="62433" marT="31216" marB="31216" anchor="ctr">
                    <a:lnL w="4763" cap="flat" cmpd="sng" algn="ctr">
                      <a:solidFill>
                        <a:srgbClr val="401A43"/>
                      </a:solidFill>
                      <a:prstDash val="solid"/>
                      <a:round/>
                      <a:headEnd type="none" w="med" len="med"/>
                      <a:tailEnd type="none" w="med" len="med"/>
                    </a:lnL>
                    <a:lnR w="4763" cap="flat" cmpd="sng" algn="ctr">
                      <a:solidFill>
                        <a:srgbClr val="C02A43"/>
                      </a:solidFill>
                      <a:prstDash val="solid"/>
                      <a:round/>
                      <a:headEnd type="none" w="med" len="med"/>
                      <a:tailEnd type="none" w="med" len="med"/>
                    </a:lnR>
                    <a:lnT w="4763" cap="flat" cmpd="sng" algn="ctr">
                      <a:solidFill>
                        <a:srgbClr val="401A43"/>
                      </a:solidFill>
                      <a:prstDash val="solid"/>
                      <a:round/>
                      <a:headEnd type="none" w="med" len="med"/>
                      <a:tailEnd type="none" w="med" len="med"/>
                    </a:lnT>
                    <a:lnB w="4763" cap="flat" cmpd="sng" algn="ctr">
                      <a:solidFill>
                        <a:srgbClr val="C01F43"/>
                      </a:solidFill>
                      <a:prstDash val="solid"/>
                      <a:round/>
                      <a:headEnd type="none" w="med" len="med"/>
                      <a:tailEnd type="none" w="med" len="med"/>
                    </a:lnB>
                    <a:noFill/>
                  </a:tcPr>
                </a:tc>
                <a:tc>
                  <a:txBody>
                    <a:bodyPr/>
                    <a:lstStyle/>
                    <a:p>
                      <a:pPr fontAlgn="base" latinLnBrk="0">
                        <a:buNone/>
                      </a:pPr>
                      <a:r>
                        <a:rPr lang="en-US" sz="1800">
                          <a:effectLst/>
                        </a:rPr>
                        <a:t>API integration, DB setup, parsing algorithms</a:t>
                      </a:r>
                    </a:p>
                  </a:txBody>
                  <a:tcPr marL="62433" marR="62433" marT="31216" marB="31216" anchor="ctr">
                    <a:lnL w="4763" cap="flat" cmpd="sng" algn="ctr">
                      <a:solidFill>
                        <a:srgbClr val="C02A43"/>
                      </a:solidFill>
                      <a:prstDash val="solid"/>
                      <a:round/>
                      <a:headEnd type="none" w="med" len="med"/>
                      <a:tailEnd type="none" w="med" len="med"/>
                    </a:lnL>
                    <a:lnR w="4763" cap="flat" cmpd="sng" algn="ctr">
                      <a:solidFill>
                        <a:srgbClr val="C02A43"/>
                      </a:solidFill>
                      <a:prstDash val="solid"/>
                      <a:round/>
                      <a:headEnd type="none" w="med" len="med"/>
                      <a:tailEnd type="none" w="med" len="med"/>
                    </a:lnR>
                    <a:lnT w="4763" cap="flat" cmpd="sng" algn="ctr">
                      <a:solidFill>
                        <a:srgbClr val="C02A43"/>
                      </a:solidFill>
                      <a:prstDash val="solid"/>
                      <a:round/>
                      <a:headEnd type="none" w="med" len="med"/>
                      <a:tailEnd type="none" w="med" len="med"/>
                    </a:lnT>
                    <a:lnB w="4763" cap="flat" cmpd="sng" algn="ctr">
                      <a:solidFill>
                        <a:srgbClr val="C02543"/>
                      </a:solidFill>
                      <a:prstDash val="solid"/>
                      <a:round/>
                      <a:headEnd type="none" w="med" len="med"/>
                      <a:tailEnd type="none" w="med" len="med"/>
                    </a:lnB>
                    <a:noFill/>
                  </a:tcPr>
                </a:tc>
                <a:extLst>
                  <a:ext uri="{0D108BD9-81ED-4DB2-BD59-A6C34878D82A}">
                    <a16:rowId xmlns:a16="http://schemas.microsoft.com/office/drawing/2014/main" val="4076632678"/>
                  </a:ext>
                </a:extLst>
              </a:tr>
              <a:tr h="752885">
                <a:tc>
                  <a:txBody>
                    <a:bodyPr/>
                    <a:lstStyle/>
                    <a:p>
                      <a:pPr fontAlgn="base" latinLnBrk="0">
                        <a:buNone/>
                      </a:pPr>
                      <a:r>
                        <a:rPr lang="en-US" sz="1800">
                          <a:effectLst/>
                        </a:rPr>
                        <a:t>Phase 3 - Frontend Dashboard</a:t>
                      </a:r>
                    </a:p>
                  </a:txBody>
                  <a:tcPr marL="62433" marR="62433" marT="31216" marB="31216" anchor="ctr">
                    <a:lnL w="4763" cap="flat" cmpd="sng" algn="ctr">
                      <a:solidFill>
                        <a:srgbClr val="400244"/>
                      </a:solidFill>
                      <a:prstDash val="solid"/>
                      <a:round/>
                      <a:headEnd type="none" w="med" len="med"/>
                      <a:tailEnd type="none" w="med" len="med"/>
                    </a:lnL>
                    <a:lnR w="4763" cap="flat" cmpd="sng" algn="ctr">
                      <a:solidFill>
                        <a:srgbClr val="C01F43"/>
                      </a:solidFill>
                      <a:prstDash val="solid"/>
                      <a:round/>
                      <a:headEnd type="none" w="med" len="med"/>
                      <a:tailEnd type="none" w="med" len="med"/>
                    </a:lnR>
                    <a:lnT w="4763" cap="flat" cmpd="sng" algn="ctr">
                      <a:solidFill>
                        <a:srgbClr val="400244"/>
                      </a:solidFill>
                      <a:prstDash val="solid"/>
                      <a:round/>
                      <a:headEnd type="none" w="med" len="med"/>
                      <a:tailEnd type="none" w="med" len="med"/>
                    </a:lnT>
                    <a:lnB w="4763" cap="flat" cmpd="sng" algn="ctr">
                      <a:solidFill>
                        <a:srgbClr val="400244"/>
                      </a:solidFill>
                      <a:prstDash val="solid"/>
                      <a:round/>
                      <a:headEnd type="none" w="med" len="med"/>
                      <a:tailEnd type="none" w="med" len="med"/>
                    </a:lnB>
                    <a:noFill/>
                  </a:tcPr>
                </a:tc>
                <a:tc>
                  <a:txBody>
                    <a:bodyPr/>
                    <a:lstStyle/>
                    <a:p>
                      <a:pPr fontAlgn="base" latinLnBrk="0">
                        <a:buNone/>
                      </a:pPr>
                      <a:r>
                        <a:rPr lang="en-US" sz="1800" dirty="0">
                          <a:effectLst/>
                        </a:rPr>
                        <a:t>Week 5-6</a:t>
                      </a:r>
                    </a:p>
                  </a:txBody>
                  <a:tcPr marL="62433" marR="62433" marT="31216" marB="31216" anchor="ctr">
                    <a:lnL w="4763" cap="flat" cmpd="sng" algn="ctr">
                      <a:solidFill>
                        <a:srgbClr val="C01F43"/>
                      </a:solidFill>
                      <a:prstDash val="solid"/>
                      <a:round/>
                      <a:headEnd type="none" w="med" len="med"/>
                      <a:tailEnd type="none" w="med" len="med"/>
                    </a:lnL>
                    <a:lnR w="4763" cap="flat" cmpd="sng" algn="ctr">
                      <a:solidFill>
                        <a:srgbClr val="C02543"/>
                      </a:solidFill>
                      <a:prstDash val="solid"/>
                      <a:round/>
                      <a:headEnd type="none" w="med" len="med"/>
                      <a:tailEnd type="none" w="med" len="med"/>
                    </a:lnR>
                    <a:lnT w="4763" cap="flat" cmpd="sng" algn="ctr">
                      <a:solidFill>
                        <a:srgbClr val="C01F43"/>
                      </a:solidFill>
                      <a:prstDash val="solid"/>
                      <a:round/>
                      <a:headEnd type="none" w="med" len="med"/>
                      <a:tailEnd type="none" w="med" len="med"/>
                    </a:lnT>
                    <a:lnB w="4763" cap="flat" cmpd="sng" algn="ctr">
                      <a:solidFill>
                        <a:srgbClr val="C02543"/>
                      </a:solidFill>
                      <a:prstDash val="solid"/>
                      <a:round/>
                      <a:headEnd type="none" w="med" len="med"/>
                      <a:tailEnd type="none" w="med" len="med"/>
                    </a:lnB>
                    <a:noFill/>
                  </a:tcPr>
                </a:tc>
                <a:tc>
                  <a:txBody>
                    <a:bodyPr/>
                    <a:lstStyle/>
                    <a:p>
                      <a:pPr fontAlgn="base" latinLnBrk="0">
                        <a:buNone/>
                      </a:pPr>
                      <a:r>
                        <a:rPr lang="en-US" sz="1800">
                          <a:effectLst/>
                        </a:rPr>
                        <a:t>UI for search, filtering, visualization</a:t>
                      </a:r>
                    </a:p>
                  </a:txBody>
                  <a:tcPr marL="62433" marR="62433" marT="31216" marB="31216" anchor="ctr">
                    <a:lnL w="4763" cap="flat" cmpd="sng" algn="ctr">
                      <a:solidFill>
                        <a:srgbClr val="C02543"/>
                      </a:solidFill>
                      <a:prstDash val="solid"/>
                      <a:round/>
                      <a:headEnd type="none" w="med" len="med"/>
                      <a:tailEnd type="none" w="med" len="med"/>
                    </a:lnL>
                    <a:lnR w="4763" cap="flat" cmpd="sng" algn="ctr">
                      <a:solidFill>
                        <a:srgbClr val="C02543"/>
                      </a:solidFill>
                      <a:prstDash val="solid"/>
                      <a:round/>
                      <a:headEnd type="none" w="med" len="med"/>
                      <a:tailEnd type="none" w="med" len="med"/>
                    </a:lnR>
                    <a:lnT w="4763" cap="flat" cmpd="sng" algn="ctr">
                      <a:solidFill>
                        <a:srgbClr val="C02543"/>
                      </a:solidFill>
                      <a:prstDash val="solid"/>
                      <a:round/>
                      <a:headEnd type="none" w="med" len="med"/>
                      <a:tailEnd type="none" w="med" len="med"/>
                    </a:lnT>
                    <a:lnB w="4763" cap="flat" cmpd="sng" algn="ctr">
                      <a:solidFill>
                        <a:srgbClr val="402343"/>
                      </a:solidFill>
                      <a:prstDash val="solid"/>
                      <a:round/>
                      <a:headEnd type="none" w="med" len="med"/>
                      <a:tailEnd type="none" w="med" len="med"/>
                    </a:lnB>
                    <a:noFill/>
                  </a:tcPr>
                </a:tc>
                <a:extLst>
                  <a:ext uri="{0D108BD9-81ED-4DB2-BD59-A6C34878D82A}">
                    <a16:rowId xmlns:a16="http://schemas.microsoft.com/office/drawing/2014/main" val="1945057298"/>
                  </a:ext>
                </a:extLst>
              </a:tr>
              <a:tr h="614196">
                <a:tc>
                  <a:txBody>
                    <a:bodyPr/>
                    <a:lstStyle/>
                    <a:p>
                      <a:pPr fontAlgn="base" latinLnBrk="0">
                        <a:buNone/>
                      </a:pPr>
                      <a:r>
                        <a:rPr lang="en-US" sz="1800">
                          <a:effectLst/>
                        </a:rPr>
                        <a:t>Phase 4 - Notification System</a:t>
                      </a:r>
                    </a:p>
                  </a:txBody>
                  <a:tcPr marL="62433" marR="62433" marT="31216" marB="31216" anchor="ctr">
                    <a:lnL w="4763" cap="flat" cmpd="sng" algn="ctr">
                      <a:solidFill>
                        <a:srgbClr val="400244"/>
                      </a:solidFill>
                      <a:prstDash val="solid"/>
                      <a:round/>
                      <a:headEnd type="none" w="med" len="med"/>
                      <a:tailEnd type="none" w="med" len="med"/>
                    </a:lnL>
                    <a:lnR w="4763" cap="flat" cmpd="sng" algn="ctr">
                      <a:solidFill>
                        <a:srgbClr val="C02543"/>
                      </a:solidFill>
                      <a:prstDash val="solid"/>
                      <a:round/>
                      <a:headEnd type="none" w="med" len="med"/>
                      <a:tailEnd type="none" w="med" len="med"/>
                    </a:lnR>
                    <a:lnT w="4763" cap="flat" cmpd="sng" algn="ctr">
                      <a:solidFill>
                        <a:srgbClr val="400244"/>
                      </a:solidFill>
                      <a:prstDash val="solid"/>
                      <a:round/>
                      <a:headEnd type="none" w="med" len="med"/>
                      <a:tailEnd type="none" w="med" len="med"/>
                    </a:lnT>
                    <a:lnB w="4763" cap="flat" cmpd="sng" algn="ctr">
                      <a:solidFill>
                        <a:srgbClr val="400244"/>
                      </a:solidFill>
                      <a:prstDash val="solid"/>
                      <a:round/>
                      <a:headEnd type="none" w="med" len="med"/>
                      <a:tailEnd type="none" w="med" len="med"/>
                    </a:lnB>
                    <a:noFill/>
                  </a:tcPr>
                </a:tc>
                <a:tc>
                  <a:txBody>
                    <a:bodyPr/>
                    <a:lstStyle/>
                    <a:p>
                      <a:pPr fontAlgn="base" latinLnBrk="0">
                        <a:buNone/>
                      </a:pPr>
                      <a:r>
                        <a:rPr lang="en-US" sz="1800">
                          <a:effectLst/>
                        </a:rPr>
                        <a:t>Week 7</a:t>
                      </a:r>
                    </a:p>
                  </a:txBody>
                  <a:tcPr marL="62433" marR="62433" marT="31216" marB="31216" anchor="ctr">
                    <a:lnL w="4763" cap="flat" cmpd="sng" algn="ctr">
                      <a:solidFill>
                        <a:srgbClr val="C02543"/>
                      </a:solidFill>
                      <a:prstDash val="solid"/>
                      <a:round/>
                      <a:headEnd type="none" w="med" len="med"/>
                      <a:tailEnd type="none" w="med" len="med"/>
                    </a:lnL>
                    <a:lnR w="4763" cap="flat" cmpd="sng" algn="ctr">
                      <a:solidFill>
                        <a:srgbClr val="402343"/>
                      </a:solidFill>
                      <a:prstDash val="solid"/>
                      <a:round/>
                      <a:headEnd type="none" w="med" len="med"/>
                      <a:tailEnd type="none" w="med" len="med"/>
                    </a:lnR>
                    <a:lnT w="4763" cap="flat" cmpd="sng" algn="ctr">
                      <a:solidFill>
                        <a:srgbClr val="C02543"/>
                      </a:solidFill>
                      <a:prstDash val="solid"/>
                      <a:round/>
                      <a:headEnd type="none" w="med" len="med"/>
                      <a:tailEnd type="none" w="med" len="med"/>
                    </a:lnT>
                    <a:lnB w="4763" cap="flat" cmpd="sng" algn="ctr">
                      <a:solidFill>
                        <a:srgbClr val="402343"/>
                      </a:solidFill>
                      <a:prstDash val="solid"/>
                      <a:round/>
                      <a:headEnd type="none" w="med" len="med"/>
                      <a:tailEnd type="none" w="med" len="med"/>
                    </a:lnB>
                    <a:noFill/>
                  </a:tcPr>
                </a:tc>
                <a:tc>
                  <a:txBody>
                    <a:bodyPr/>
                    <a:lstStyle/>
                    <a:p>
                      <a:pPr fontAlgn="base" latinLnBrk="0">
                        <a:buNone/>
                      </a:pPr>
                      <a:r>
                        <a:rPr lang="en-US" sz="1800">
                          <a:effectLst/>
                        </a:rPr>
                        <a:t>Alert triggers, E-mail/SMS integration</a:t>
                      </a:r>
                    </a:p>
                  </a:txBody>
                  <a:tcPr marL="62433" marR="62433" marT="31216" marB="31216" anchor="ctr">
                    <a:lnL w="4763" cap="flat" cmpd="sng" algn="ctr">
                      <a:solidFill>
                        <a:srgbClr val="402343"/>
                      </a:solidFill>
                      <a:prstDash val="solid"/>
                      <a:round/>
                      <a:headEnd type="none" w="med" len="med"/>
                      <a:tailEnd type="none" w="med" len="med"/>
                    </a:lnL>
                    <a:lnR w="4763" cap="flat" cmpd="sng" algn="ctr">
                      <a:solidFill>
                        <a:srgbClr val="402343"/>
                      </a:solidFill>
                      <a:prstDash val="solid"/>
                      <a:round/>
                      <a:headEnd type="none" w="med" len="med"/>
                      <a:tailEnd type="none" w="med" len="med"/>
                    </a:lnR>
                    <a:lnT w="4763" cap="flat" cmpd="sng" algn="ctr">
                      <a:solidFill>
                        <a:srgbClr val="402343"/>
                      </a:solidFill>
                      <a:prstDash val="solid"/>
                      <a:round/>
                      <a:headEnd type="none" w="med" len="med"/>
                      <a:tailEnd type="none" w="med" len="med"/>
                    </a:lnT>
                    <a:lnB w="4763" cap="flat" cmpd="sng" algn="ctr">
                      <a:solidFill>
                        <a:srgbClr val="C03043"/>
                      </a:solidFill>
                      <a:prstDash val="solid"/>
                      <a:round/>
                      <a:headEnd type="none" w="med" len="med"/>
                      <a:tailEnd type="none" w="med" len="med"/>
                    </a:lnB>
                    <a:noFill/>
                  </a:tcPr>
                </a:tc>
                <a:extLst>
                  <a:ext uri="{0D108BD9-81ED-4DB2-BD59-A6C34878D82A}">
                    <a16:rowId xmlns:a16="http://schemas.microsoft.com/office/drawing/2014/main" val="4048659022"/>
                  </a:ext>
                </a:extLst>
              </a:tr>
              <a:tr h="614196">
                <a:tc>
                  <a:txBody>
                    <a:bodyPr/>
                    <a:lstStyle/>
                    <a:p>
                      <a:pPr fontAlgn="base" latinLnBrk="0">
                        <a:buNone/>
                      </a:pPr>
                      <a:r>
                        <a:rPr lang="en-US" sz="1800">
                          <a:effectLst/>
                        </a:rPr>
                        <a:t>Phase 5 - Testing &amp; Deployment</a:t>
                      </a:r>
                    </a:p>
                  </a:txBody>
                  <a:tcPr marL="62433" marR="62433" marT="31216" marB="31216" anchor="ctr">
                    <a:lnL w="4763" cap="flat" cmpd="sng" algn="ctr">
                      <a:solidFill>
                        <a:srgbClr val="400244"/>
                      </a:solidFill>
                      <a:prstDash val="solid"/>
                      <a:round/>
                      <a:headEnd type="none" w="med" len="med"/>
                      <a:tailEnd type="none" w="med" len="med"/>
                    </a:lnL>
                    <a:lnR w="4763" cap="flat" cmpd="sng" algn="ctr">
                      <a:solidFill>
                        <a:srgbClr val="402343"/>
                      </a:solidFill>
                      <a:prstDash val="solid"/>
                      <a:round/>
                      <a:headEnd type="none" w="med" len="med"/>
                      <a:tailEnd type="none" w="med" len="med"/>
                    </a:lnR>
                    <a:lnT w="4763" cap="flat" cmpd="sng" algn="ctr">
                      <a:solidFill>
                        <a:srgbClr val="400244"/>
                      </a:solidFill>
                      <a:prstDash val="solid"/>
                      <a:round/>
                      <a:headEnd type="none" w="med" len="med"/>
                      <a:tailEnd type="none" w="med" len="med"/>
                    </a:lnT>
                    <a:lnB w="4763" cap="flat" cmpd="sng" algn="ctr">
                      <a:solidFill>
                        <a:srgbClr val="400244"/>
                      </a:solidFill>
                      <a:prstDash val="solid"/>
                      <a:round/>
                      <a:headEnd type="none" w="med" len="med"/>
                      <a:tailEnd type="none" w="med" len="med"/>
                    </a:lnB>
                    <a:noFill/>
                  </a:tcPr>
                </a:tc>
                <a:tc>
                  <a:txBody>
                    <a:bodyPr/>
                    <a:lstStyle/>
                    <a:p>
                      <a:pPr fontAlgn="base" latinLnBrk="0">
                        <a:buNone/>
                      </a:pPr>
                      <a:r>
                        <a:rPr lang="en-US" sz="1800">
                          <a:effectLst/>
                        </a:rPr>
                        <a:t>Week 8</a:t>
                      </a:r>
                    </a:p>
                  </a:txBody>
                  <a:tcPr marL="62433" marR="62433" marT="31216" marB="31216" anchor="ctr">
                    <a:lnL w="4763" cap="flat" cmpd="sng" algn="ctr">
                      <a:solidFill>
                        <a:srgbClr val="402343"/>
                      </a:solidFill>
                      <a:prstDash val="solid"/>
                      <a:round/>
                      <a:headEnd type="none" w="med" len="med"/>
                      <a:tailEnd type="none" w="med" len="med"/>
                    </a:lnL>
                    <a:lnR w="4763" cap="flat" cmpd="sng" algn="ctr">
                      <a:solidFill>
                        <a:srgbClr val="C03043"/>
                      </a:solidFill>
                      <a:prstDash val="solid"/>
                      <a:round/>
                      <a:headEnd type="none" w="med" len="med"/>
                      <a:tailEnd type="none" w="med" len="med"/>
                    </a:lnR>
                    <a:lnT w="4763" cap="flat" cmpd="sng" algn="ctr">
                      <a:solidFill>
                        <a:srgbClr val="402343"/>
                      </a:solidFill>
                      <a:prstDash val="solid"/>
                      <a:round/>
                      <a:headEnd type="none" w="med" len="med"/>
                      <a:tailEnd type="none" w="med" len="med"/>
                    </a:lnT>
                    <a:lnB w="4763" cap="flat" cmpd="sng" algn="ctr">
                      <a:solidFill>
                        <a:srgbClr val="C02E43"/>
                      </a:solidFill>
                      <a:prstDash val="solid"/>
                      <a:round/>
                      <a:headEnd type="none" w="med" len="med"/>
                      <a:tailEnd type="none" w="med" len="med"/>
                    </a:lnB>
                    <a:noFill/>
                  </a:tcPr>
                </a:tc>
                <a:tc>
                  <a:txBody>
                    <a:bodyPr/>
                    <a:lstStyle/>
                    <a:p>
                      <a:pPr fontAlgn="base" latinLnBrk="0">
                        <a:buNone/>
                      </a:pPr>
                      <a:r>
                        <a:rPr lang="en-US" sz="1800">
                          <a:effectLst/>
                        </a:rPr>
                        <a:t>Unit, load testing, deployment</a:t>
                      </a:r>
                    </a:p>
                  </a:txBody>
                  <a:tcPr marL="62433" marR="62433" marT="31216" marB="31216" anchor="ctr">
                    <a:lnL w="4763" cap="flat" cmpd="sng" algn="ctr">
                      <a:solidFill>
                        <a:srgbClr val="C03043"/>
                      </a:solidFill>
                      <a:prstDash val="solid"/>
                      <a:round/>
                      <a:headEnd type="none" w="med" len="med"/>
                      <a:tailEnd type="none" w="med" len="med"/>
                    </a:lnL>
                    <a:lnR w="4763" cap="flat" cmpd="sng" algn="ctr">
                      <a:solidFill>
                        <a:srgbClr val="C03043"/>
                      </a:solidFill>
                      <a:prstDash val="solid"/>
                      <a:round/>
                      <a:headEnd type="none" w="med" len="med"/>
                      <a:tailEnd type="none" w="med" len="med"/>
                    </a:lnR>
                    <a:lnT w="4763" cap="flat" cmpd="sng" algn="ctr">
                      <a:solidFill>
                        <a:srgbClr val="C03043"/>
                      </a:solidFill>
                      <a:prstDash val="solid"/>
                      <a:round/>
                      <a:headEnd type="none" w="med" len="med"/>
                      <a:tailEnd type="none" w="med" len="med"/>
                    </a:lnT>
                    <a:lnB w="4763" cap="flat" cmpd="sng" algn="ctr">
                      <a:solidFill>
                        <a:srgbClr val="C01A43"/>
                      </a:solidFill>
                      <a:prstDash val="solid"/>
                      <a:round/>
                      <a:headEnd type="none" w="med" len="med"/>
                      <a:tailEnd type="none" w="med" len="med"/>
                    </a:lnB>
                    <a:noFill/>
                  </a:tcPr>
                </a:tc>
                <a:extLst>
                  <a:ext uri="{0D108BD9-81ED-4DB2-BD59-A6C34878D82A}">
                    <a16:rowId xmlns:a16="http://schemas.microsoft.com/office/drawing/2014/main" val="2103221107"/>
                  </a:ext>
                </a:extLst>
              </a:tr>
              <a:tr h="752885">
                <a:tc>
                  <a:txBody>
                    <a:bodyPr/>
                    <a:lstStyle/>
                    <a:p>
                      <a:pPr fontAlgn="base" latinLnBrk="0">
                        <a:buNone/>
                      </a:pPr>
                      <a:r>
                        <a:rPr lang="en-US" sz="1800">
                          <a:effectLst/>
                        </a:rPr>
                        <a:t>Phase 6 - Future Enhancements</a:t>
                      </a:r>
                    </a:p>
                  </a:txBody>
                  <a:tcPr marL="62433" marR="62433" marT="31216" marB="31216" anchor="ctr">
                    <a:lnL w="4763" cap="flat" cmpd="sng" algn="ctr">
                      <a:solidFill>
                        <a:srgbClr val="400244"/>
                      </a:solidFill>
                      <a:prstDash val="solid"/>
                      <a:round/>
                      <a:headEnd type="none" w="med" len="med"/>
                      <a:tailEnd type="none" w="med" len="med"/>
                    </a:lnL>
                    <a:lnR w="4763" cap="flat" cmpd="sng" algn="ctr">
                      <a:solidFill>
                        <a:srgbClr val="C02E43"/>
                      </a:solidFill>
                      <a:prstDash val="solid"/>
                      <a:round/>
                      <a:headEnd type="none" w="med" len="med"/>
                      <a:tailEnd type="none" w="med" len="med"/>
                    </a:lnR>
                    <a:lnT w="4763" cap="flat" cmpd="sng" algn="ctr">
                      <a:solidFill>
                        <a:srgbClr val="400244"/>
                      </a:solidFill>
                      <a:prstDash val="solid"/>
                      <a:round/>
                      <a:headEnd type="none" w="med" len="med"/>
                      <a:tailEnd type="none" w="med" len="med"/>
                    </a:lnT>
                    <a:lnB w="4763" cap="flat" cmpd="sng" algn="ctr">
                      <a:solidFill>
                        <a:srgbClr val="400244"/>
                      </a:solidFill>
                      <a:prstDash val="solid"/>
                      <a:round/>
                      <a:headEnd type="none" w="med" len="med"/>
                      <a:tailEnd type="none" w="med" len="med"/>
                    </a:lnB>
                    <a:noFill/>
                  </a:tcPr>
                </a:tc>
                <a:tc>
                  <a:txBody>
                    <a:bodyPr/>
                    <a:lstStyle/>
                    <a:p>
                      <a:pPr fontAlgn="base" latinLnBrk="0">
                        <a:buNone/>
                      </a:pPr>
                      <a:r>
                        <a:rPr lang="en-US" sz="1800">
                          <a:effectLst/>
                        </a:rPr>
                        <a:t>Week 9</a:t>
                      </a:r>
                    </a:p>
                  </a:txBody>
                  <a:tcPr marL="62433" marR="62433" marT="31216" marB="31216" anchor="ctr">
                    <a:lnL w="4763" cap="flat" cmpd="sng" algn="ctr">
                      <a:solidFill>
                        <a:srgbClr val="C02E43"/>
                      </a:solidFill>
                      <a:prstDash val="solid"/>
                      <a:round/>
                      <a:headEnd type="none" w="med" len="med"/>
                      <a:tailEnd type="none" w="med" len="med"/>
                    </a:lnL>
                    <a:lnR w="4763" cap="flat" cmpd="sng" algn="ctr">
                      <a:solidFill>
                        <a:srgbClr val="C01A43"/>
                      </a:solidFill>
                      <a:prstDash val="solid"/>
                      <a:round/>
                      <a:headEnd type="none" w="med" len="med"/>
                      <a:tailEnd type="none" w="med" len="med"/>
                    </a:lnR>
                    <a:lnT w="4763" cap="flat" cmpd="sng" algn="ctr">
                      <a:solidFill>
                        <a:srgbClr val="C02E43"/>
                      </a:solidFill>
                      <a:prstDash val="solid"/>
                      <a:round/>
                      <a:headEnd type="none" w="med" len="med"/>
                      <a:tailEnd type="none" w="med" len="med"/>
                    </a:lnT>
                    <a:lnB w="4763" cap="flat" cmpd="sng" algn="ctr">
                      <a:solidFill>
                        <a:srgbClr val="C02E43"/>
                      </a:solidFill>
                      <a:prstDash val="solid"/>
                      <a:round/>
                      <a:headEnd type="none" w="med" len="med"/>
                      <a:tailEnd type="none" w="med" len="med"/>
                    </a:lnB>
                    <a:noFill/>
                  </a:tcPr>
                </a:tc>
                <a:tc>
                  <a:txBody>
                    <a:bodyPr/>
                    <a:lstStyle/>
                    <a:p>
                      <a:pPr fontAlgn="base" latinLnBrk="0">
                        <a:buNone/>
                      </a:pPr>
                      <a:r>
                        <a:rPr lang="en-US" sz="1800" dirty="0">
                          <a:effectLst/>
                        </a:rPr>
                        <a:t>AI detection, new platforms, reporting</a:t>
                      </a:r>
                    </a:p>
                  </a:txBody>
                  <a:tcPr marL="62433" marR="62433" marT="31216" marB="31216" anchor="ctr">
                    <a:lnL w="4763" cap="flat" cmpd="sng" algn="ctr">
                      <a:solidFill>
                        <a:srgbClr val="C01A43"/>
                      </a:solidFill>
                      <a:prstDash val="solid"/>
                      <a:round/>
                      <a:headEnd type="none" w="med" len="med"/>
                      <a:tailEnd type="none" w="med" len="med"/>
                    </a:lnL>
                    <a:lnR w="4763" cap="flat" cmpd="sng" algn="ctr">
                      <a:solidFill>
                        <a:srgbClr val="C01A43"/>
                      </a:solidFill>
                      <a:prstDash val="solid"/>
                      <a:round/>
                      <a:headEnd type="none" w="med" len="med"/>
                      <a:tailEnd type="none" w="med" len="med"/>
                    </a:lnR>
                    <a:lnT w="4763" cap="flat" cmpd="sng" algn="ctr">
                      <a:solidFill>
                        <a:srgbClr val="C01A43"/>
                      </a:solidFill>
                      <a:prstDash val="solid"/>
                      <a:round/>
                      <a:headEnd type="none" w="med" len="med"/>
                      <a:tailEnd type="none" w="med" len="med"/>
                    </a:lnT>
                    <a:lnB w="4763" cap="flat" cmpd="sng" algn="ctr">
                      <a:solidFill>
                        <a:srgbClr val="C01A43"/>
                      </a:solidFill>
                      <a:prstDash val="solid"/>
                      <a:round/>
                      <a:headEnd type="none" w="med" len="med"/>
                      <a:tailEnd type="none" w="med" len="med"/>
                    </a:lnB>
                    <a:noFill/>
                  </a:tcPr>
                </a:tc>
                <a:extLst>
                  <a:ext uri="{0D108BD9-81ED-4DB2-BD59-A6C34878D82A}">
                    <a16:rowId xmlns:a16="http://schemas.microsoft.com/office/drawing/2014/main" val="221392064"/>
                  </a:ext>
                </a:extLst>
              </a:tr>
            </a:tbl>
          </a:graphicData>
        </a:graphic>
      </p:graphicFrame>
    </p:spTree>
    <p:extLst>
      <p:ext uri="{BB962C8B-B14F-4D97-AF65-F5344CB8AC3E}">
        <p14:creationId xmlns:p14="http://schemas.microsoft.com/office/powerpoint/2010/main" val="33388325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2A64591D-F75E-A95C-CB8C-D7A6ABEBE6A8}"/>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E7A9B193-03E8-9E02-9FA5-EBBEBFBB68C1}"/>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US" dirty="0"/>
              <a:t>Software and Hardware Requirements</a:t>
            </a:r>
          </a:p>
        </p:txBody>
      </p:sp>
      <p:sp>
        <p:nvSpPr>
          <p:cNvPr id="115" name="Google Shape;115;p17">
            <a:extLst>
              <a:ext uri="{FF2B5EF4-FFF2-40B4-BE49-F238E27FC236}">
                <a16:creationId xmlns:a16="http://schemas.microsoft.com/office/drawing/2014/main" id="{947F716C-3DED-92F9-F4D6-409EB6CECBE0}"/>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92500" lnSpcReduction="10000"/>
          </a:bodyPr>
          <a:lstStyle/>
          <a:p>
            <a:r>
              <a:rPr lang="en-US" b="1" dirty="0"/>
              <a:t>Software Requirements:</a:t>
            </a:r>
            <a:endParaRPr lang="en-US" dirty="0"/>
          </a:p>
          <a:p>
            <a:r>
              <a:rPr lang="en-US" dirty="0"/>
              <a:t>Robust Operating System: Linux, Windows Server, or macOS (based on deployment)</a:t>
            </a:r>
          </a:p>
          <a:p>
            <a:r>
              <a:rPr lang="en-US" dirty="0"/>
              <a:t>Development Tools and IDEs: Visual Studio Code, IntelliJ IDEA</a:t>
            </a:r>
          </a:p>
          <a:p>
            <a:r>
              <a:rPr lang="en-US" dirty="0"/>
              <a:t>Database Management Systems: PostgreSQL, MySQL, MongoDB</a:t>
            </a:r>
          </a:p>
          <a:p>
            <a:r>
              <a:rPr lang="en-US" dirty="0"/>
              <a:t>Cloud Service SDKs for analytics and integration</a:t>
            </a:r>
          </a:p>
          <a:p>
            <a:r>
              <a:rPr lang="en-US" dirty="0"/>
              <a:t>API Management Tools for secure and efficient API usage</a:t>
            </a:r>
          </a:p>
          <a:p>
            <a:r>
              <a:rPr lang="en-US" dirty="0"/>
              <a:t>Container Orchestration Platforms: Kubernetes</a:t>
            </a:r>
          </a:p>
          <a:p>
            <a:r>
              <a:rPr lang="en-US" dirty="0"/>
              <a:t>Monitoring and Logging: Prometheus, Grafana</a:t>
            </a:r>
          </a:p>
          <a:p>
            <a:r>
              <a:rPr lang="en-US" b="1" dirty="0"/>
              <a:t>Hardware Requirements:</a:t>
            </a:r>
            <a:endParaRPr lang="en-US" dirty="0"/>
          </a:p>
          <a:p>
            <a:r>
              <a:rPr lang="en-US" dirty="0"/>
              <a:t>Minimum: Intel i5 processor, 8GB RAM, 256GB SSD</a:t>
            </a:r>
          </a:p>
          <a:p>
            <a:r>
              <a:rPr lang="en-US" dirty="0"/>
              <a:t>Recommended: Intel i7 processor, 16GB RAM for real-time data processing and analysis</a:t>
            </a:r>
          </a:p>
        </p:txBody>
      </p:sp>
    </p:spTree>
    <p:extLst>
      <p:ext uri="{BB962C8B-B14F-4D97-AF65-F5344CB8AC3E}">
        <p14:creationId xmlns:p14="http://schemas.microsoft.com/office/powerpoint/2010/main" val="796443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52BC7BA0-2E33-0277-0DE1-197E71950521}"/>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ECF9729D-F38C-89DA-E365-D6A4EEC49764}"/>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US" dirty="0"/>
              <a:t>References (Development)</a:t>
            </a:r>
          </a:p>
        </p:txBody>
      </p:sp>
      <p:sp>
        <p:nvSpPr>
          <p:cNvPr id="115" name="Google Shape;115;p17">
            <a:extLst>
              <a:ext uri="{FF2B5EF4-FFF2-40B4-BE49-F238E27FC236}">
                <a16:creationId xmlns:a16="http://schemas.microsoft.com/office/drawing/2014/main" id="{DB8C0C59-8CCE-BA67-094E-DFC1CCF52F8C}"/>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r>
              <a:rPr lang="en-US" dirty="0"/>
              <a:t>Facebook Graph API - developers.facebook.com/docs/graph-</a:t>
            </a:r>
            <a:r>
              <a:rPr lang="en-US" dirty="0" err="1"/>
              <a:t>api</a:t>
            </a:r>
            <a:endParaRPr lang="en-US" dirty="0"/>
          </a:p>
          <a:p>
            <a:r>
              <a:rPr lang="en-US" dirty="0"/>
              <a:t>Twitter API - developer.twitter.com/</a:t>
            </a:r>
            <a:r>
              <a:rPr lang="en-US" dirty="0" err="1"/>
              <a:t>en</a:t>
            </a:r>
            <a:r>
              <a:rPr lang="en-US" dirty="0"/>
              <a:t>/docs</a:t>
            </a:r>
          </a:p>
          <a:p>
            <a:r>
              <a:rPr lang="en-US" dirty="0"/>
              <a:t>Instagram Basic Display API - developers.facebook.com/docs/</a:t>
            </a:r>
            <a:r>
              <a:rPr lang="en-US" dirty="0" err="1"/>
              <a:t>instagram</a:t>
            </a:r>
            <a:r>
              <a:rPr lang="en-US" dirty="0"/>
              <a:t>-basic-display-</a:t>
            </a:r>
            <a:r>
              <a:rPr lang="en-US" dirty="0" err="1"/>
              <a:t>api</a:t>
            </a:r>
            <a:endParaRPr lang="en-US" dirty="0"/>
          </a:p>
          <a:p>
            <a:r>
              <a:rPr lang="en-US" dirty="0"/>
              <a:t>Chart.js - Chartjs.org</a:t>
            </a:r>
          </a:p>
          <a:p>
            <a:r>
              <a:rPr lang="en-US" dirty="0"/>
              <a:t>Bootstrap Framework - GetBootstrap.com</a:t>
            </a:r>
          </a:p>
          <a:p>
            <a:r>
              <a:rPr lang="en-US" dirty="0"/>
              <a:t>Font Awesome Icons - FontAwesome.com</a:t>
            </a:r>
          </a:p>
        </p:txBody>
      </p:sp>
    </p:spTree>
    <p:extLst>
      <p:ext uri="{BB962C8B-B14F-4D97-AF65-F5344CB8AC3E}">
        <p14:creationId xmlns:p14="http://schemas.microsoft.com/office/powerpoint/2010/main" val="26809849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r>
              <a:rPr lang="en-US" dirty="0"/>
              <a:t>E. Ferrara et al., "The Rise of Social Bots," Communications of the ACM, vol. 59, no. 7, pp. 96-104, 2016.Review1-ppt.pdf</a:t>
            </a:r>
          </a:p>
          <a:p>
            <a:endParaRPr lang="en-US" dirty="0"/>
          </a:p>
          <a:p>
            <a:r>
              <a:rPr lang="en-US" dirty="0"/>
              <a:t>A. Bessi, E. Ferrara, "Social media and misinformation," Online Social Networks and Media, vol. 1, pp. 66-73, 2017.</a:t>
            </a:r>
          </a:p>
          <a:p>
            <a:endParaRPr lang="en-US" dirty="0"/>
          </a:p>
          <a:p>
            <a:r>
              <a:rPr lang="en-US" dirty="0"/>
              <a:t>S. Z. A. Shah et al., “Threats, attacks and countermeasures in web application security,” IEEE Access, vol. 7, pp. 153779–153795, Oct. 2019.</a:t>
            </a:r>
          </a:p>
          <a:p>
            <a:endParaRPr lang="en-US" dirty="0"/>
          </a:p>
          <a:p>
            <a:r>
              <a:rPr lang="en-US" dirty="0"/>
              <a:t>H. Tahir et al., "Towards secure social media monitoring frameworks," IEEE ICET, pp. 1–6, Dec. 2020.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293</TotalTime>
  <Words>1090</Words>
  <Application>Microsoft Office PowerPoint</Application>
  <PresentationFormat>Widescreen</PresentationFormat>
  <Paragraphs>158</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Cambria</vt:lpstr>
      <vt:lpstr>fkGroteskNeue</vt:lpstr>
      <vt:lpstr>Verdana</vt:lpstr>
      <vt:lpstr>Wingdings</vt:lpstr>
      <vt:lpstr>Bioinformatics</vt:lpstr>
      <vt:lpstr>PROJECT TITLE</vt:lpstr>
      <vt:lpstr>Content</vt:lpstr>
      <vt:lpstr>Content (continuation)..</vt:lpstr>
      <vt:lpstr>Problem Statement Number: </vt:lpstr>
      <vt:lpstr>Objectives</vt:lpstr>
      <vt:lpstr>Background and Related Work</vt:lpstr>
      <vt:lpstr>Analysis of Problem Statement</vt:lpstr>
      <vt:lpstr>Innovation and Contributions</vt:lpstr>
      <vt:lpstr>System Architecture</vt:lpstr>
      <vt:lpstr>Github Link</vt:lpstr>
      <vt:lpstr>Timeline (Gantt Chart)</vt:lpstr>
      <vt:lpstr>Software and Hardware Requirements</vt:lpstr>
      <vt:lpstr>References (Development)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saifulla saif</cp:lastModifiedBy>
  <cp:revision>41</cp:revision>
  <dcterms:modified xsi:type="dcterms:W3CDTF">2025-08-18T16:09:39Z</dcterms:modified>
</cp:coreProperties>
</file>