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9" r:id="rId6"/>
    <p:sldId id="260" r:id="rId7"/>
    <p:sldId id="261" r:id="rId8"/>
    <p:sldId id="262" r:id="rId9"/>
    <p:sldId id="263" r:id="rId10"/>
    <p:sldId id="264" r:id="rId11"/>
    <p:sldId id="270" r:id="rId12"/>
    <p:sldId id="271" r:id="rId13"/>
    <p:sldId id="272" r:id="rId14"/>
    <p:sldId id="273" r:id="rId15"/>
    <p:sldId id="274" r:id="rId16"/>
    <p:sldId id="275" r:id="rId17"/>
    <p:sldId id="276" r:id="rId18"/>
    <p:sldId id="278" r:id="rId19"/>
    <p:sldId id="279" r:id="rId20"/>
    <p:sldId id="265" r:id="rId21"/>
    <p:sldId id="266" r:id="rId22"/>
    <p:sldId id="267" r:id="rId23"/>
    <p:sldId id="268" r:id="rId2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53" y="84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876" y="2125980"/>
            <a:ext cx="10368598" cy="1440180"/>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9752" y="3840480"/>
            <a:ext cx="8538845" cy="1714500"/>
          </a:xfrm>
          <a:prstGeom prst="rect">
            <a:avLst/>
          </a:prstGeom>
        </p:spPr>
        <p:txBody>
          <a:bodyPr wrap="square" lIns="0" tIns="0" rIns="0" bIns="0">
            <a:spAutoFit/>
          </a:bodyPr>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sz="half" idx="2"/>
          </p:nvPr>
        </p:nvSpPr>
        <p:spPr>
          <a:xfrm>
            <a:off x="609917" y="1577340"/>
            <a:ext cx="5306282"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2150" y="1577340"/>
            <a:ext cx="5306282"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6102" y="886967"/>
            <a:ext cx="10668000" cy="59690"/>
          </a:xfrm>
          <a:custGeom>
            <a:avLst/>
            <a:gdLst/>
            <a:ahLst/>
            <a:cxnLst/>
            <a:rect l="l" t="t" r="r" b="b"/>
            <a:pathLst>
              <a:path w="10668000" h="59690">
                <a:moveTo>
                  <a:pt x="10668000" y="47498"/>
                </a:moveTo>
                <a:lnTo>
                  <a:pt x="0" y="47498"/>
                </a:lnTo>
                <a:lnTo>
                  <a:pt x="0" y="59436"/>
                </a:lnTo>
                <a:lnTo>
                  <a:pt x="10668000" y="59436"/>
                </a:lnTo>
                <a:lnTo>
                  <a:pt x="10668000" y="47498"/>
                </a:lnTo>
                <a:close/>
              </a:path>
              <a:path w="10668000" h="59690">
                <a:moveTo>
                  <a:pt x="10668000" y="0"/>
                </a:moveTo>
                <a:lnTo>
                  <a:pt x="0" y="0"/>
                </a:lnTo>
                <a:lnTo>
                  <a:pt x="0" y="35687"/>
                </a:lnTo>
                <a:lnTo>
                  <a:pt x="10668000" y="35687"/>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89320"/>
            <a:ext cx="12193523" cy="868680"/>
          </a:xfrm>
          <a:prstGeom prst="rect">
            <a:avLst/>
          </a:prstGeom>
        </p:spPr>
      </p:pic>
      <p:sp>
        <p:nvSpPr>
          <p:cNvPr id="2" name="Holder 2"/>
          <p:cNvSpPr>
            <a:spLocks noGrp="1"/>
          </p:cNvSpPr>
          <p:nvPr>
            <p:ph type="title"/>
          </p:nvPr>
        </p:nvSpPr>
        <p:spPr>
          <a:xfrm>
            <a:off x="891946" y="283286"/>
            <a:ext cx="5189855" cy="533272"/>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a:xfrm>
            <a:off x="770636" y="1128217"/>
            <a:ext cx="10427970" cy="4763770"/>
          </a:xfrm>
          <a:prstGeom prst="rect">
            <a:avLst/>
          </a:prstGeom>
        </p:spPr>
        <p:txBody>
          <a:bodyPr wrap="square" lIns="0" tIns="0" rIns="0" bIns="0">
            <a:spAutoFit/>
          </a:bodyPr>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11/12/2025</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developer.mozilla.org/en-US/docs/Web/CSS" TargetMode="External"/><Relationship Id="rId3" Type="http://schemas.openxmlformats.org/officeDocument/2006/relationships/hyperlink" Target="https://www.postgresql.org/docs/" TargetMode="External"/><Relationship Id="rId7" Type="http://schemas.openxmlformats.org/officeDocument/2006/relationships/hyperlink" Target="https://developer.mozilla.org/en-US/docs/Web/HTML" TargetMode="External"/><Relationship Id="rId2" Type="http://schemas.openxmlformats.org/officeDocument/2006/relationships/hyperlink" Target="https://www.djangoproject.com/" TargetMode="External"/><Relationship Id="rId1" Type="http://schemas.openxmlformats.org/officeDocument/2006/relationships/slideLayout" Target="../slideLayouts/slideLayout2.xml"/><Relationship Id="rId6" Type="http://schemas.openxmlformats.org/officeDocument/2006/relationships/hyperlink" Target="https://developers.facebook.com/docs/graph-api/" TargetMode="External"/><Relationship Id="rId5" Type="http://schemas.openxmlformats.org/officeDocument/2006/relationships/hyperlink" Target="https://developer.twitter.com/en/docs/twitter-api" TargetMode="External"/><Relationship Id="rId4" Type="http://schemas.openxmlformats.org/officeDocument/2006/relationships/hyperlink" Target="https://docs.python.org/3/" TargetMode="External"/><Relationship Id="rId9" Type="http://schemas.openxmlformats.org/officeDocument/2006/relationships/hyperlink" Target="https://developer.mozilla.org/en-US/docs/Web/JavaScrip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705561" y="2774678"/>
          <a:ext cx="4495165" cy="283845"/>
        </p:xfrm>
        <a:graphic>
          <a:graphicData uri="http://schemas.openxmlformats.org/drawingml/2006/table">
            <a:tbl>
              <a:tblPr firstRow="1" bandRow="1">
                <a:tableStyleId>{2D5ABB26-0587-4C30-8999-92F81FD0307C}</a:tableStyleId>
              </a:tblPr>
              <a:tblGrid>
                <a:gridCol w="2138680">
                  <a:extLst>
                    <a:ext uri="{9D8B030D-6E8A-4147-A177-3AD203B41FA5}">
                      <a16:colId xmlns:a16="http://schemas.microsoft.com/office/drawing/2014/main" val="20000"/>
                    </a:ext>
                  </a:extLst>
                </a:gridCol>
                <a:gridCol w="2356485">
                  <a:extLst>
                    <a:ext uri="{9D8B030D-6E8A-4147-A177-3AD203B41FA5}">
                      <a16:colId xmlns:a16="http://schemas.microsoft.com/office/drawing/2014/main" val="20001"/>
                    </a:ext>
                  </a:extLst>
                </a:gridCol>
              </a:tblGrid>
              <a:tr h="283845">
                <a:tc>
                  <a:txBody>
                    <a:bodyPr/>
                    <a:lstStyle/>
                    <a:p>
                      <a:pPr marL="31750">
                        <a:lnSpc>
                          <a:spcPts val="2140"/>
                        </a:lnSpc>
                      </a:pPr>
                      <a:r>
                        <a:rPr sz="1900" b="1" spc="100" dirty="0">
                          <a:solidFill>
                            <a:srgbClr val="17365D"/>
                          </a:solidFill>
                          <a:latin typeface="Cambria"/>
                          <a:cs typeface="Cambria"/>
                        </a:rPr>
                        <a:t>Roll</a:t>
                      </a:r>
                      <a:r>
                        <a:rPr sz="1900" b="1" spc="220" dirty="0">
                          <a:solidFill>
                            <a:srgbClr val="17365D"/>
                          </a:solidFill>
                          <a:latin typeface="Cambria"/>
                          <a:cs typeface="Cambria"/>
                        </a:rPr>
                        <a:t> </a:t>
                      </a:r>
                      <a:r>
                        <a:rPr sz="1900" b="1" spc="80" dirty="0">
                          <a:solidFill>
                            <a:srgbClr val="17365D"/>
                          </a:solidFill>
                          <a:latin typeface="Cambria"/>
                          <a:cs typeface="Cambria"/>
                        </a:rPr>
                        <a:t>Number</a:t>
                      </a:r>
                      <a:endParaRPr sz="1900">
                        <a:latin typeface="Cambria"/>
                        <a:cs typeface="Cambria"/>
                      </a:endParaRPr>
                    </a:p>
                  </a:txBody>
                  <a:tcPr marL="0" marR="0" marT="0" marB="0"/>
                </a:tc>
                <a:tc>
                  <a:txBody>
                    <a:bodyPr/>
                    <a:lstStyle/>
                    <a:p>
                      <a:pPr marL="541655">
                        <a:lnSpc>
                          <a:spcPts val="2140"/>
                        </a:lnSpc>
                      </a:pPr>
                      <a:r>
                        <a:rPr sz="1900" b="1" spc="150" dirty="0">
                          <a:solidFill>
                            <a:srgbClr val="17365D"/>
                          </a:solidFill>
                          <a:latin typeface="Cambria"/>
                          <a:cs typeface="Cambria"/>
                        </a:rPr>
                        <a:t>Student</a:t>
                      </a:r>
                      <a:r>
                        <a:rPr sz="1900" b="1" spc="180" dirty="0">
                          <a:solidFill>
                            <a:srgbClr val="17365D"/>
                          </a:solidFill>
                          <a:latin typeface="Cambria"/>
                          <a:cs typeface="Cambria"/>
                        </a:rPr>
                        <a:t> </a:t>
                      </a:r>
                      <a:r>
                        <a:rPr sz="1900" b="1" spc="100" dirty="0">
                          <a:solidFill>
                            <a:srgbClr val="17365D"/>
                          </a:solidFill>
                          <a:latin typeface="Cambria"/>
                          <a:cs typeface="Cambria"/>
                        </a:rPr>
                        <a:t>Name</a:t>
                      </a:r>
                      <a:endParaRPr sz="1900">
                        <a:latin typeface="Cambria"/>
                        <a:cs typeface="Cambria"/>
                      </a:endParaRPr>
                    </a:p>
                  </a:txBody>
                  <a:tcPr marL="0" marR="0" marT="0" marB="0"/>
                </a:tc>
                <a:extLst>
                  <a:ext uri="{0D108BD9-81ED-4DB2-BD59-A6C34878D82A}">
                    <a16:rowId xmlns:a16="http://schemas.microsoft.com/office/drawing/2014/main" val="10000"/>
                  </a:ext>
                </a:extLst>
              </a:tr>
            </a:tbl>
          </a:graphicData>
        </a:graphic>
      </p:graphicFrame>
      <p:sp>
        <p:nvSpPr>
          <p:cNvPr id="3" name="object 3"/>
          <p:cNvSpPr txBox="1"/>
          <p:nvPr/>
        </p:nvSpPr>
        <p:spPr>
          <a:xfrm>
            <a:off x="78739" y="1163523"/>
            <a:ext cx="11357610" cy="4934043"/>
          </a:xfrm>
          <a:prstGeom prst="rect">
            <a:avLst/>
          </a:prstGeom>
        </p:spPr>
        <p:txBody>
          <a:bodyPr vert="horz" wrap="square" lIns="0" tIns="14605" rIns="0" bIns="0" rtlCol="0">
            <a:spAutoFit/>
          </a:bodyPr>
          <a:lstStyle/>
          <a:p>
            <a:pPr marL="1933575" marR="747395" indent="-750570" algn="ctr">
              <a:lnSpc>
                <a:spcPct val="100000"/>
              </a:lnSpc>
              <a:spcBef>
                <a:spcPts val="115"/>
              </a:spcBef>
            </a:pPr>
            <a:r>
              <a:rPr lang="en-US" sz="2400" b="1" dirty="0"/>
              <a:t>Fake Social Media Profile Detection </a:t>
            </a:r>
            <a:r>
              <a:rPr lang="en-US" sz="2400" b="1"/>
              <a:t>And Reporting</a:t>
            </a:r>
            <a:r>
              <a:rPr lang="en-US" sz="2400" b="1" spc="-10">
                <a:latin typeface="Cambria"/>
                <a:cs typeface="Cambria"/>
              </a:rPr>
              <a:t> </a:t>
            </a:r>
            <a:endParaRPr lang="en-US" sz="2400" b="1" dirty="0">
              <a:latin typeface="Cambria"/>
              <a:cs typeface="Cambria"/>
            </a:endParaRPr>
          </a:p>
          <a:p>
            <a:pPr marL="649605">
              <a:lnSpc>
                <a:spcPct val="100000"/>
              </a:lnSpc>
              <a:spcBef>
                <a:spcPts val="1300"/>
              </a:spcBef>
            </a:pPr>
            <a:r>
              <a:rPr sz="1800" b="1" dirty="0">
                <a:solidFill>
                  <a:srgbClr val="17365D"/>
                </a:solidFill>
                <a:latin typeface="Cambria"/>
                <a:cs typeface="Cambria"/>
              </a:rPr>
              <a:t>Batch</a:t>
            </a:r>
            <a:r>
              <a:rPr sz="1800" b="1" spc="-25" dirty="0">
                <a:solidFill>
                  <a:srgbClr val="17365D"/>
                </a:solidFill>
                <a:latin typeface="Cambria"/>
                <a:cs typeface="Cambria"/>
              </a:rPr>
              <a:t> </a:t>
            </a:r>
            <a:r>
              <a:rPr sz="1800" b="1" dirty="0">
                <a:solidFill>
                  <a:srgbClr val="17365D"/>
                </a:solidFill>
                <a:latin typeface="Cambria"/>
                <a:cs typeface="Cambria"/>
              </a:rPr>
              <a:t>Number:</a:t>
            </a:r>
            <a:r>
              <a:rPr sz="1800" b="1" spc="-45" dirty="0">
                <a:solidFill>
                  <a:srgbClr val="17365D"/>
                </a:solidFill>
                <a:latin typeface="Cambria"/>
                <a:cs typeface="Cambria"/>
              </a:rPr>
              <a:t> </a:t>
            </a:r>
            <a:r>
              <a:rPr sz="1550" b="1" spc="-10" dirty="0">
                <a:solidFill>
                  <a:srgbClr val="17365D"/>
                </a:solidFill>
                <a:latin typeface="Verdana"/>
                <a:cs typeface="Verdana"/>
              </a:rPr>
              <a:t>CCS_</a:t>
            </a:r>
            <a:r>
              <a:rPr lang="en-US" sz="1550" b="1" spc="-10" dirty="0">
                <a:solidFill>
                  <a:srgbClr val="17365D"/>
                </a:solidFill>
                <a:latin typeface="Verdana"/>
                <a:cs typeface="Verdana"/>
              </a:rPr>
              <a:t>23</a:t>
            </a:r>
            <a:endParaRPr sz="1550" dirty="0">
              <a:latin typeface="Verdana"/>
              <a:cs typeface="Verdana"/>
            </a:endParaRPr>
          </a:p>
          <a:p>
            <a:pPr marL="6964680">
              <a:lnSpc>
                <a:spcPct val="100000"/>
              </a:lnSpc>
              <a:spcBef>
                <a:spcPts val="1630"/>
              </a:spcBef>
            </a:pPr>
            <a:r>
              <a:rPr sz="1800" b="1" dirty="0">
                <a:solidFill>
                  <a:srgbClr val="17365D"/>
                </a:solidFill>
                <a:latin typeface="Cambria"/>
                <a:cs typeface="Cambria"/>
              </a:rPr>
              <a:t>Under</a:t>
            </a:r>
            <a:r>
              <a:rPr sz="1800" b="1" spc="-35" dirty="0">
                <a:solidFill>
                  <a:srgbClr val="17365D"/>
                </a:solidFill>
                <a:latin typeface="Cambria"/>
                <a:cs typeface="Cambria"/>
              </a:rPr>
              <a:t> </a:t>
            </a:r>
            <a:r>
              <a:rPr sz="1800" b="1" dirty="0">
                <a:solidFill>
                  <a:srgbClr val="17365D"/>
                </a:solidFill>
                <a:latin typeface="Cambria"/>
                <a:cs typeface="Cambria"/>
              </a:rPr>
              <a:t>the</a:t>
            </a:r>
            <a:r>
              <a:rPr sz="1800" b="1" spc="25" dirty="0">
                <a:solidFill>
                  <a:srgbClr val="17365D"/>
                </a:solidFill>
                <a:latin typeface="Cambria"/>
                <a:cs typeface="Cambria"/>
              </a:rPr>
              <a:t> </a:t>
            </a:r>
            <a:r>
              <a:rPr sz="1800" b="1" spc="-10" dirty="0">
                <a:solidFill>
                  <a:srgbClr val="17365D"/>
                </a:solidFill>
                <a:latin typeface="Cambria"/>
                <a:cs typeface="Cambria"/>
              </a:rPr>
              <a:t>Supervision</a:t>
            </a:r>
            <a:r>
              <a:rPr sz="1800" b="1" spc="-75"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980"/>
              </a:spcBef>
            </a:pPr>
            <a:endParaRPr sz="1800" dirty="0">
              <a:latin typeface="Cambria"/>
              <a:cs typeface="Cambria"/>
            </a:endParaRPr>
          </a:p>
          <a:p>
            <a:pPr marL="6964680">
              <a:lnSpc>
                <a:spcPct val="100000"/>
              </a:lnSpc>
            </a:pPr>
            <a:r>
              <a:rPr sz="1700" b="1" dirty="0">
                <a:solidFill>
                  <a:srgbClr val="17365D"/>
                </a:solidFill>
                <a:latin typeface="Cambria"/>
                <a:cs typeface="Cambria"/>
              </a:rPr>
              <a:t>Guide</a:t>
            </a:r>
            <a:r>
              <a:rPr sz="1700" b="1" spc="-35" dirty="0">
                <a:solidFill>
                  <a:srgbClr val="17365D"/>
                </a:solidFill>
                <a:latin typeface="Cambria"/>
                <a:cs typeface="Cambria"/>
              </a:rPr>
              <a:t> </a:t>
            </a:r>
            <a:r>
              <a:rPr lang="en-IN" sz="1700" b="1" dirty="0">
                <a:solidFill>
                  <a:srgbClr val="17365D"/>
                </a:solidFill>
                <a:latin typeface="Cambria"/>
                <a:cs typeface="Cambria"/>
              </a:rPr>
              <a:t>–</a:t>
            </a:r>
            <a:r>
              <a:rPr sz="1700" b="1" spc="-30" dirty="0">
                <a:solidFill>
                  <a:srgbClr val="17365D"/>
                </a:solidFill>
                <a:latin typeface="Cambria"/>
                <a:cs typeface="Cambria"/>
              </a:rPr>
              <a:t> </a:t>
            </a:r>
            <a:r>
              <a:rPr lang="en-US" sz="1700" b="1" spc="-30" dirty="0">
                <a:solidFill>
                  <a:srgbClr val="17365D"/>
                </a:solidFill>
                <a:latin typeface="Cambria"/>
                <a:cs typeface="Cambria"/>
              </a:rPr>
              <a:t>MS. Sterlin Minish T N (Assistant Professor)</a:t>
            </a:r>
            <a:endParaRPr sz="1700" dirty="0">
              <a:latin typeface="Cambria"/>
              <a:cs typeface="Cambria"/>
            </a:endParaRPr>
          </a:p>
          <a:p>
            <a:pPr marL="6964680">
              <a:lnSpc>
                <a:spcPct val="100000"/>
              </a:lnSpc>
              <a:spcBef>
                <a:spcPts val="305"/>
              </a:spcBef>
            </a:pPr>
            <a:r>
              <a:rPr sz="1700" b="1" dirty="0">
                <a:solidFill>
                  <a:srgbClr val="17365D"/>
                </a:solidFill>
                <a:latin typeface="Cambria"/>
                <a:cs typeface="Cambria"/>
              </a:rPr>
              <a:t>School</a:t>
            </a:r>
            <a:r>
              <a:rPr sz="1700" b="1" spc="-45" dirty="0">
                <a:solidFill>
                  <a:srgbClr val="17365D"/>
                </a:solidFill>
                <a:latin typeface="Cambria"/>
                <a:cs typeface="Cambria"/>
              </a:rPr>
              <a:t> </a:t>
            </a:r>
            <a:r>
              <a:rPr sz="1700" b="1" dirty="0">
                <a:solidFill>
                  <a:srgbClr val="17365D"/>
                </a:solidFill>
                <a:latin typeface="Cambria"/>
                <a:cs typeface="Cambria"/>
              </a:rPr>
              <a:t>of</a:t>
            </a:r>
            <a:r>
              <a:rPr sz="1700" b="1" spc="-35" dirty="0">
                <a:solidFill>
                  <a:srgbClr val="17365D"/>
                </a:solidFill>
                <a:latin typeface="Cambria"/>
                <a:cs typeface="Cambria"/>
              </a:rPr>
              <a:t> </a:t>
            </a:r>
            <a:r>
              <a:rPr sz="1700" b="1" spc="-10" dirty="0">
                <a:solidFill>
                  <a:srgbClr val="17365D"/>
                </a:solidFill>
                <a:latin typeface="Cambria"/>
                <a:cs typeface="Cambria"/>
              </a:rPr>
              <a:t>Computer</a:t>
            </a:r>
            <a:r>
              <a:rPr sz="1700" b="1" spc="-50" dirty="0">
                <a:solidFill>
                  <a:srgbClr val="17365D"/>
                </a:solidFill>
                <a:latin typeface="Cambria"/>
                <a:cs typeface="Cambria"/>
              </a:rPr>
              <a:t> </a:t>
            </a:r>
            <a:r>
              <a:rPr sz="1700" b="1" dirty="0">
                <a:solidFill>
                  <a:srgbClr val="17365D"/>
                </a:solidFill>
                <a:latin typeface="Cambria"/>
                <a:cs typeface="Cambria"/>
              </a:rPr>
              <a:t>Science</a:t>
            </a:r>
            <a:r>
              <a:rPr sz="1700" b="1" spc="5" dirty="0">
                <a:solidFill>
                  <a:srgbClr val="17365D"/>
                </a:solidFill>
                <a:latin typeface="Cambria"/>
                <a:cs typeface="Cambria"/>
              </a:rPr>
              <a:t> </a:t>
            </a:r>
            <a:r>
              <a:rPr sz="1700" b="1" dirty="0">
                <a:solidFill>
                  <a:srgbClr val="17365D"/>
                </a:solidFill>
                <a:latin typeface="Cambria"/>
                <a:cs typeface="Cambria"/>
              </a:rPr>
              <a:t>and</a:t>
            </a:r>
            <a:r>
              <a:rPr sz="1700" b="1" spc="-30" dirty="0">
                <a:solidFill>
                  <a:srgbClr val="17365D"/>
                </a:solidFill>
                <a:latin typeface="Cambria"/>
                <a:cs typeface="Cambria"/>
              </a:rPr>
              <a:t> </a:t>
            </a:r>
            <a:r>
              <a:rPr sz="1700" b="1" spc="-10" dirty="0">
                <a:solidFill>
                  <a:srgbClr val="17365D"/>
                </a:solidFill>
                <a:latin typeface="Cambria"/>
                <a:cs typeface="Cambria"/>
              </a:rPr>
              <a:t>Engineering</a:t>
            </a:r>
            <a:endParaRPr sz="1700" dirty="0">
              <a:latin typeface="Cambria"/>
              <a:cs typeface="Cambria"/>
            </a:endParaRPr>
          </a:p>
          <a:p>
            <a:pPr marL="6964680">
              <a:lnSpc>
                <a:spcPct val="100000"/>
              </a:lnSpc>
              <a:spcBef>
                <a:spcPts val="300"/>
              </a:spcBef>
            </a:pPr>
            <a:r>
              <a:rPr sz="1700" b="1" dirty="0">
                <a:solidFill>
                  <a:srgbClr val="17365D"/>
                </a:solidFill>
                <a:latin typeface="Cambria"/>
                <a:cs typeface="Cambria"/>
              </a:rPr>
              <a:t>Presidency</a:t>
            </a:r>
            <a:r>
              <a:rPr sz="1700" b="1" spc="-90" dirty="0">
                <a:solidFill>
                  <a:srgbClr val="17365D"/>
                </a:solidFill>
                <a:latin typeface="Cambria"/>
                <a:cs typeface="Cambria"/>
              </a:rPr>
              <a:t> </a:t>
            </a:r>
            <a:r>
              <a:rPr sz="1700" b="1" spc="-10" dirty="0">
                <a:solidFill>
                  <a:srgbClr val="17365D"/>
                </a:solidFill>
                <a:latin typeface="Cambria"/>
                <a:cs typeface="Cambria"/>
              </a:rPr>
              <a:t>University</a:t>
            </a:r>
            <a:endParaRPr sz="1700" dirty="0">
              <a:latin typeface="Cambria"/>
              <a:cs typeface="Cambria"/>
            </a:endParaRPr>
          </a:p>
          <a:p>
            <a:pPr marL="6964680">
              <a:lnSpc>
                <a:spcPct val="100000"/>
              </a:lnSpc>
              <a:spcBef>
                <a:spcPts val="300"/>
              </a:spcBef>
            </a:pPr>
            <a:r>
              <a:rPr sz="1700" b="1" dirty="0">
                <a:solidFill>
                  <a:srgbClr val="17365D"/>
                </a:solidFill>
                <a:latin typeface="Cambria"/>
                <a:cs typeface="Cambria"/>
              </a:rPr>
              <a:t>(</a:t>
            </a:r>
            <a:r>
              <a:rPr sz="1700" b="1" spc="-50" dirty="0">
                <a:solidFill>
                  <a:srgbClr val="17365D"/>
                </a:solidFill>
                <a:latin typeface="Cambria"/>
                <a:cs typeface="Cambria"/>
              </a:rPr>
              <a:t> </a:t>
            </a:r>
            <a:r>
              <a:rPr sz="1700" b="1" dirty="0">
                <a:solidFill>
                  <a:srgbClr val="17365D"/>
                </a:solidFill>
                <a:latin typeface="Cambria"/>
                <a:cs typeface="Cambria"/>
              </a:rPr>
              <a:t>Cyber</a:t>
            </a:r>
            <a:r>
              <a:rPr sz="1700" b="1" spc="-60" dirty="0">
                <a:solidFill>
                  <a:srgbClr val="17365D"/>
                </a:solidFill>
                <a:latin typeface="Cambria"/>
                <a:cs typeface="Cambria"/>
              </a:rPr>
              <a:t> </a:t>
            </a:r>
            <a:r>
              <a:rPr sz="1700" b="1" dirty="0">
                <a:solidFill>
                  <a:srgbClr val="17365D"/>
                </a:solidFill>
                <a:latin typeface="Cambria"/>
                <a:cs typeface="Cambria"/>
              </a:rPr>
              <a:t>Security</a:t>
            </a:r>
            <a:r>
              <a:rPr sz="1700" b="1" spc="-35" dirty="0">
                <a:solidFill>
                  <a:srgbClr val="17365D"/>
                </a:solidFill>
                <a:latin typeface="Cambria"/>
                <a:cs typeface="Cambria"/>
              </a:rPr>
              <a:t> </a:t>
            </a:r>
            <a:r>
              <a:rPr sz="1700" b="1" spc="-50" dirty="0">
                <a:solidFill>
                  <a:srgbClr val="17365D"/>
                </a:solidFill>
                <a:latin typeface="Cambria"/>
                <a:cs typeface="Cambria"/>
              </a:rPr>
              <a:t>)</a:t>
            </a:r>
            <a:endParaRPr sz="1700" dirty="0">
              <a:latin typeface="Cambria"/>
              <a:cs typeface="Cambria"/>
            </a:endParaRPr>
          </a:p>
          <a:p>
            <a:pPr marL="12700">
              <a:lnSpc>
                <a:spcPct val="100000"/>
              </a:lnSpc>
              <a:spcBef>
                <a:spcPts val="1605"/>
              </a:spcBef>
            </a:pPr>
            <a:endParaRPr lang="en-US" sz="1800" b="1" dirty="0">
              <a:solidFill>
                <a:srgbClr val="4F81BC"/>
              </a:solidFill>
              <a:latin typeface="Cambria"/>
              <a:cs typeface="Cambria"/>
            </a:endParaRPr>
          </a:p>
          <a:p>
            <a:pPr marL="12700">
              <a:lnSpc>
                <a:spcPct val="100000"/>
              </a:lnSpc>
              <a:spcBef>
                <a:spcPts val="1605"/>
              </a:spcBef>
            </a:pPr>
            <a:r>
              <a:rPr sz="1800" b="1" dirty="0">
                <a:solidFill>
                  <a:srgbClr val="4F81BC"/>
                </a:solidFill>
                <a:latin typeface="Cambria"/>
                <a:cs typeface="Cambria"/>
              </a:rPr>
              <a:t>Name</a:t>
            </a:r>
            <a:r>
              <a:rPr sz="1800" b="1" spc="-50"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50" dirty="0">
                <a:solidFill>
                  <a:srgbClr val="4F81BC"/>
                </a:solidFill>
                <a:latin typeface="Cambria"/>
                <a:cs typeface="Cambria"/>
              </a:rPr>
              <a:t> </a:t>
            </a:r>
            <a:r>
              <a:rPr sz="1800" b="1" spc="-10" dirty="0">
                <a:solidFill>
                  <a:srgbClr val="4F81BC"/>
                </a:solidFill>
                <a:latin typeface="Cambria"/>
                <a:cs typeface="Cambria"/>
              </a:rPr>
              <a:t>Program:</a:t>
            </a:r>
            <a:endParaRPr sz="1800" dirty="0">
              <a:latin typeface="Cambria"/>
              <a:cs typeface="Cambria"/>
            </a:endParaRPr>
          </a:p>
          <a:p>
            <a:pPr marL="12700">
              <a:lnSpc>
                <a:spcPct val="100000"/>
              </a:lnSpc>
            </a:pPr>
            <a:r>
              <a:rPr sz="1800" b="1" dirty="0">
                <a:solidFill>
                  <a:srgbClr val="4F81BC"/>
                </a:solidFill>
                <a:latin typeface="Cambria"/>
                <a:cs typeface="Cambria"/>
              </a:rPr>
              <a:t>Name</a:t>
            </a:r>
            <a:r>
              <a:rPr sz="1800" b="1" spc="-50"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HoD:</a:t>
            </a:r>
            <a:r>
              <a:rPr sz="1800" b="1" spc="25" dirty="0">
                <a:solidFill>
                  <a:srgbClr val="4F81BC"/>
                </a:solidFill>
                <a:latin typeface="Cambria"/>
                <a:cs typeface="Cambria"/>
              </a:rPr>
              <a:t> </a:t>
            </a:r>
            <a:r>
              <a:rPr sz="1800" b="1" dirty="0">
                <a:latin typeface="Arial"/>
                <a:cs typeface="Arial"/>
              </a:rPr>
              <a:t>Dr.</a:t>
            </a:r>
            <a:r>
              <a:rPr sz="1800" b="1" spc="-30" dirty="0">
                <a:latin typeface="Arial"/>
                <a:cs typeface="Arial"/>
              </a:rPr>
              <a:t> </a:t>
            </a:r>
            <a:r>
              <a:rPr sz="1800" b="1" dirty="0">
                <a:latin typeface="Arial"/>
                <a:cs typeface="Arial"/>
              </a:rPr>
              <a:t>Anandaraj</a:t>
            </a:r>
            <a:r>
              <a:rPr sz="1800" b="1" spc="40" dirty="0">
                <a:latin typeface="Arial"/>
                <a:cs typeface="Arial"/>
              </a:rPr>
              <a:t> </a:t>
            </a:r>
            <a:r>
              <a:rPr sz="1800" b="1" spc="-25" dirty="0">
                <a:latin typeface="Arial"/>
                <a:cs typeface="Arial"/>
              </a:rPr>
              <a:t>S.P</a:t>
            </a:r>
            <a:endParaRPr sz="1800" dirty="0">
              <a:latin typeface="Arial"/>
              <a:cs typeface="Arial"/>
            </a:endParaRPr>
          </a:p>
          <a:p>
            <a:pPr marL="12700">
              <a:lnSpc>
                <a:spcPct val="100000"/>
              </a:lnSpc>
              <a:spcBef>
                <a:spcPts val="5"/>
              </a:spcBef>
            </a:pPr>
            <a:r>
              <a:rPr sz="1800" b="1" dirty="0">
                <a:solidFill>
                  <a:srgbClr val="4F81BC"/>
                </a:solidFill>
                <a:latin typeface="Cambria"/>
                <a:cs typeface="Cambria"/>
              </a:rPr>
              <a:t>Name</a:t>
            </a:r>
            <a:r>
              <a:rPr sz="1800" b="1" spc="-70" dirty="0">
                <a:solidFill>
                  <a:srgbClr val="4F81BC"/>
                </a:solidFill>
                <a:latin typeface="Cambria"/>
                <a:cs typeface="Cambria"/>
              </a:rPr>
              <a:t> </a:t>
            </a:r>
            <a:r>
              <a:rPr sz="1800" b="1" dirty="0">
                <a:solidFill>
                  <a:srgbClr val="4F81BC"/>
                </a:solidFill>
                <a:latin typeface="Cambria"/>
                <a:cs typeface="Cambria"/>
              </a:rPr>
              <a:t>of</a:t>
            </a:r>
            <a:r>
              <a:rPr sz="1800" b="1" spc="-25" dirty="0">
                <a:solidFill>
                  <a:srgbClr val="4F81BC"/>
                </a:solidFill>
                <a:latin typeface="Cambria"/>
                <a:cs typeface="Cambria"/>
              </a:rPr>
              <a:t> </a:t>
            </a:r>
            <a:r>
              <a:rPr sz="1800" b="1" dirty="0">
                <a:solidFill>
                  <a:srgbClr val="4F81BC"/>
                </a:solidFill>
                <a:latin typeface="Cambria"/>
                <a:cs typeface="Cambria"/>
              </a:rPr>
              <a:t>the</a:t>
            </a:r>
            <a:r>
              <a:rPr sz="1800" b="1" spc="-65" dirty="0">
                <a:solidFill>
                  <a:srgbClr val="4F81BC"/>
                </a:solidFill>
                <a:latin typeface="Cambria"/>
                <a:cs typeface="Cambria"/>
              </a:rPr>
              <a:t> </a:t>
            </a:r>
            <a:r>
              <a:rPr sz="1800" b="1" dirty="0">
                <a:solidFill>
                  <a:srgbClr val="4F81BC"/>
                </a:solidFill>
                <a:latin typeface="Cambria"/>
                <a:cs typeface="Cambria"/>
              </a:rPr>
              <a:t>Program</a:t>
            </a:r>
            <a:r>
              <a:rPr sz="1800" b="1" spc="-30" dirty="0">
                <a:solidFill>
                  <a:srgbClr val="4F81BC"/>
                </a:solidFill>
                <a:latin typeface="Cambria"/>
                <a:cs typeface="Cambria"/>
              </a:rPr>
              <a:t> </a:t>
            </a:r>
            <a:r>
              <a:rPr sz="1800" b="1" dirty="0">
                <a:solidFill>
                  <a:srgbClr val="4F81BC"/>
                </a:solidFill>
                <a:latin typeface="Cambria"/>
                <a:cs typeface="Cambria"/>
              </a:rPr>
              <a:t>Project</a:t>
            </a:r>
            <a:r>
              <a:rPr sz="1800" b="1" spc="-50" dirty="0">
                <a:solidFill>
                  <a:srgbClr val="4F81BC"/>
                </a:solidFill>
                <a:latin typeface="Cambria"/>
                <a:cs typeface="Cambria"/>
              </a:rPr>
              <a:t> </a:t>
            </a:r>
            <a:r>
              <a:rPr sz="1800" b="1" dirty="0">
                <a:solidFill>
                  <a:srgbClr val="4F81BC"/>
                </a:solidFill>
                <a:latin typeface="Cambria"/>
                <a:cs typeface="Cambria"/>
              </a:rPr>
              <a:t>Coordinator:</a:t>
            </a:r>
            <a:r>
              <a:rPr sz="1800" b="1" spc="20" dirty="0">
                <a:solidFill>
                  <a:srgbClr val="4F81BC"/>
                </a:solidFill>
                <a:latin typeface="Cambria"/>
                <a:cs typeface="Cambria"/>
              </a:rPr>
              <a:t> </a:t>
            </a:r>
            <a:r>
              <a:rPr sz="1800" b="1" dirty="0">
                <a:latin typeface="Arial"/>
                <a:cs typeface="Arial"/>
              </a:rPr>
              <a:t>Dr.</a:t>
            </a:r>
            <a:r>
              <a:rPr sz="1800" b="1" spc="-20" dirty="0">
                <a:latin typeface="Arial"/>
                <a:cs typeface="Arial"/>
              </a:rPr>
              <a:t> </a:t>
            </a:r>
            <a:r>
              <a:rPr sz="1800" b="1" dirty="0">
                <a:latin typeface="Arial"/>
                <a:cs typeface="Arial"/>
              </a:rPr>
              <a:t>Sharmasth</a:t>
            </a:r>
            <a:r>
              <a:rPr sz="1800" b="1" spc="-25" dirty="0">
                <a:latin typeface="Arial"/>
                <a:cs typeface="Arial"/>
              </a:rPr>
              <a:t> </a:t>
            </a:r>
            <a:r>
              <a:rPr sz="1800" b="1" spc="-20" dirty="0">
                <a:latin typeface="Arial"/>
                <a:cs typeface="Arial"/>
              </a:rPr>
              <a:t>Vali</a:t>
            </a:r>
            <a:endParaRPr sz="1800" dirty="0">
              <a:latin typeface="Arial"/>
              <a:cs typeface="Arial"/>
            </a:endParaRPr>
          </a:p>
          <a:p>
            <a:pPr marL="12700">
              <a:lnSpc>
                <a:spcPct val="100000"/>
              </a:lnSpc>
            </a:pPr>
            <a:r>
              <a:rPr sz="1800" b="1" dirty="0">
                <a:solidFill>
                  <a:srgbClr val="4F81BC"/>
                </a:solidFill>
                <a:latin typeface="Cambria"/>
                <a:cs typeface="Cambria"/>
              </a:rPr>
              <a:t>Name</a:t>
            </a:r>
            <a:r>
              <a:rPr sz="1800" b="1" spc="-45"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School</a:t>
            </a:r>
            <a:r>
              <a:rPr sz="1800" b="1" spc="35" dirty="0">
                <a:solidFill>
                  <a:srgbClr val="4F81BC"/>
                </a:solidFill>
                <a:latin typeface="Cambria"/>
                <a:cs typeface="Cambria"/>
              </a:rPr>
              <a:t> </a:t>
            </a:r>
            <a:r>
              <a:rPr sz="1800" b="1" dirty="0">
                <a:solidFill>
                  <a:srgbClr val="4F81BC"/>
                </a:solidFill>
                <a:latin typeface="Cambria"/>
                <a:cs typeface="Cambria"/>
              </a:rPr>
              <a:t>Project Coordinators:</a:t>
            </a:r>
            <a:r>
              <a:rPr sz="1800" b="1" spc="10" dirty="0">
                <a:solidFill>
                  <a:srgbClr val="4F81BC"/>
                </a:solidFill>
                <a:latin typeface="Cambria"/>
                <a:cs typeface="Cambria"/>
              </a:rPr>
              <a:t> </a:t>
            </a:r>
            <a:r>
              <a:rPr sz="1800" b="1" dirty="0">
                <a:latin typeface="Cambria"/>
                <a:cs typeface="Cambria"/>
              </a:rPr>
              <a:t>Dr.</a:t>
            </a:r>
            <a:r>
              <a:rPr sz="1800" b="1" spc="-10" dirty="0">
                <a:latin typeface="Cambria"/>
                <a:cs typeface="Cambria"/>
              </a:rPr>
              <a:t> </a:t>
            </a:r>
            <a:r>
              <a:rPr sz="1800" b="1" dirty="0">
                <a:latin typeface="Cambria"/>
                <a:cs typeface="Cambria"/>
              </a:rPr>
              <a:t>Sampath</a:t>
            </a:r>
            <a:r>
              <a:rPr sz="1800" b="1" spc="-45" dirty="0">
                <a:latin typeface="Cambria"/>
                <a:cs typeface="Cambria"/>
              </a:rPr>
              <a:t> </a:t>
            </a:r>
            <a:r>
              <a:rPr sz="1800" b="1" dirty="0">
                <a:latin typeface="Cambria"/>
                <a:cs typeface="Cambria"/>
              </a:rPr>
              <a:t>A</a:t>
            </a:r>
            <a:r>
              <a:rPr sz="1800" b="1" spc="-15" dirty="0">
                <a:latin typeface="Cambria"/>
                <a:cs typeface="Cambria"/>
              </a:rPr>
              <a:t> </a:t>
            </a:r>
            <a:r>
              <a:rPr sz="1800" b="1" dirty="0">
                <a:latin typeface="Cambria"/>
                <a:cs typeface="Cambria"/>
              </a:rPr>
              <a:t>K</a:t>
            </a:r>
            <a:r>
              <a:rPr sz="1800" b="1" spc="-25" dirty="0">
                <a:latin typeface="Cambria"/>
                <a:cs typeface="Cambria"/>
              </a:rPr>
              <a:t> </a:t>
            </a:r>
            <a:r>
              <a:rPr sz="1800" b="1" dirty="0">
                <a:latin typeface="Cambria"/>
                <a:cs typeface="Cambria"/>
              </a:rPr>
              <a:t>,</a:t>
            </a:r>
            <a:r>
              <a:rPr sz="1800" b="1" spc="-45" dirty="0">
                <a:latin typeface="Cambria"/>
                <a:cs typeface="Cambria"/>
              </a:rPr>
              <a:t> </a:t>
            </a:r>
            <a:r>
              <a:rPr sz="1800" b="1" dirty="0">
                <a:latin typeface="Cambria"/>
                <a:cs typeface="Cambria"/>
              </a:rPr>
              <a:t>Dr.</a:t>
            </a:r>
            <a:r>
              <a:rPr sz="1800" b="1" spc="-5" dirty="0">
                <a:latin typeface="Cambria"/>
                <a:cs typeface="Cambria"/>
              </a:rPr>
              <a:t> </a:t>
            </a:r>
            <a:r>
              <a:rPr sz="1800" b="1" dirty="0">
                <a:latin typeface="Cambria"/>
                <a:cs typeface="Cambria"/>
              </a:rPr>
              <a:t>Geetha</a:t>
            </a:r>
            <a:r>
              <a:rPr sz="1800" b="1" spc="-40" dirty="0">
                <a:latin typeface="Cambria"/>
                <a:cs typeface="Cambria"/>
              </a:rPr>
              <a:t> </a:t>
            </a:r>
            <a:r>
              <a:rPr sz="1800" b="1" spc="-50" dirty="0">
                <a:latin typeface="Cambria"/>
                <a:cs typeface="Cambria"/>
              </a:rPr>
              <a:t>A</a:t>
            </a:r>
            <a:endParaRPr sz="1800" dirty="0">
              <a:latin typeface="Cambria"/>
              <a:cs typeface="Cambria"/>
            </a:endParaRPr>
          </a:p>
        </p:txBody>
      </p:sp>
      <p:sp>
        <p:nvSpPr>
          <p:cNvPr id="4" name="object 4"/>
          <p:cNvSpPr txBox="1">
            <a:spLocks noGrp="1"/>
          </p:cNvSpPr>
          <p:nvPr>
            <p:ph type="title"/>
          </p:nvPr>
        </p:nvSpPr>
        <p:spPr>
          <a:xfrm>
            <a:off x="4161282" y="128076"/>
            <a:ext cx="2848610" cy="617348"/>
          </a:xfrm>
          <a:prstGeom prst="rect">
            <a:avLst/>
          </a:prstGeom>
        </p:spPr>
        <p:txBody>
          <a:bodyPr vert="horz" wrap="square" lIns="0" tIns="12065" rIns="0" bIns="0" rtlCol="0">
            <a:spAutoFit/>
          </a:bodyPr>
          <a:lstStyle/>
          <a:p>
            <a:pPr marL="927100" marR="5080" indent="-915035">
              <a:lnSpc>
                <a:spcPct val="113500"/>
              </a:lnSpc>
              <a:spcBef>
                <a:spcPts val="95"/>
              </a:spcBef>
            </a:pPr>
            <a:r>
              <a:rPr sz="1800" dirty="0"/>
              <a:t>CSE7101-</a:t>
            </a:r>
            <a:r>
              <a:rPr sz="1800" spc="-80" dirty="0"/>
              <a:t> </a:t>
            </a:r>
            <a:r>
              <a:rPr sz="1800" dirty="0"/>
              <a:t>Capstone</a:t>
            </a:r>
            <a:r>
              <a:rPr sz="1800" spc="-30" dirty="0"/>
              <a:t> </a:t>
            </a:r>
            <a:r>
              <a:rPr sz="1800" spc="-10" dirty="0"/>
              <a:t>Project </a:t>
            </a:r>
            <a:r>
              <a:rPr sz="1800" dirty="0"/>
              <a:t>Review-</a:t>
            </a:r>
            <a:r>
              <a:rPr lang="en-US" sz="1800" spc="-50" dirty="0"/>
              <a:t>4</a:t>
            </a:r>
            <a:endParaRPr sz="1800" dirty="0"/>
          </a:p>
        </p:txBody>
      </p:sp>
      <p:graphicFrame>
        <p:nvGraphicFramePr>
          <p:cNvPr id="5" name="object 5"/>
          <p:cNvGraphicFramePr>
            <a:graphicFrameLocks noGrp="1"/>
          </p:cNvGraphicFramePr>
          <p:nvPr>
            <p:extLst>
              <p:ext uri="{D42A27DB-BD31-4B8C-83A1-F6EECF244321}">
                <p14:modId xmlns:p14="http://schemas.microsoft.com/office/powerpoint/2010/main" val="1288320849"/>
              </p:ext>
            </p:extLst>
          </p:nvPr>
        </p:nvGraphicFramePr>
        <p:xfrm>
          <a:off x="665556" y="3180460"/>
          <a:ext cx="4627880" cy="1111250"/>
        </p:xfrm>
        <a:graphic>
          <a:graphicData uri="http://schemas.openxmlformats.org/drawingml/2006/table">
            <a:tbl>
              <a:tblPr firstRow="1" bandRow="1">
                <a:tableStyleId>{2D5ABB26-0587-4C30-8999-92F81FD0307C}</a:tableStyleId>
              </a:tblPr>
              <a:tblGrid>
                <a:gridCol w="2313940">
                  <a:extLst>
                    <a:ext uri="{9D8B030D-6E8A-4147-A177-3AD203B41FA5}">
                      <a16:colId xmlns:a16="http://schemas.microsoft.com/office/drawing/2014/main" val="20000"/>
                    </a:ext>
                  </a:extLst>
                </a:gridCol>
                <a:gridCol w="2313940">
                  <a:extLst>
                    <a:ext uri="{9D8B030D-6E8A-4147-A177-3AD203B41FA5}">
                      <a16:colId xmlns:a16="http://schemas.microsoft.com/office/drawing/2014/main" val="20001"/>
                    </a:ext>
                  </a:extLst>
                </a:gridCol>
              </a:tblGrid>
              <a:tr h="370205">
                <a:tc>
                  <a:txBody>
                    <a:bodyPr/>
                    <a:lstStyle/>
                    <a:p>
                      <a:pPr marL="91440">
                        <a:lnSpc>
                          <a:spcPct val="100000"/>
                        </a:lnSpc>
                        <a:spcBef>
                          <a:spcPts val="345"/>
                        </a:spcBef>
                      </a:pPr>
                      <a:r>
                        <a:rPr lang="en-IN" sz="1400" dirty="0">
                          <a:latin typeface="Arial MT"/>
                          <a:cs typeface="Arial MT"/>
                        </a:rPr>
                        <a:t>20221CCS0012</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45"/>
                        </a:spcBef>
                      </a:pPr>
                      <a:r>
                        <a:rPr lang="en-US" sz="1400" dirty="0">
                          <a:latin typeface="Arial MT"/>
                          <a:cs typeface="Arial MT"/>
                        </a:rPr>
                        <a:t>Siddharth</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marL="91440">
                        <a:lnSpc>
                          <a:spcPct val="100000"/>
                        </a:lnSpc>
                        <a:spcBef>
                          <a:spcPts val="345"/>
                        </a:spcBef>
                      </a:pPr>
                      <a:r>
                        <a:rPr lang="en-US" sz="1400" spc="-10" dirty="0">
                          <a:latin typeface="Arial MT"/>
                          <a:cs typeface="Arial MT"/>
                        </a:rPr>
                        <a:t>20221CCS0036</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45"/>
                        </a:spcBef>
                      </a:pPr>
                      <a:r>
                        <a:rPr lang="en-US" sz="1400" dirty="0">
                          <a:latin typeface="Arial MT"/>
                          <a:cs typeface="Arial MT"/>
                        </a:rPr>
                        <a:t>Chinmay</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marL="91440">
                        <a:lnSpc>
                          <a:spcPct val="100000"/>
                        </a:lnSpc>
                        <a:spcBef>
                          <a:spcPts val="350"/>
                        </a:spcBef>
                      </a:pPr>
                      <a:r>
                        <a:rPr lang="en-US" sz="1400" spc="-10" dirty="0">
                          <a:latin typeface="Arial MT"/>
                          <a:cs typeface="Arial MT"/>
                        </a:rPr>
                        <a:t>20231CCS3004</a:t>
                      </a:r>
                      <a:endParaRPr sz="1400" dirty="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50"/>
                        </a:spcBef>
                      </a:pPr>
                      <a:r>
                        <a:rPr lang="en-US" sz="1400" dirty="0">
                          <a:latin typeface="Arial MT"/>
                          <a:cs typeface="Arial MT"/>
                        </a:rPr>
                        <a:t>Syed Saifulla H</a:t>
                      </a:r>
                      <a:endParaRPr sz="1400" dirty="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Problem</a:t>
            </a:r>
            <a:r>
              <a:rPr spc="-110" dirty="0"/>
              <a:t> </a:t>
            </a:r>
            <a:r>
              <a:rPr dirty="0"/>
              <a:t>Statement</a:t>
            </a:r>
            <a:r>
              <a:rPr spc="-45" dirty="0"/>
              <a:t> </a:t>
            </a:r>
            <a:r>
              <a:rPr spc="-10" dirty="0"/>
              <a:t>Number:</a:t>
            </a:r>
          </a:p>
        </p:txBody>
      </p:sp>
      <p:sp>
        <p:nvSpPr>
          <p:cNvPr id="3" name="object 3"/>
          <p:cNvSpPr txBox="1"/>
          <p:nvPr/>
        </p:nvSpPr>
        <p:spPr>
          <a:xfrm>
            <a:off x="973023" y="1167460"/>
            <a:ext cx="10381615" cy="3667671"/>
          </a:xfrm>
          <a:prstGeom prst="rect">
            <a:avLst/>
          </a:prstGeom>
        </p:spPr>
        <p:txBody>
          <a:bodyPr vert="horz" wrap="square" lIns="0" tIns="15240" rIns="0" bIns="0" rtlCol="0">
            <a:spAutoFit/>
          </a:bodyPr>
          <a:lstStyle/>
          <a:p>
            <a:pPr marL="81915" marR="7850505" algn="just">
              <a:lnSpc>
                <a:spcPct val="99800"/>
              </a:lnSpc>
              <a:spcBef>
                <a:spcPts val="120"/>
              </a:spcBef>
            </a:pPr>
            <a:r>
              <a:rPr sz="2000" b="1" spc="-10" dirty="0">
                <a:latin typeface="Cambria"/>
                <a:cs typeface="Cambria"/>
              </a:rPr>
              <a:t>Organization</a:t>
            </a:r>
            <a:r>
              <a:rPr sz="2000" spc="-10" dirty="0">
                <a:latin typeface="Cambria"/>
                <a:cs typeface="Cambria"/>
              </a:rPr>
              <a:t>:</a:t>
            </a:r>
            <a:r>
              <a:rPr lang="en-IN" sz="2000" spc="-20" dirty="0">
                <a:latin typeface="Verdana"/>
                <a:cs typeface="Verdana"/>
              </a:rPr>
              <a:t> </a:t>
            </a:r>
            <a:r>
              <a:rPr sz="2000" b="1" dirty="0">
                <a:latin typeface="Cambria"/>
                <a:cs typeface="Cambria"/>
              </a:rPr>
              <a:t>Category</a:t>
            </a:r>
            <a:r>
              <a:rPr sz="2000" b="1" spc="-80" dirty="0">
                <a:latin typeface="Cambria"/>
                <a:cs typeface="Cambria"/>
              </a:rPr>
              <a:t> </a:t>
            </a:r>
            <a:r>
              <a:rPr sz="2000" dirty="0">
                <a:latin typeface="Cambria"/>
                <a:cs typeface="Cambria"/>
              </a:rPr>
              <a:t>:</a:t>
            </a:r>
            <a:r>
              <a:rPr sz="2000" spc="-10" dirty="0">
                <a:latin typeface="Cambria"/>
                <a:cs typeface="Cambria"/>
              </a:rPr>
              <a:t> </a:t>
            </a:r>
            <a:r>
              <a:rPr sz="2000" spc="-10" dirty="0">
                <a:latin typeface="Verdana"/>
                <a:cs typeface="Verdana"/>
              </a:rPr>
              <a:t>Software </a:t>
            </a:r>
            <a:r>
              <a:rPr sz="2000" b="1" dirty="0">
                <a:latin typeface="Cambria"/>
                <a:cs typeface="Cambria"/>
              </a:rPr>
              <a:t>Problem</a:t>
            </a:r>
            <a:r>
              <a:rPr sz="2000" b="1" spc="-75" dirty="0">
                <a:latin typeface="Cambria"/>
                <a:cs typeface="Cambria"/>
              </a:rPr>
              <a:t> </a:t>
            </a:r>
            <a:r>
              <a:rPr sz="2000" b="1" spc="-10" dirty="0">
                <a:latin typeface="Cambria"/>
                <a:cs typeface="Cambria"/>
              </a:rPr>
              <a:t>Description</a:t>
            </a:r>
            <a:endParaRPr sz="2000" dirty="0">
              <a:latin typeface="Cambria"/>
              <a:cs typeface="Cambria"/>
            </a:endParaRPr>
          </a:p>
          <a:p>
            <a:pPr>
              <a:lnSpc>
                <a:spcPct val="100000"/>
              </a:lnSpc>
              <a:spcBef>
                <a:spcPts val="380"/>
              </a:spcBef>
            </a:pPr>
            <a:endParaRPr sz="2000" dirty="0">
              <a:latin typeface="Cambria"/>
              <a:cs typeface="Cambria"/>
            </a:endParaRPr>
          </a:p>
          <a:p>
            <a:r>
              <a:rPr lang="en-US" sz="1400" dirty="0"/>
              <a:t>The overarching problem this project intends to address is the absence of available and usable tools that allow for the user-reported, timely reporting and preliminary detection of fake social media profiles. While there are internal processes on respective platforms, there is often a dearth of feedback and transparency in the user's process to report an account, and without some type of preliminary evidence, the user may not feel inclined to report. The goal is to build a user-centric web-based platform that: (a) provides a centralized, simple, usable portal for submitting profiles for analysis; (b) uses a transparent, rule-based set of checks to automate an initial assessment based on empirical research; (c) keeps a secure ledger of all reports made by users; and (d) provides a dashboard for administrators to view, validate, and act on user reports. The platform will serve to enhance the user intuition with data-driven validation and subsequent administrative workflow.</a:t>
            </a:r>
          </a:p>
          <a:p>
            <a:br>
              <a:rPr lang="en-US" sz="1400" dirty="0"/>
            </a:br>
            <a:br>
              <a:rPr lang="en-US" sz="1400" dirty="0"/>
            </a:br>
            <a:endParaRPr sz="1400" dirty="0">
              <a:latin typeface="Arial MT"/>
              <a:cs typeface="Arial MT"/>
            </a:endParaRPr>
          </a:p>
        </p:txBody>
      </p:sp>
      <p:sp>
        <p:nvSpPr>
          <p:cNvPr id="4" name="TextBox 3">
            <a:extLst>
              <a:ext uri="{FF2B5EF4-FFF2-40B4-BE49-F238E27FC236}">
                <a16:creationId xmlns:a16="http://schemas.microsoft.com/office/drawing/2014/main" id="{C99A8AF6-0ADA-1423-D167-DA189F6BEFDF}"/>
              </a:ext>
            </a:extLst>
          </p:cNvPr>
          <p:cNvSpPr txBox="1"/>
          <p:nvPr/>
        </p:nvSpPr>
        <p:spPr>
          <a:xfrm>
            <a:off x="2590800" y="1162380"/>
            <a:ext cx="5486400" cy="369332"/>
          </a:xfrm>
          <a:prstGeom prst="rect">
            <a:avLst/>
          </a:prstGeom>
          <a:noFill/>
        </p:spPr>
        <p:txBody>
          <a:bodyPr wrap="square" rtlCol="0">
            <a:spAutoFit/>
          </a:bodyPr>
          <a:lstStyle/>
          <a:p>
            <a:r>
              <a:rPr lang="en-US" dirty="0"/>
              <a:t>public services, sustainability, or governance.</a:t>
            </a:r>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 dirty="0"/>
              <a:t>Content</a:t>
            </a:r>
          </a:p>
        </p:txBody>
      </p:sp>
      <p:sp>
        <p:nvSpPr>
          <p:cNvPr id="3" name="object 3"/>
          <p:cNvSpPr txBox="1"/>
          <p:nvPr/>
        </p:nvSpPr>
        <p:spPr>
          <a:xfrm>
            <a:off x="885850" y="1724355"/>
            <a:ext cx="10361930" cy="2272097"/>
          </a:xfrm>
          <a:prstGeom prst="rect">
            <a:avLst/>
          </a:prstGeom>
        </p:spPr>
        <p:txBody>
          <a:bodyPr vert="horz" wrap="square" lIns="0" tIns="12065" rIns="0" bIns="0" rtlCol="0">
            <a:spAutoFit/>
          </a:bodyPr>
          <a:lstStyle/>
          <a:p>
            <a:pPr marL="354965" indent="-342265">
              <a:lnSpc>
                <a:spcPct val="100000"/>
              </a:lnSpc>
              <a:spcBef>
                <a:spcPts val="2655"/>
              </a:spcBef>
              <a:buSzPct val="109090"/>
              <a:buFont typeface="Wingdings"/>
              <a:buChar char=""/>
              <a:tabLst>
                <a:tab pos="354965" algn="l"/>
              </a:tabLst>
            </a:pPr>
            <a:r>
              <a:rPr sz="2200" dirty="0">
                <a:latin typeface="Verdana"/>
                <a:cs typeface="Verdana"/>
              </a:rPr>
              <a:t>Source</a:t>
            </a:r>
            <a:r>
              <a:rPr sz="2200" spc="-50" dirty="0">
                <a:latin typeface="Verdana"/>
                <a:cs typeface="Verdana"/>
              </a:rPr>
              <a:t> </a:t>
            </a:r>
            <a:r>
              <a:rPr sz="2200" dirty="0">
                <a:latin typeface="Verdana"/>
                <a:cs typeface="Verdana"/>
              </a:rPr>
              <a:t>Code</a:t>
            </a:r>
            <a:r>
              <a:rPr sz="2200" spc="-20" dirty="0">
                <a:latin typeface="Verdana"/>
                <a:cs typeface="Verdana"/>
              </a:rPr>
              <a:t> </a:t>
            </a:r>
            <a:r>
              <a:rPr sz="2200" dirty="0">
                <a:latin typeface="Verdana"/>
                <a:cs typeface="Verdana"/>
              </a:rPr>
              <a:t>Details</a:t>
            </a:r>
            <a:r>
              <a:rPr sz="2200" spc="-60" dirty="0">
                <a:latin typeface="Verdana"/>
                <a:cs typeface="Verdana"/>
              </a:rPr>
              <a:t> </a:t>
            </a:r>
            <a:r>
              <a:rPr sz="2200" spc="-10" dirty="0">
                <a:latin typeface="Verdana"/>
                <a:cs typeface="Verdana"/>
              </a:rPr>
              <a:t>(</a:t>
            </a:r>
            <a:r>
              <a:rPr lang="en-US" sz="2200" spc="-10" dirty="0">
                <a:latin typeface="Verdana"/>
                <a:cs typeface="Verdana"/>
              </a:rPr>
              <a:t>100</a:t>
            </a:r>
            <a:r>
              <a:rPr sz="2200" spc="-10" dirty="0">
                <a:latin typeface="Verdana"/>
                <a:cs typeface="Verdana"/>
              </a:rPr>
              <a:t>%)</a:t>
            </a:r>
            <a:endParaRPr sz="2200" dirty="0">
              <a:latin typeface="Verdana"/>
              <a:cs typeface="Verdana"/>
            </a:endParaRPr>
          </a:p>
          <a:p>
            <a:pPr marL="354965" indent="-342265">
              <a:lnSpc>
                <a:spcPct val="100000"/>
              </a:lnSpc>
              <a:spcBef>
                <a:spcPts val="2620"/>
              </a:spcBef>
              <a:buSzPct val="109090"/>
              <a:buFont typeface="Wingdings"/>
              <a:buChar char=""/>
              <a:tabLst>
                <a:tab pos="354965" algn="l"/>
              </a:tabLst>
            </a:pPr>
            <a:r>
              <a:rPr lang="en-US" sz="2200" dirty="0">
                <a:latin typeface="Verdana"/>
                <a:cs typeface="Verdana"/>
              </a:rPr>
              <a:t>100</a:t>
            </a:r>
            <a:r>
              <a:rPr sz="2200" dirty="0">
                <a:latin typeface="Verdana"/>
                <a:cs typeface="Verdana"/>
              </a:rPr>
              <a:t>%</a:t>
            </a:r>
            <a:r>
              <a:rPr sz="2200" spc="-15" dirty="0">
                <a:latin typeface="Verdana"/>
                <a:cs typeface="Verdana"/>
              </a:rPr>
              <a:t> </a:t>
            </a:r>
            <a:r>
              <a:rPr sz="2200" dirty="0">
                <a:latin typeface="Verdana"/>
                <a:cs typeface="Verdana"/>
              </a:rPr>
              <a:t>Implementation</a:t>
            </a:r>
            <a:r>
              <a:rPr sz="2200" spc="-65" dirty="0">
                <a:latin typeface="Verdana"/>
                <a:cs typeface="Verdana"/>
              </a:rPr>
              <a:t> </a:t>
            </a:r>
            <a:r>
              <a:rPr sz="2200" dirty="0">
                <a:latin typeface="Verdana"/>
                <a:cs typeface="Verdana"/>
              </a:rPr>
              <a:t>with</a:t>
            </a:r>
            <a:r>
              <a:rPr sz="2200" spc="-50" dirty="0">
                <a:latin typeface="Verdana"/>
                <a:cs typeface="Verdana"/>
              </a:rPr>
              <a:t> </a:t>
            </a:r>
            <a:r>
              <a:rPr sz="2200" dirty="0">
                <a:latin typeface="Verdana"/>
                <a:cs typeface="Verdana"/>
              </a:rPr>
              <a:t>Live</a:t>
            </a:r>
            <a:r>
              <a:rPr sz="2200" spc="-35" dirty="0">
                <a:latin typeface="Verdana"/>
                <a:cs typeface="Verdana"/>
              </a:rPr>
              <a:t> </a:t>
            </a:r>
            <a:r>
              <a:rPr sz="2200" spc="-20" dirty="0">
                <a:latin typeface="Verdana"/>
                <a:cs typeface="Verdana"/>
              </a:rPr>
              <a:t>Demo</a:t>
            </a:r>
            <a:endParaRPr sz="2200" dirty="0">
              <a:latin typeface="Verdana"/>
              <a:cs typeface="Verdana"/>
            </a:endParaRPr>
          </a:p>
          <a:p>
            <a:pPr marL="355600" marR="5080" indent="-342900">
              <a:lnSpc>
                <a:spcPct val="200599"/>
              </a:lnSpc>
              <a:buSzPct val="109090"/>
              <a:buFont typeface="Wingdings"/>
              <a:buChar char=""/>
              <a:tabLst>
                <a:tab pos="355600" algn="l"/>
              </a:tabLst>
            </a:pPr>
            <a:r>
              <a:rPr lang="en-US" sz="2200" dirty="0">
                <a:latin typeface="Verdana"/>
                <a:cs typeface="Verdana"/>
              </a:rPr>
              <a:t>80</a:t>
            </a:r>
            <a:r>
              <a:rPr sz="2200" dirty="0">
                <a:latin typeface="Verdana"/>
                <a:cs typeface="Verdana"/>
              </a:rPr>
              <a:t>%</a:t>
            </a:r>
            <a:r>
              <a:rPr sz="2200" spc="315" dirty="0">
                <a:latin typeface="Verdana"/>
                <a:cs typeface="Verdana"/>
              </a:rPr>
              <a:t> </a:t>
            </a:r>
            <a:r>
              <a:rPr sz="2200" dirty="0">
                <a:latin typeface="Verdana"/>
                <a:cs typeface="Verdana"/>
              </a:rPr>
              <a:t>Report</a:t>
            </a:r>
            <a:r>
              <a:rPr sz="2200" spc="300" dirty="0">
                <a:latin typeface="Verdana"/>
                <a:cs typeface="Verdana"/>
              </a:rPr>
              <a:t> </a:t>
            </a:r>
            <a:r>
              <a:rPr sz="2200" dirty="0">
                <a:latin typeface="Verdana"/>
                <a:cs typeface="Verdana"/>
              </a:rPr>
              <a:t>Softcopy</a:t>
            </a:r>
            <a:r>
              <a:rPr sz="2200" spc="340" dirty="0">
                <a:latin typeface="Verdana"/>
                <a:cs typeface="Verdana"/>
              </a:rPr>
              <a:t> </a:t>
            </a:r>
            <a:r>
              <a:rPr sz="2200" spc="-10" dirty="0">
                <a:latin typeface="Verdana"/>
                <a:cs typeface="Verdana"/>
              </a:rPr>
              <a:t>Submission-</a:t>
            </a:r>
            <a:r>
              <a:rPr sz="2200" dirty="0">
                <a:latin typeface="Verdana"/>
                <a:cs typeface="Verdana"/>
              </a:rPr>
              <a:t>Draft</a:t>
            </a:r>
            <a:r>
              <a:rPr sz="2200" spc="305" dirty="0">
                <a:latin typeface="Verdana"/>
                <a:cs typeface="Verdana"/>
              </a:rPr>
              <a:t> </a:t>
            </a:r>
            <a:r>
              <a:rPr sz="2200" dirty="0">
                <a:latin typeface="Verdana"/>
                <a:cs typeface="Verdana"/>
              </a:rPr>
              <a:t>(Abstract,</a:t>
            </a:r>
            <a:r>
              <a:rPr sz="2200" spc="305" dirty="0">
                <a:latin typeface="Verdana"/>
                <a:cs typeface="Verdana"/>
              </a:rPr>
              <a:t> </a:t>
            </a:r>
            <a:r>
              <a:rPr sz="2200" dirty="0">
                <a:latin typeface="Verdana"/>
                <a:cs typeface="Verdana"/>
              </a:rPr>
              <a:t>Literature</a:t>
            </a:r>
            <a:r>
              <a:rPr sz="2200" spc="335" dirty="0">
                <a:latin typeface="Verdana"/>
                <a:cs typeface="Verdana"/>
              </a:rPr>
              <a:t> </a:t>
            </a:r>
            <a:r>
              <a:rPr sz="2200" spc="-10" dirty="0">
                <a:latin typeface="Verdana"/>
                <a:cs typeface="Verdana"/>
              </a:rPr>
              <a:t>Review, </a:t>
            </a:r>
            <a:r>
              <a:rPr sz="2200" dirty="0">
                <a:latin typeface="Verdana"/>
                <a:cs typeface="Verdana"/>
              </a:rPr>
              <a:t>System</a:t>
            </a:r>
            <a:r>
              <a:rPr sz="2200" spc="-20" dirty="0">
                <a:latin typeface="Verdana"/>
                <a:cs typeface="Verdana"/>
              </a:rPr>
              <a:t> </a:t>
            </a:r>
            <a:r>
              <a:rPr sz="2200" dirty="0">
                <a:latin typeface="Verdana"/>
                <a:cs typeface="Verdana"/>
              </a:rPr>
              <a:t>Design.</a:t>
            </a:r>
            <a:r>
              <a:rPr sz="2200" spc="-50" dirty="0">
                <a:latin typeface="Verdana"/>
                <a:cs typeface="Verdana"/>
              </a:rPr>
              <a:t> </a:t>
            </a:r>
            <a:r>
              <a:rPr sz="2200" dirty="0">
                <a:latin typeface="Verdana"/>
                <a:cs typeface="Verdana"/>
              </a:rPr>
              <a:t>Architecture,</a:t>
            </a:r>
            <a:r>
              <a:rPr sz="2200" spc="-70" dirty="0">
                <a:latin typeface="Verdana"/>
                <a:cs typeface="Verdana"/>
              </a:rPr>
              <a:t> </a:t>
            </a:r>
            <a:r>
              <a:rPr sz="2200" dirty="0">
                <a:latin typeface="Verdana"/>
                <a:cs typeface="Verdana"/>
              </a:rPr>
              <a:t>Algorithm</a:t>
            </a:r>
            <a:r>
              <a:rPr sz="2200" spc="-110" dirty="0">
                <a:latin typeface="Verdana"/>
                <a:cs typeface="Verdana"/>
              </a:rPr>
              <a:t> </a:t>
            </a:r>
            <a:r>
              <a:rPr sz="2200" dirty="0">
                <a:latin typeface="Verdana"/>
                <a:cs typeface="Verdana"/>
              </a:rPr>
              <a:t>Details</a:t>
            </a:r>
            <a:r>
              <a:rPr sz="2200" spc="-100" dirty="0">
                <a:latin typeface="Verdana"/>
                <a:cs typeface="Verdana"/>
              </a:rPr>
              <a:t> </a:t>
            </a:r>
            <a:r>
              <a:rPr sz="2200" dirty="0">
                <a:latin typeface="Verdana"/>
                <a:cs typeface="Verdana"/>
              </a:rPr>
              <a:t>Module</a:t>
            </a:r>
            <a:r>
              <a:rPr sz="2200" spc="-50" dirty="0">
                <a:latin typeface="Verdana"/>
                <a:cs typeface="Verdana"/>
              </a:rPr>
              <a:t> </a:t>
            </a:r>
            <a:r>
              <a:rPr sz="2200" spc="-10" dirty="0">
                <a:latin typeface="Verdana"/>
                <a:cs typeface="Verdana"/>
              </a:rPr>
              <a:t>Description)</a:t>
            </a:r>
            <a:endParaRPr sz="2200" dirty="0">
              <a:latin typeface="Verdana"/>
              <a:cs typeface="Verda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Objectives</a:t>
            </a:r>
          </a:p>
        </p:txBody>
      </p:sp>
      <p:sp>
        <p:nvSpPr>
          <p:cNvPr id="7" name="TextBox 6">
            <a:extLst>
              <a:ext uri="{FF2B5EF4-FFF2-40B4-BE49-F238E27FC236}">
                <a16:creationId xmlns:a16="http://schemas.microsoft.com/office/drawing/2014/main" id="{AC44F80E-3AE7-AA3C-F46F-3115B93F12ED}"/>
              </a:ext>
            </a:extLst>
          </p:cNvPr>
          <p:cNvSpPr txBox="1"/>
          <p:nvPr/>
        </p:nvSpPr>
        <p:spPr>
          <a:xfrm>
            <a:off x="891946" y="1219200"/>
            <a:ext cx="10202173" cy="4062651"/>
          </a:xfrm>
          <a:prstGeom prst="rect">
            <a:avLst/>
          </a:prstGeom>
          <a:noFill/>
        </p:spPr>
        <p:txBody>
          <a:bodyPr wrap="square">
            <a:spAutoFit/>
          </a:bodyPr>
          <a:lstStyle/>
          <a:p>
            <a:pPr algn="l">
              <a:spcBef>
                <a:spcPts val="2400"/>
              </a:spcBef>
              <a:spcAft>
                <a:spcPts val="1200"/>
              </a:spcAft>
            </a:pPr>
            <a:r>
              <a:rPr lang="en-IN" b="0" i="0" dirty="0">
                <a:solidFill>
                  <a:schemeClr val="tx1"/>
                </a:solidFill>
                <a:effectLst/>
                <a:latin typeface="quote-cjk-patch"/>
              </a:rPr>
              <a:t>Project Objectives</a:t>
            </a:r>
          </a:p>
          <a:p>
            <a:pPr marL="285750" indent="-285750" algn="l">
              <a:spcBef>
                <a:spcPts val="2400"/>
              </a:spcBef>
              <a:spcAft>
                <a:spcPts val="1200"/>
              </a:spcAft>
              <a:buFont typeface="Arial" panose="020B0604020202020204" pitchFamily="34" charset="0"/>
              <a:buChar char="•"/>
            </a:pPr>
            <a:r>
              <a:rPr lang="en-IN" b="0" i="0" dirty="0">
                <a:solidFill>
                  <a:schemeClr val="tx1"/>
                </a:solidFill>
                <a:effectLst/>
                <a:latin typeface="quote-cjk-patch"/>
              </a:rPr>
              <a:t>✓ Real-time profile analysis using social media APIs</a:t>
            </a:r>
          </a:p>
          <a:p>
            <a:pPr marL="285750" indent="-285750" algn="l">
              <a:spcBef>
                <a:spcPts val="2400"/>
              </a:spcBef>
              <a:spcAft>
                <a:spcPts val="1200"/>
              </a:spcAft>
              <a:buFont typeface="Arial" panose="020B0604020202020204" pitchFamily="34" charset="0"/>
              <a:buChar char="•"/>
            </a:pPr>
            <a:r>
              <a:rPr lang="en-IN" b="0" i="0" dirty="0">
                <a:solidFill>
                  <a:schemeClr val="tx1"/>
                </a:solidFill>
                <a:effectLst/>
                <a:latin typeface="quote-cjk-patch"/>
              </a:rPr>
              <a:t>✓ Multi-platform support (Instagram, Twitter, Facebook, TikTok)</a:t>
            </a:r>
          </a:p>
          <a:p>
            <a:pPr marL="285750" indent="-285750" algn="l">
              <a:spcBef>
                <a:spcPts val="2400"/>
              </a:spcBef>
              <a:spcAft>
                <a:spcPts val="1200"/>
              </a:spcAft>
              <a:buFont typeface="Arial" panose="020B0604020202020204" pitchFamily="34" charset="0"/>
              <a:buChar char="•"/>
            </a:pPr>
            <a:r>
              <a:rPr lang="en-IN" b="0" i="0" dirty="0">
                <a:solidFill>
                  <a:schemeClr val="tx1"/>
                </a:solidFill>
                <a:effectLst/>
                <a:latin typeface="quote-cjk-patch"/>
              </a:rPr>
              <a:t>✓ Rule-based detection engine with machine learning principles</a:t>
            </a:r>
          </a:p>
          <a:p>
            <a:pPr marL="285750" indent="-285750" algn="l">
              <a:spcBef>
                <a:spcPts val="2400"/>
              </a:spcBef>
              <a:spcAft>
                <a:spcPts val="1200"/>
              </a:spcAft>
              <a:buFont typeface="Arial" panose="020B0604020202020204" pitchFamily="34" charset="0"/>
              <a:buChar char="•"/>
            </a:pPr>
            <a:r>
              <a:rPr lang="en-IN" b="0" i="0" dirty="0">
                <a:solidFill>
                  <a:schemeClr val="tx1"/>
                </a:solidFill>
                <a:effectLst/>
                <a:latin typeface="quote-cjk-patch"/>
              </a:rPr>
              <a:t>✓ User-friendly web interface with detailed risk assessment</a:t>
            </a:r>
          </a:p>
          <a:p>
            <a:pPr marL="285750" indent="-285750" algn="l">
              <a:spcBef>
                <a:spcPts val="2400"/>
              </a:spcBef>
              <a:spcAft>
                <a:spcPts val="1200"/>
              </a:spcAft>
              <a:buFont typeface="Arial" panose="020B0604020202020204" pitchFamily="34" charset="0"/>
              <a:buChar char="•"/>
            </a:pPr>
            <a:r>
              <a:rPr lang="en-IN" b="0" i="0" dirty="0">
                <a:solidFill>
                  <a:schemeClr val="tx1"/>
                </a:solidFill>
                <a:effectLst/>
                <a:latin typeface="quote-cjk-patch"/>
              </a:rPr>
              <a:t>✓ Comprehensive reporting and analytics dashboard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07B5-5E05-132A-9E6C-35AF27EAAC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4C2D81-9C37-411C-8031-9820C76D82CD}"/>
              </a:ext>
            </a:extLst>
          </p:cNvPr>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Technology Stack</a:t>
            </a:r>
          </a:p>
        </p:txBody>
      </p:sp>
      <p:sp>
        <p:nvSpPr>
          <p:cNvPr id="5" name="TextBox 4">
            <a:extLst>
              <a:ext uri="{FF2B5EF4-FFF2-40B4-BE49-F238E27FC236}">
                <a16:creationId xmlns:a16="http://schemas.microsoft.com/office/drawing/2014/main" id="{A507B214-0E12-FD60-6A67-BD6B8A8EBC3D}"/>
              </a:ext>
            </a:extLst>
          </p:cNvPr>
          <p:cNvSpPr txBox="1"/>
          <p:nvPr/>
        </p:nvSpPr>
        <p:spPr>
          <a:xfrm>
            <a:off x="685800" y="1143000"/>
            <a:ext cx="6096000" cy="4247317"/>
          </a:xfrm>
          <a:prstGeom prst="rect">
            <a:avLst/>
          </a:prstGeom>
          <a:noFill/>
        </p:spPr>
        <p:txBody>
          <a:bodyPr wrap="square">
            <a:spAutoFit/>
          </a:bodyPr>
          <a:lstStyle/>
          <a:p>
            <a:r>
              <a:rPr lang="en-IN" dirty="0"/>
              <a:t>Technology Architecture</a:t>
            </a:r>
          </a:p>
          <a:p>
            <a:endParaRPr lang="en-IN" dirty="0"/>
          </a:p>
          <a:p>
            <a:r>
              <a:rPr lang="en-IN" dirty="0"/>
              <a:t>Frontend:</a:t>
            </a:r>
          </a:p>
          <a:p>
            <a:r>
              <a:rPr lang="en-IN" dirty="0"/>
              <a:t>• HTML5, CSS3, JavaScript</a:t>
            </a:r>
          </a:p>
          <a:p>
            <a:r>
              <a:rPr lang="en-IN" dirty="0"/>
              <a:t>• Django Templates</a:t>
            </a:r>
          </a:p>
          <a:p>
            <a:r>
              <a:rPr lang="en-IN" dirty="0"/>
              <a:t>• Bootstrap for responsive design</a:t>
            </a:r>
          </a:p>
          <a:p>
            <a:endParaRPr lang="en-IN" dirty="0"/>
          </a:p>
          <a:p>
            <a:r>
              <a:rPr lang="en-IN" dirty="0"/>
              <a:t>Backend:</a:t>
            </a:r>
          </a:p>
          <a:p>
            <a:r>
              <a:rPr lang="en-IN" dirty="0"/>
              <a:t>• Python Django Framework</a:t>
            </a:r>
          </a:p>
          <a:p>
            <a:r>
              <a:rPr lang="en-IN" dirty="0"/>
              <a:t>• SQLite Database</a:t>
            </a:r>
          </a:p>
          <a:p>
            <a:r>
              <a:rPr lang="en-IN" dirty="0"/>
              <a:t>• RESTful API Integration</a:t>
            </a:r>
          </a:p>
          <a:p>
            <a:endParaRPr lang="en-IN" dirty="0"/>
          </a:p>
          <a:p>
            <a:r>
              <a:rPr lang="en-IN" dirty="0"/>
              <a:t>APIs Used:</a:t>
            </a:r>
          </a:p>
          <a:p>
            <a:r>
              <a:rPr lang="en-IN" dirty="0"/>
              <a:t>• </a:t>
            </a:r>
            <a:r>
              <a:rPr lang="en-IN" dirty="0" err="1"/>
              <a:t>ScrapingDog</a:t>
            </a:r>
            <a:r>
              <a:rPr lang="en-IN" dirty="0"/>
              <a:t> API (Instagram &amp; Twitter)</a:t>
            </a:r>
          </a:p>
          <a:p>
            <a:r>
              <a:rPr lang="en-IN" dirty="0"/>
              <a:t>• Custom rule-based detection engine</a:t>
            </a:r>
          </a:p>
        </p:txBody>
      </p:sp>
    </p:spTree>
    <p:extLst>
      <p:ext uri="{BB962C8B-B14F-4D97-AF65-F5344CB8AC3E}">
        <p14:creationId xmlns:p14="http://schemas.microsoft.com/office/powerpoint/2010/main" val="4148617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System Architecture</a:t>
            </a:r>
          </a:p>
        </p:txBody>
      </p:sp>
      <p:sp>
        <p:nvSpPr>
          <p:cNvPr id="5" name="TextBox 4">
            <a:extLst>
              <a:ext uri="{FF2B5EF4-FFF2-40B4-BE49-F238E27FC236}">
                <a16:creationId xmlns:a16="http://schemas.microsoft.com/office/drawing/2014/main" id="{EE0B6AB4-C079-D48E-F0F7-3071A81FAE13}"/>
              </a:ext>
            </a:extLst>
          </p:cNvPr>
          <p:cNvSpPr txBox="1"/>
          <p:nvPr/>
        </p:nvSpPr>
        <p:spPr>
          <a:xfrm>
            <a:off x="891946" y="990600"/>
            <a:ext cx="6096000" cy="5000728"/>
          </a:xfrm>
          <a:prstGeom prst="rect">
            <a:avLst/>
          </a:prstGeom>
          <a:noFill/>
        </p:spPr>
        <p:txBody>
          <a:bodyPr wrap="square">
            <a:spAutoFit/>
          </a:bodyPr>
          <a:lstStyle/>
          <a:p>
            <a:pPr algn="l">
              <a:lnSpc>
                <a:spcPts val="2400"/>
              </a:lnSpc>
              <a:spcBef>
                <a:spcPts val="2400"/>
              </a:spcBef>
              <a:spcAft>
                <a:spcPts val="1200"/>
              </a:spcAft>
              <a:buNone/>
            </a:pPr>
            <a:r>
              <a:rPr lang="en-IN" b="1" dirty="0">
                <a:solidFill>
                  <a:schemeClr val="tx1"/>
                </a:solidFill>
                <a:effectLst/>
                <a:latin typeface="quote-cjk-patch"/>
              </a:rPr>
              <a:t>System Workflow</a:t>
            </a:r>
          </a:p>
          <a:p>
            <a:pPr algn="l">
              <a:lnSpc>
                <a:spcPts val="2400"/>
              </a:lnSpc>
              <a:spcBef>
                <a:spcPts val="2400"/>
              </a:spcBef>
              <a:spcAft>
                <a:spcPts val="1200"/>
              </a:spcAft>
              <a:buNone/>
            </a:pPr>
            <a:r>
              <a:rPr lang="en-IN" b="1" dirty="0">
                <a:solidFill>
                  <a:schemeClr val="tx1"/>
                </a:solidFill>
                <a:effectLst/>
                <a:latin typeface="quote-cjk-patch"/>
              </a:rPr>
              <a:t>1. User Input → Profile URL</a:t>
            </a:r>
          </a:p>
          <a:p>
            <a:pPr algn="l">
              <a:lnSpc>
                <a:spcPts val="2400"/>
              </a:lnSpc>
              <a:spcBef>
                <a:spcPts val="2400"/>
              </a:spcBef>
              <a:spcAft>
                <a:spcPts val="1200"/>
              </a:spcAft>
              <a:buNone/>
            </a:pPr>
            <a:r>
              <a:rPr lang="en-IN" b="1" dirty="0">
                <a:solidFill>
                  <a:schemeClr val="tx1"/>
                </a:solidFill>
                <a:effectLst/>
                <a:latin typeface="quote-cjk-patch"/>
              </a:rPr>
              <a:t>2. Platform Detection → Instagram/Twitter/Facebook</a:t>
            </a:r>
          </a:p>
          <a:p>
            <a:pPr algn="l">
              <a:lnSpc>
                <a:spcPts val="2400"/>
              </a:lnSpc>
              <a:spcBef>
                <a:spcPts val="2400"/>
              </a:spcBef>
              <a:spcAft>
                <a:spcPts val="1200"/>
              </a:spcAft>
              <a:buNone/>
            </a:pPr>
            <a:r>
              <a:rPr lang="en-IN" b="1" dirty="0">
                <a:solidFill>
                  <a:schemeClr val="tx1"/>
                </a:solidFill>
                <a:effectLst/>
                <a:latin typeface="quote-cjk-patch"/>
              </a:rPr>
              <a:t>3. API Integration → Real-time data fetching</a:t>
            </a:r>
          </a:p>
          <a:p>
            <a:pPr algn="l">
              <a:lnSpc>
                <a:spcPts val="2400"/>
              </a:lnSpc>
              <a:spcBef>
                <a:spcPts val="2400"/>
              </a:spcBef>
              <a:spcAft>
                <a:spcPts val="1200"/>
              </a:spcAft>
              <a:buNone/>
            </a:pPr>
            <a:r>
              <a:rPr lang="en-IN" b="1" dirty="0">
                <a:solidFill>
                  <a:schemeClr val="tx1"/>
                </a:solidFill>
                <a:effectLst/>
                <a:latin typeface="quote-cjk-patch"/>
              </a:rPr>
              <a:t>4. Rule Engine → Risk analysis &amp; scoring</a:t>
            </a:r>
          </a:p>
          <a:p>
            <a:pPr algn="l">
              <a:lnSpc>
                <a:spcPts val="2400"/>
              </a:lnSpc>
              <a:spcBef>
                <a:spcPts val="2400"/>
              </a:spcBef>
              <a:spcAft>
                <a:spcPts val="1200"/>
              </a:spcAft>
              <a:buNone/>
            </a:pPr>
            <a:r>
              <a:rPr lang="en-IN" b="1" dirty="0">
                <a:solidFill>
                  <a:schemeClr val="tx1"/>
                </a:solidFill>
                <a:effectLst/>
                <a:latin typeface="quote-cjk-patch"/>
              </a:rPr>
              <a:t>5. Result Display → Fake/Genuine classification</a:t>
            </a:r>
          </a:p>
          <a:p>
            <a:pPr algn="l">
              <a:lnSpc>
                <a:spcPts val="2400"/>
              </a:lnSpc>
              <a:spcBef>
                <a:spcPts val="2400"/>
              </a:spcBef>
              <a:spcAft>
                <a:spcPts val="1200"/>
              </a:spcAft>
              <a:buNone/>
            </a:pPr>
            <a:r>
              <a:rPr lang="en-IN" b="1" dirty="0">
                <a:solidFill>
                  <a:schemeClr val="tx1"/>
                </a:solidFill>
                <a:effectLst/>
                <a:latin typeface="quote-cjk-patch"/>
              </a:rPr>
              <a:t>6. Database Storage → Scan history &amp; analytics</a:t>
            </a:r>
            <a:endParaRPr lang="en-IN" b="0" i="0" dirty="0">
              <a:solidFill>
                <a:schemeClr val="tx1"/>
              </a:solidFill>
              <a:effectLst/>
              <a:latin typeface="quote-cjk-patch"/>
            </a:endParaRPr>
          </a:p>
        </p:txBody>
      </p:sp>
      <p:pic>
        <p:nvPicPr>
          <p:cNvPr id="4" name="Picture 3" descr="A diagram of a system workflow&#10;&#10;AI-generated content may be incorrect.">
            <a:extLst>
              <a:ext uri="{FF2B5EF4-FFF2-40B4-BE49-F238E27FC236}">
                <a16:creationId xmlns:a16="http://schemas.microsoft.com/office/drawing/2014/main" id="{504F8F88-C605-EF58-BCC4-4DA8A36B7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1116010"/>
            <a:ext cx="5189855" cy="48753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Key Features</a:t>
            </a:r>
          </a:p>
        </p:txBody>
      </p:sp>
      <p:sp>
        <p:nvSpPr>
          <p:cNvPr id="39" name="TextBox 38">
            <a:extLst>
              <a:ext uri="{FF2B5EF4-FFF2-40B4-BE49-F238E27FC236}">
                <a16:creationId xmlns:a16="http://schemas.microsoft.com/office/drawing/2014/main" id="{447D7EEE-7A7D-1627-4E0A-14CE0DA0BCBA}"/>
              </a:ext>
            </a:extLst>
          </p:cNvPr>
          <p:cNvSpPr txBox="1"/>
          <p:nvPr/>
        </p:nvSpPr>
        <p:spPr>
          <a:xfrm>
            <a:off x="1066800" y="942403"/>
            <a:ext cx="8001000" cy="5078313"/>
          </a:xfrm>
          <a:prstGeom prst="rect">
            <a:avLst/>
          </a:prstGeom>
          <a:noFill/>
        </p:spPr>
        <p:txBody>
          <a:bodyPr wrap="square">
            <a:spAutoFit/>
          </a:bodyPr>
          <a:lstStyle/>
          <a:p>
            <a:r>
              <a:rPr lang="en-IN" b="1" dirty="0"/>
              <a:t>Real-time Profile Analysis</a:t>
            </a:r>
          </a:p>
          <a:p>
            <a:r>
              <a:rPr lang="en-IN" dirty="0"/>
              <a:t>• Live data from social media APIs</a:t>
            </a:r>
          </a:p>
          <a:p>
            <a:r>
              <a:rPr lang="en-IN" dirty="0"/>
              <a:t>• Instant detection results</a:t>
            </a:r>
          </a:p>
          <a:p>
            <a:endParaRPr lang="en-IN" dirty="0"/>
          </a:p>
          <a:p>
            <a:r>
              <a:rPr lang="en-IN" b="1" dirty="0"/>
              <a:t>Multi-Platform Support</a:t>
            </a:r>
          </a:p>
          <a:p>
            <a:r>
              <a:rPr lang="en-IN" dirty="0"/>
              <a:t>• Instagram, Twitter, Facebook</a:t>
            </a:r>
          </a:p>
          <a:p>
            <a:r>
              <a:rPr lang="en-IN" dirty="0"/>
              <a:t>• Platform-specific detection rules</a:t>
            </a:r>
          </a:p>
          <a:p>
            <a:endParaRPr lang="en-IN" dirty="0"/>
          </a:p>
          <a:p>
            <a:r>
              <a:rPr lang="en-IN" b="1" dirty="0"/>
              <a:t>Advanced Risk Detection</a:t>
            </a:r>
          </a:p>
          <a:p>
            <a:r>
              <a:rPr lang="en-IN" dirty="0"/>
              <a:t>• Follower/Following ratio analysis</a:t>
            </a:r>
          </a:p>
          <a:p>
            <a:r>
              <a:rPr lang="en-IN" dirty="0"/>
              <a:t>• Username pattern recognition</a:t>
            </a:r>
          </a:p>
          <a:p>
            <a:r>
              <a:rPr lang="en-IN" dirty="0"/>
              <a:t>• Activity pattern detection</a:t>
            </a:r>
          </a:p>
          <a:p>
            <a:r>
              <a:rPr lang="en-IN" dirty="0"/>
              <a:t>• Content similarity analysis</a:t>
            </a:r>
          </a:p>
          <a:p>
            <a:endParaRPr lang="en-IN" dirty="0"/>
          </a:p>
          <a:p>
            <a:r>
              <a:rPr lang="en-IN" b="1" dirty="0"/>
              <a:t>User Dashboard</a:t>
            </a:r>
          </a:p>
          <a:p>
            <a:r>
              <a:rPr lang="en-IN" dirty="0"/>
              <a:t>• Scan history tracking</a:t>
            </a:r>
          </a:p>
          <a:p>
            <a:r>
              <a:rPr lang="en-IN" dirty="0"/>
              <a:t>• Analytics and reports</a:t>
            </a:r>
          </a:p>
          <a:p>
            <a:r>
              <a:rPr lang="en-IN" dirty="0"/>
              <a:t>• User statistics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Detection Methodology</a:t>
            </a:r>
          </a:p>
        </p:txBody>
      </p:sp>
      <p:sp>
        <p:nvSpPr>
          <p:cNvPr id="5" name="TextBox 4">
            <a:extLst>
              <a:ext uri="{FF2B5EF4-FFF2-40B4-BE49-F238E27FC236}">
                <a16:creationId xmlns:a16="http://schemas.microsoft.com/office/drawing/2014/main" id="{822E5386-860E-5DCB-3313-D868C97D7A9B}"/>
              </a:ext>
            </a:extLst>
          </p:cNvPr>
          <p:cNvSpPr txBox="1"/>
          <p:nvPr/>
        </p:nvSpPr>
        <p:spPr>
          <a:xfrm>
            <a:off x="609600" y="948690"/>
            <a:ext cx="7620000" cy="5078313"/>
          </a:xfrm>
          <a:prstGeom prst="rect">
            <a:avLst/>
          </a:prstGeom>
          <a:noFill/>
        </p:spPr>
        <p:txBody>
          <a:bodyPr wrap="square">
            <a:spAutoFit/>
          </a:bodyPr>
          <a:lstStyle/>
          <a:p>
            <a:r>
              <a:rPr lang="en-IN" dirty="0"/>
              <a:t>Rule-Based Detection Engine</a:t>
            </a:r>
          </a:p>
          <a:p>
            <a:endParaRPr lang="en-IN" dirty="0"/>
          </a:p>
          <a:p>
            <a:r>
              <a:rPr lang="en-IN" b="1" dirty="0"/>
              <a:t>1. Profile Completeness Analysis</a:t>
            </a:r>
          </a:p>
          <a:p>
            <a:r>
              <a:rPr lang="en-IN" dirty="0"/>
              <a:t>   - Profile picture presence</a:t>
            </a:r>
          </a:p>
          <a:p>
            <a:r>
              <a:rPr lang="en-IN" dirty="0"/>
              <a:t>   - Bio length and quality</a:t>
            </a:r>
          </a:p>
          <a:p>
            <a:r>
              <a:rPr lang="en-IN" dirty="0"/>
              <a:t>   - Location information</a:t>
            </a:r>
          </a:p>
          <a:p>
            <a:r>
              <a:rPr lang="en-IN" b="1" dirty="0"/>
              <a:t>2.</a:t>
            </a:r>
            <a:r>
              <a:rPr lang="en-IN" dirty="0"/>
              <a:t> </a:t>
            </a:r>
            <a:r>
              <a:rPr lang="en-IN" b="1" dirty="0"/>
              <a:t>Follower Analysis</a:t>
            </a:r>
          </a:p>
          <a:p>
            <a:r>
              <a:rPr lang="en-IN" dirty="0"/>
              <a:t>   - Follower/Following ratio</a:t>
            </a:r>
          </a:p>
          <a:p>
            <a:r>
              <a:rPr lang="en-IN" dirty="0"/>
              <a:t>   - Growth pattern analysis</a:t>
            </a:r>
          </a:p>
          <a:p>
            <a:r>
              <a:rPr lang="en-IN" dirty="0"/>
              <a:t>   - Engagement rate calculation</a:t>
            </a:r>
          </a:p>
          <a:p>
            <a:r>
              <a:rPr lang="en-IN" b="1" dirty="0"/>
              <a:t>3. Content Analysis</a:t>
            </a:r>
          </a:p>
          <a:p>
            <a:r>
              <a:rPr lang="en-IN" dirty="0"/>
              <a:t>   - Posting frequency</a:t>
            </a:r>
          </a:p>
          <a:p>
            <a:r>
              <a:rPr lang="en-IN" dirty="0"/>
              <a:t>   - Content similarity</a:t>
            </a:r>
          </a:p>
          <a:p>
            <a:r>
              <a:rPr lang="en-IN" dirty="0"/>
              <a:t>   - Spam pattern detection</a:t>
            </a:r>
          </a:p>
          <a:p>
            <a:r>
              <a:rPr lang="en-IN" b="1" dirty="0"/>
              <a:t>4. </a:t>
            </a:r>
            <a:r>
              <a:rPr lang="en-IN" b="1" dirty="0" err="1"/>
              <a:t>Behavioral</a:t>
            </a:r>
            <a:r>
              <a:rPr lang="en-IN" b="1" dirty="0"/>
              <a:t> Analysis</a:t>
            </a:r>
          </a:p>
          <a:p>
            <a:r>
              <a:rPr lang="en-IN" dirty="0"/>
              <a:t>   - Account age vs activity</a:t>
            </a:r>
          </a:p>
          <a:p>
            <a:r>
              <a:rPr lang="en-IN" dirty="0"/>
              <a:t>   - Username patterns</a:t>
            </a:r>
          </a:p>
          <a:p>
            <a:r>
              <a:rPr lang="en-IN" dirty="0"/>
              <a:t>   - Verification status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Code Structure</a:t>
            </a:r>
          </a:p>
        </p:txBody>
      </p:sp>
      <p:sp>
        <p:nvSpPr>
          <p:cNvPr id="5" name="TextBox 4">
            <a:extLst>
              <a:ext uri="{FF2B5EF4-FFF2-40B4-BE49-F238E27FC236}">
                <a16:creationId xmlns:a16="http://schemas.microsoft.com/office/drawing/2014/main" id="{05F7E20F-8203-F41E-B59E-78CBCD67C707}"/>
              </a:ext>
            </a:extLst>
          </p:cNvPr>
          <p:cNvSpPr txBox="1"/>
          <p:nvPr/>
        </p:nvSpPr>
        <p:spPr>
          <a:xfrm>
            <a:off x="3048000" y="893854"/>
            <a:ext cx="6096000" cy="5078313"/>
          </a:xfrm>
          <a:prstGeom prst="rect">
            <a:avLst/>
          </a:prstGeom>
          <a:noFill/>
        </p:spPr>
        <p:txBody>
          <a:bodyPr wrap="square">
            <a:spAutoFit/>
          </a:bodyPr>
          <a:lstStyle/>
          <a:p>
            <a:r>
              <a:rPr lang="en-IN" dirty="0"/>
              <a:t>Well-Organized Source Code</a:t>
            </a:r>
          </a:p>
          <a:p>
            <a:endParaRPr lang="en-IN" dirty="0"/>
          </a:p>
          <a:p>
            <a:r>
              <a:rPr lang="en-IN" dirty="0"/>
              <a:t>detection/</a:t>
            </a:r>
          </a:p>
          <a:p>
            <a:r>
              <a:rPr lang="en-IN" dirty="0"/>
              <a:t>├── models.py           # Database models</a:t>
            </a:r>
          </a:p>
          <a:p>
            <a:r>
              <a:rPr lang="en-IN" dirty="0"/>
              <a:t>├── views.py           # Business logic &amp; API handlers</a:t>
            </a:r>
          </a:p>
          <a:p>
            <a:r>
              <a:rPr lang="en-IN" dirty="0"/>
              <a:t>├── urls.py            # URL routing</a:t>
            </a:r>
          </a:p>
          <a:p>
            <a:r>
              <a:rPr lang="en-IN" dirty="0"/>
              <a:t>├── rule_engine.py     # Core detection algorithm</a:t>
            </a:r>
          </a:p>
          <a:p>
            <a:r>
              <a:rPr lang="en-IN" dirty="0"/>
              <a:t>├── instagram_api.py   # Instagram API integration</a:t>
            </a:r>
          </a:p>
          <a:p>
            <a:r>
              <a:rPr lang="en-IN" dirty="0"/>
              <a:t>├── twitter_api.py     # Twitter API integration</a:t>
            </a:r>
          </a:p>
          <a:p>
            <a:r>
              <a:rPr lang="en-IN" dirty="0"/>
              <a:t>├── utils.py           # Helper functions</a:t>
            </a:r>
          </a:p>
          <a:p>
            <a:r>
              <a:rPr lang="en-IN" dirty="0"/>
              <a:t>└── templates/         # HTML templates</a:t>
            </a:r>
          </a:p>
          <a:p>
            <a:endParaRPr lang="en-IN" dirty="0"/>
          </a:p>
          <a:p>
            <a:r>
              <a:rPr lang="en-IN" dirty="0"/>
              <a:t>Key Features:</a:t>
            </a:r>
          </a:p>
          <a:p>
            <a:r>
              <a:rPr lang="en-IN" dirty="0"/>
              <a:t>• Modular architecture</a:t>
            </a:r>
          </a:p>
          <a:p>
            <a:r>
              <a:rPr lang="en-IN" dirty="0"/>
              <a:t>• Error handling</a:t>
            </a:r>
          </a:p>
          <a:p>
            <a:r>
              <a:rPr lang="en-IN" dirty="0"/>
              <a:t>• API rate limiting</a:t>
            </a:r>
          </a:p>
          <a:p>
            <a:r>
              <a:rPr lang="en-IN" dirty="0"/>
              <a:t>• Data validation</a:t>
            </a:r>
          </a:p>
          <a:p>
            <a:r>
              <a:rPr lang="en-IN" dirty="0"/>
              <a:t>• Security measures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0329AD-B122-9C40-5CD1-F915F44F3496}"/>
              </a:ext>
            </a:extLst>
          </p:cNvPr>
          <p:cNvSpPr txBox="1"/>
          <p:nvPr/>
        </p:nvSpPr>
        <p:spPr>
          <a:xfrm>
            <a:off x="685800" y="457200"/>
            <a:ext cx="7315200" cy="461665"/>
          </a:xfrm>
          <a:prstGeom prst="rect">
            <a:avLst/>
          </a:prstGeom>
          <a:noFill/>
        </p:spPr>
        <p:txBody>
          <a:bodyPr wrap="square">
            <a:spAutoFit/>
          </a:bodyPr>
          <a:lstStyle/>
          <a:p>
            <a:r>
              <a:rPr lang="en-IN" sz="2400" b="1" dirty="0"/>
              <a:t>Database Design</a:t>
            </a:r>
          </a:p>
        </p:txBody>
      </p:sp>
      <p:sp>
        <p:nvSpPr>
          <p:cNvPr id="4" name="TextBox 3">
            <a:extLst>
              <a:ext uri="{FF2B5EF4-FFF2-40B4-BE49-F238E27FC236}">
                <a16:creationId xmlns:a16="http://schemas.microsoft.com/office/drawing/2014/main" id="{7BE456BD-EC9E-5929-3864-6CC5FEA9A436}"/>
              </a:ext>
            </a:extLst>
          </p:cNvPr>
          <p:cNvSpPr txBox="1"/>
          <p:nvPr/>
        </p:nvSpPr>
        <p:spPr>
          <a:xfrm>
            <a:off x="685800" y="1295400"/>
            <a:ext cx="8077200" cy="3416320"/>
          </a:xfrm>
          <a:prstGeom prst="rect">
            <a:avLst/>
          </a:prstGeom>
          <a:noFill/>
        </p:spPr>
        <p:txBody>
          <a:bodyPr wrap="square">
            <a:spAutoFit/>
          </a:bodyPr>
          <a:lstStyle/>
          <a:p>
            <a:r>
              <a:rPr lang="en-IN" dirty="0"/>
              <a:t>Database Schema</a:t>
            </a:r>
          </a:p>
          <a:p>
            <a:endParaRPr lang="en-IN" dirty="0"/>
          </a:p>
          <a:p>
            <a:r>
              <a:rPr lang="en-IN" b="1" dirty="0" err="1"/>
              <a:t>ProfileScan</a:t>
            </a:r>
            <a:r>
              <a:rPr lang="en-IN" b="1" dirty="0"/>
              <a:t> Model:</a:t>
            </a:r>
          </a:p>
          <a:p>
            <a:r>
              <a:rPr lang="en-IN" dirty="0"/>
              <a:t>• User (</a:t>
            </a:r>
            <a:r>
              <a:rPr lang="en-IN" dirty="0" err="1"/>
              <a:t>ForeignKey</a:t>
            </a:r>
            <a:r>
              <a:rPr lang="en-IN" dirty="0"/>
              <a:t>)</a:t>
            </a:r>
          </a:p>
          <a:p>
            <a:r>
              <a:rPr lang="en-IN" dirty="0"/>
              <a:t>• Profile URL</a:t>
            </a:r>
          </a:p>
          <a:p>
            <a:r>
              <a:rPr lang="en-IN" dirty="0"/>
              <a:t>• Platform</a:t>
            </a:r>
          </a:p>
          <a:p>
            <a:r>
              <a:rPr lang="en-IN" dirty="0"/>
              <a:t>• Risk Score (0-100%)</a:t>
            </a:r>
          </a:p>
          <a:p>
            <a:r>
              <a:rPr lang="en-IN" dirty="0"/>
              <a:t>• Result (Fake/Genuine)</a:t>
            </a:r>
          </a:p>
          <a:p>
            <a:r>
              <a:rPr lang="en-IN" dirty="0"/>
              <a:t>• Risk Factors (JSON)</a:t>
            </a:r>
          </a:p>
          <a:p>
            <a:r>
              <a:rPr lang="en-IN" dirty="0"/>
              <a:t>• Timestamp</a:t>
            </a:r>
          </a:p>
          <a:p>
            <a:endParaRPr lang="en-IN" dirty="0"/>
          </a:p>
          <a:p>
            <a:endParaRPr lang="en-IN" dirty="0"/>
          </a:p>
        </p:txBody>
      </p:sp>
      <p:sp>
        <p:nvSpPr>
          <p:cNvPr id="6" name="TextBox 5">
            <a:extLst>
              <a:ext uri="{FF2B5EF4-FFF2-40B4-BE49-F238E27FC236}">
                <a16:creationId xmlns:a16="http://schemas.microsoft.com/office/drawing/2014/main" id="{57312097-ECA1-45D9-3AB6-05C131769488}"/>
              </a:ext>
            </a:extLst>
          </p:cNvPr>
          <p:cNvSpPr txBox="1"/>
          <p:nvPr/>
        </p:nvSpPr>
        <p:spPr>
          <a:xfrm>
            <a:off x="5334000" y="1259305"/>
            <a:ext cx="6096000" cy="3693319"/>
          </a:xfrm>
          <a:prstGeom prst="rect">
            <a:avLst/>
          </a:prstGeom>
          <a:noFill/>
        </p:spPr>
        <p:txBody>
          <a:bodyPr wrap="square">
            <a:spAutoFit/>
          </a:bodyPr>
          <a:lstStyle/>
          <a:p>
            <a:r>
              <a:rPr lang="en-IN" b="1" dirty="0"/>
              <a:t>Report Model:</a:t>
            </a:r>
          </a:p>
          <a:p>
            <a:r>
              <a:rPr lang="en-IN" dirty="0"/>
              <a:t>• User (</a:t>
            </a:r>
            <a:r>
              <a:rPr lang="en-IN" dirty="0" err="1"/>
              <a:t>ForeignKey</a:t>
            </a:r>
            <a:r>
              <a:rPr lang="en-IN" dirty="0"/>
              <a:t>)</a:t>
            </a:r>
          </a:p>
          <a:p>
            <a:r>
              <a:rPr lang="en-IN" dirty="0"/>
              <a:t>• Profile URL</a:t>
            </a:r>
          </a:p>
          <a:p>
            <a:r>
              <a:rPr lang="en-IN" dirty="0"/>
              <a:t>• Platform</a:t>
            </a:r>
          </a:p>
          <a:p>
            <a:r>
              <a:rPr lang="en-IN" dirty="0"/>
              <a:t>• Reason</a:t>
            </a:r>
          </a:p>
          <a:p>
            <a:r>
              <a:rPr lang="en-IN" dirty="0"/>
              <a:t>• Status</a:t>
            </a:r>
          </a:p>
          <a:p>
            <a:r>
              <a:rPr lang="en-IN" dirty="0"/>
              <a:t>• Timestamp</a:t>
            </a:r>
          </a:p>
          <a:p>
            <a:endParaRPr lang="en-IN" dirty="0"/>
          </a:p>
          <a:p>
            <a:r>
              <a:rPr lang="en-IN" b="1" dirty="0" err="1"/>
              <a:t>UserStats</a:t>
            </a:r>
            <a:r>
              <a:rPr lang="en-IN" b="1" dirty="0"/>
              <a:t> Model:</a:t>
            </a:r>
          </a:p>
          <a:p>
            <a:r>
              <a:rPr lang="en-IN" dirty="0"/>
              <a:t>• Total scans</a:t>
            </a:r>
          </a:p>
          <a:p>
            <a:r>
              <a:rPr lang="en-IN" dirty="0"/>
              <a:t>• Fake profiles detected</a:t>
            </a:r>
          </a:p>
          <a:p>
            <a:r>
              <a:rPr lang="en-IN" dirty="0"/>
              <a:t>• Genuine profiles found</a:t>
            </a:r>
          </a:p>
          <a:p>
            <a:r>
              <a:rPr lang="en-IN" dirty="0"/>
              <a:t>• Reports filed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1398C-6C5F-4AF7-E06D-A0C7F903D4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54ADFC-A034-939D-47FD-89103080C689}"/>
              </a:ext>
            </a:extLst>
          </p:cNvPr>
          <p:cNvSpPr txBox="1"/>
          <p:nvPr/>
        </p:nvSpPr>
        <p:spPr>
          <a:xfrm>
            <a:off x="685800" y="457200"/>
            <a:ext cx="7315200" cy="461665"/>
          </a:xfrm>
          <a:prstGeom prst="rect">
            <a:avLst/>
          </a:prstGeom>
          <a:noFill/>
        </p:spPr>
        <p:txBody>
          <a:bodyPr wrap="square">
            <a:spAutoFit/>
          </a:bodyPr>
          <a:lstStyle/>
          <a:p>
            <a:r>
              <a:rPr lang="en-IN" sz="2400" b="1" dirty="0"/>
              <a:t>API Integration</a:t>
            </a:r>
          </a:p>
        </p:txBody>
      </p:sp>
      <p:sp>
        <p:nvSpPr>
          <p:cNvPr id="5" name="TextBox 4">
            <a:extLst>
              <a:ext uri="{FF2B5EF4-FFF2-40B4-BE49-F238E27FC236}">
                <a16:creationId xmlns:a16="http://schemas.microsoft.com/office/drawing/2014/main" id="{081FFC71-3E4F-C5D7-DAE9-F971B2574A24}"/>
              </a:ext>
            </a:extLst>
          </p:cNvPr>
          <p:cNvSpPr txBox="1"/>
          <p:nvPr/>
        </p:nvSpPr>
        <p:spPr>
          <a:xfrm>
            <a:off x="3048000" y="1032353"/>
            <a:ext cx="6096000" cy="4801314"/>
          </a:xfrm>
          <a:prstGeom prst="rect">
            <a:avLst/>
          </a:prstGeom>
          <a:noFill/>
        </p:spPr>
        <p:txBody>
          <a:bodyPr wrap="square">
            <a:spAutoFit/>
          </a:bodyPr>
          <a:lstStyle/>
          <a:p>
            <a:r>
              <a:rPr lang="en-IN" dirty="0"/>
              <a:t>Real-time Data Fetching</a:t>
            </a:r>
          </a:p>
          <a:p>
            <a:endParaRPr lang="en-IN" dirty="0"/>
          </a:p>
          <a:p>
            <a:r>
              <a:rPr lang="en-IN" b="1" dirty="0"/>
              <a:t>Instagram API Integration:</a:t>
            </a:r>
          </a:p>
          <a:p>
            <a:r>
              <a:rPr lang="en-IN" dirty="0"/>
              <a:t>• Uses </a:t>
            </a:r>
            <a:r>
              <a:rPr lang="en-IN" dirty="0" err="1"/>
              <a:t>ScrapingDog</a:t>
            </a:r>
            <a:r>
              <a:rPr lang="en-IN" dirty="0"/>
              <a:t> API</a:t>
            </a:r>
          </a:p>
          <a:p>
            <a:r>
              <a:rPr lang="en-IN" dirty="0"/>
              <a:t>• Fetches: Followers, Following, Posts, Bio, Verification status</a:t>
            </a:r>
          </a:p>
          <a:p>
            <a:r>
              <a:rPr lang="en-IN" dirty="0"/>
              <a:t>• Handles rate limiting and errors</a:t>
            </a:r>
          </a:p>
          <a:p>
            <a:endParaRPr lang="en-IN" dirty="0"/>
          </a:p>
          <a:p>
            <a:r>
              <a:rPr lang="en-IN" b="1" dirty="0"/>
              <a:t>Twitter API Integration:</a:t>
            </a:r>
          </a:p>
          <a:p>
            <a:r>
              <a:rPr lang="en-IN" dirty="0"/>
              <a:t>• Uses </a:t>
            </a:r>
            <a:r>
              <a:rPr lang="en-IN" dirty="0" err="1"/>
              <a:t>ScrapingDog</a:t>
            </a:r>
            <a:r>
              <a:rPr lang="en-IN" dirty="0"/>
              <a:t> X API</a:t>
            </a:r>
          </a:p>
          <a:p>
            <a:r>
              <a:rPr lang="en-IN" dirty="0"/>
              <a:t>• Fetches: Tweets, Followers, Following, Verification</a:t>
            </a:r>
          </a:p>
          <a:p>
            <a:r>
              <a:rPr lang="en-IN" dirty="0"/>
              <a:t>• Includes engagement metrics</a:t>
            </a:r>
          </a:p>
          <a:p>
            <a:endParaRPr lang="en-IN" dirty="0"/>
          </a:p>
          <a:p>
            <a:r>
              <a:rPr lang="en-IN" b="1" dirty="0"/>
              <a:t>Error Handling:</a:t>
            </a:r>
          </a:p>
          <a:p>
            <a:r>
              <a:rPr lang="en-IN" dirty="0"/>
              <a:t>• Fallback data when API fails</a:t>
            </a:r>
          </a:p>
          <a:p>
            <a:r>
              <a:rPr lang="en-IN" dirty="0"/>
              <a:t>• Comprehensive logging</a:t>
            </a:r>
          </a:p>
          <a:p>
            <a:r>
              <a:rPr lang="en-IN" dirty="0"/>
              <a:t>• User-friendly error messages</a:t>
            </a:r>
          </a:p>
        </p:txBody>
      </p:sp>
    </p:spTree>
    <p:extLst>
      <p:ext uri="{BB962C8B-B14F-4D97-AF65-F5344CB8AC3E}">
        <p14:creationId xmlns:p14="http://schemas.microsoft.com/office/powerpoint/2010/main" val="3679677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96C0B-6C2C-CE44-5275-A5CFCBB7D5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218F7C-751F-CDDD-BDB1-A8CA836C3B66}"/>
              </a:ext>
            </a:extLst>
          </p:cNvPr>
          <p:cNvSpPr txBox="1"/>
          <p:nvPr/>
        </p:nvSpPr>
        <p:spPr>
          <a:xfrm>
            <a:off x="685800" y="457200"/>
            <a:ext cx="7315200" cy="461665"/>
          </a:xfrm>
          <a:prstGeom prst="rect">
            <a:avLst/>
          </a:prstGeom>
          <a:noFill/>
        </p:spPr>
        <p:txBody>
          <a:bodyPr wrap="square">
            <a:spAutoFit/>
          </a:bodyPr>
          <a:lstStyle/>
          <a:p>
            <a:r>
              <a:rPr lang="en-IN" sz="2400" b="1" dirty="0"/>
              <a:t>Rule Engine Implementation</a:t>
            </a:r>
          </a:p>
        </p:txBody>
      </p:sp>
      <p:sp>
        <p:nvSpPr>
          <p:cNvPr id="4" name="TextBox 3">
            <a:extLst>
              <a:ext uri="{FF2B5EF4-FFF2-40B4-BE49-F238E27FC236}">
                <a16:creationId xmlns:a16="http://schemas.microsoft.com/office/drawing/2014/main" id="{B35EE583-6646-9205-FAB0-6317D79EBD5E}"/>
              </a:ext>
            </a:extLst>
          </p:cNvPr>
          <p:cNvSpPr txBox="1"/>
          <p:nvPr/>
        </p:nvSpPr>
        <p:spPr>
          <a:xfrm>
            <a:off x="685800" y="910844"/>
            <a:ext cx="7010400" cy="5355312"/>
          </a:xfrm>
          <a:prstGeom prst="rect">
            <a:avLst/>
          </a:prstGeom>
          <a:noFill/>
        </p:spPr>
        <p:txBody>
          <a:bodyPr wrap="square">
            <a:spAutoFit/>
          </a:bodyPr>
          <a:lstStyle/>
          <a:p>
            <a:r>
              <a:rPr lang="en-IN" dirty="0"/>
              <a:t>Advanced Detection Algorithm</a:t>
            </a:r>
          </a:p>
          <a:p>
            <a:endParaRPr lang="en-IN" dirty="0"/>
          </a:p>
          <a:p>
            <a:r>
              <a:rPr lang="en-IN" dirty="0"/>
              <a:t>def </a:t>
            </a:r>
            <a:r>
              <a:rPr lang="en-IN" dirty="0" err="1"/>
              <a:t>analyze_profile</a:t>
            </a:r>
            <a:r>
              <a:rPr lang="en-IN" dirty="0"/>
              <a:t>(</a:t>
            </a:r>
            <a:r>
              <a:rPr lang="en-IN" dirty="0" err="1"/>
              <a:t>profile_data</a:t>
            </a:r>
            <a:r>
              <a:rPr lang="en-IN" dirty="0"/>
              <a:t>):</a:t>
            </a:r>
          </a:p>
          <a:p>
            <a:r>
              <a:rPr lang="en-IN" dirty="0"/>
              <a:t>    </a:t>
            </a:r>
            <a:r>
              <a:rPr lang="en-IN" dirty="0" err="1"/>
              <a:t>risk_factors</a:t>
            </a:r>
            <a:r>
              <a:rPr lang="en-IN" dirty="0"/>
              <a:t> = []</a:t>
            </a:r>
          </a:p>
          <a:p>
            <a:r>
              <a:rPr lang="en-IN" dirty="0"/>
              <a:t>    </a:t>
            </a:r>
            <a:r>
              <a:rPr lang="en-IN" dirty="0" err="1"/>
              <a:t>total_score</a:t>
            </a:r>
            <a:r>
              <a:rPr lang="en-IN" dirty="0"/>
              <a:t> = 0</a:t>
            </a:r>
          </a:p>
          <a:p>
            <a:r>
              <a:rPr lang="en-IN" dirty="0"/>
              <a:t>    </a:t>
            </a:r>
          </a:p>
          <a:p>
            <a:r>
              <a:rPr lang="en-IN" dirty="0"/>
              <a:t>    # Multiple detection rules</a:t>
            </a:r>
          </a:p>
          <a:p>
            <a:r>
              <a:rPr lang="en-IN" dirty="0"/>
              <a:t>    rules = {</a:t>
            </a:r>
          </a:p>
          <a:p>
            <a:r>
              <a:rPr lang="en-IN" dirty="0"/>
              <a:t>        '</a:t>
            </a:r>
            <a:r>
              <a:rPr lang="en-IN" dirty="0" err="1"/>
              <a:t>extreme_ratio</a:t>
            </a:r>
            <a:r>
              <a:rPr lang="en-IN" dirty="0"/>
              <a:t>': </a:t>
            </a:r>
            <a:r>
              <a:rPr lang="en-IN" dirty="0" err="1"/>
              <a:t>check_extreme_ratio</a:t>
            </a:r>
            <a:r>
              <a:rPr lang="en-IN" dirty="0"/>
              <a:t>,</a:t>
            </a:r>
          </a:p>
          <a:p>
            <a:r>
              <a:rPr lang="en-IN" dirty="0"/>
              <a:t>        '</a:t>
            </a:r>
            <a:r>
              <a:rPr lang="en-IN" dirty="0" err="1"/>
              <a:t>suspicious_growth</a:t>
            </a:r>
            <a:r>
              <a:rPr lang="en-IN" dirty="0"/>
              <a:t>': </a:t>
            </a:r>
            <a:r>
              <a:rPr lang="en-IN" dirty="0" err="1"/>
              <a:t>check_suspicious_growth</a:t>
            </a:r>
            <a:r>
              <a:rPr lang="en-IN" dirty="0"/>
              <a:t>,</a:t>
            </a:r>
          </a:p>
          <a:p>
            <a:r>
              <a:rPr lang="en-IN" dirty="0"/>
              <a:t>        '</a:t>
            </a:r>
            <a:r>
              <a:rPr lang="en-IN" dirty="0" err="1"/>
              <a:t>fake_username_patterns</a:t>
            </a:r>
            <a:r>
              <a:rPr lang="en-IN" dirty="0"/>
              <a:t>': </a:t>
            </a:r>
            <a:r>
              <a:rPr lang="en-IN" dirty="0" err="1"/>
              <a:t>check_fake_username_patterns</a:t>
            </a:r>
            <a:r>
              <a:rPr lang="en-IN" dirty="0"/>
              <a:t>,</a:t>
            </a:r>
          </a:p>
          <a:p>
            <a:r>
              <a:rPr lang="en-IN" dirty="0"/>
              <a:t>        '</a:t>
            </a:r>
            <a:r>
              <a:rPr lang="en-IN" dirty="0" err="1"/>
              <a:t>automated_behavior</a:t>
            </a:r>
            <a:r>
              <a:rPr lang="en-IN" dirty="0"/>
              <a:t>': </a:t>
            </a:r>
            <a:r>
              <a:rPr lang="en-IN" dirty="0" err="1"/>
              <a:t>check_automated_behavior</a:t>
            </a:r>
            <a:r>
              <a:rPr lang="en-IN" dirty="0"/>
              <a:t>,</a:t>
            </a:r>
          </a:p>
          <a:p>
            <a:r>
              <a:rPr lang="en-IN" dirty="0"/>
              <a:t>        '</a:t>
            </a:r>
            <a:r>
              <a:rPr lang="en-IN" dirty="0" err="1"/>
              <a:t>spam_content</a:t>
            </a:r>
            <a:r>
              <a:rPr lang="en-IN" dirty="0"/>
              <a:t>': </a:t>
            </a:r>
            <a:r>
              <a:rPr lang="en-IN" dirty="0" err="1"/>
              <a:t>check_spam_content</a:t>
            </a:r>
            <a:r>
              <a:rPr lang="en-IN" dirty="0"/>
              <a:t>,</a:t>
            </a:r>
          </a:p>
          <a:p>
            <a:r>
              <a:rPr lang="en-IN" dirty="0"/>
              <a:t>        '</a:t>
            </a:r>
            <a:r>
              <a:rPr lang="en-IN" dirty="0" err="1"/>
              <a:t>engagement_anomalies</a:t>
            </a:r>
            <a:r>
              <a:rPr lang="en-IN" dirty="0"/>
              <a:t>': </a:t>
            </a:r>
            <a:r>
              <a:rPr lang="en-IN" dirty="0" err="1"/>
              <a:t>check_engagement_anomalies</a:t>
            </a:r>
            <a:endParaRPr lang="en-IN" dirty="0"/>
          </a:p>
          <a:p>
            <a:r>
              <a:rPr lang="en-IN" dirty="0"/>
              <a:t>    }</a:t>
            </a:r>
          </a:p>
          <a:p>
            <a:r>
              <a:rPr lang="en-IN" dirty="0"/>
              <a:t>    </a:t>
            </a:r>
          </a:p>
          <a:p>
            <a:r>
              <a:rPr lang="en-IN" dirty="0"/>
              <a:t>    # Binary classification</a:t>
            </a:r>
          </a:p>
          <a:p>
            <a:r>
              <a:rPr lang="en-IN" dirty="0"/>
              <a:t>    if </a:t>
            </a:r>
            <a:r>
              <a:rPr lang="en-IN" dirty="0" err="1"/>
              <a:t>risk_score</a:t>
            </a:r>
            <a:r>
              <a:rPr lang="en-IN" dirty="0"/>
              <a:t> &gt;= 40: return 'fake'</a:t>
            </a:r>
          </a:p>
          <a:p>
            <a:r>
              <a:rPr lang="en-IN" dirty="0"/>
              <a:t>    else: return 'genuine'</a:t>
            </a:r>
          </a:p>
        </p:txBody>
      </p:sp>
    </p:spTree>
    <p:extLst>
      <p:ext uri="{BB962C8B-B14F-4D97-AF65-F5344CB8AC3E}">
        <p14:creationId xmlns:p14="http://schemas.microsoft.com/office/powerpoint/2010/main" val="2283752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8848F-1A89-C2FE-6F63-A91BCD1448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256D6B-9607-770F-BB49-24DEFB80D8A9}"/>
              </a:ext>
            </a:extLst>
          </p:cNvPr>
          <p:cNvSpPr txBox="1"/>
          <p:nvPr/>
        </p:nvSpPr>
        <p:spPr>
          <a:xfrm>
            <a:off x="685800" y="457200"/>
            <a:ext cx="7315200" cy="461665"/>
          </a:xfrm>
          <a:prstGeom prst="rect">
            <a:avLst/>
          </a:prstGeom>
          <a:noFill/>
        </p:spPr>
        <p:txBody>
          <a:bodyPr wrap="square">
            <a:spAutoFit/>
          </a:bodyPr>
          <a:lstStyle/>
          <a:p>
            <a:r>
              <a:rPr lang="en-IN" sz="2400" b="1" dirty="0"/>
              <a:t>User Interface</a:t>
            </a:r>
          </a:p>
        </p:txBody>
      </p:sp>
      <p:sp>
        <p:nvSpPr>
          <p:cNvPr id="4" name="TextBox 3">
            <a:extLst>
              <a:ext uri="{FF2B5EF4-FFF2-40B4-BE49-F238E27FC236}">
                <a16:creationId xmlns:a16="http://schemas.microsoft.com/office/drawing/2014/main" id="{CC64CB2C-82DA-7542-881C-7B142271CD2D}"/>
              </a:ext>
            </a:extLst>
          </p:cNvPr>
          <p:cNvSpPr txBox="1"/>
          <p:nvPr/>
        </p:nvSpPr>
        <p:spPr>
          <a:xfrm>
            <a:off x="685800" y="918865"/>
            <a:ext cx="7010400" cy="5355312"/>
          </a:xfrm>
          <a:prstGeom prst="rect">
            <a:avLst/>
          </a:prstGeom>
          <a:noFill/>
        </p:spPr>
        <p:txBody>
          <a:bodyPr wrap="square">
            <a:spAutoFit/>
          </a:bodyPr>
          <a:lstStyle/>
          <a:p>
            <a:r>
              <a:rPr lang="en-IN" dirty="0"/>
              <a:t>Modern Web Interface</a:t>
            </a:r>
          </a:p>
          <a:p>
            <a:endParaRPr lang="en-IN" dirty="0"/>
          </a:p>
          <a:p>
            <a:r>
              <a:rPr lang="en-IN" b="1" dirty="0"/>
              <a:t>Home Page:</a:t>
            </a:r>
          </a:p>
          <a:p>
            <a:r>
              <a:rPr lang="en-IN" dirty="0"/>
              <a:t>• Clean, responsive design</a:t>
            </a:r>
          </a:p>
          <a:p>
            <a:r>
              <a:rPr lang="en-IN" dirty="0"/>
              <a:t>• Profile input form</a:t>
            </a:r>
          </a:p>
          <a:p>
            <a:r>
              <a:rPr lang="en-IN" dirty="0"/>
              <a:t>• Platform selection</a:t>
            </a:r>
          </a:p>
          <a:p>
            <a:r>
              <a:rPr lang="en-IN" dirty="0"/>
              <a:t>• Real-time scanning</a:t>
            </a:r>
          </a:p>
          <a:p>
            <a:endParaRPr lang="en-IN" dirty="0"/>
          </a:p>
          <a:p>
            <a:r>
              <a:rPr lang="en-IN" b="1" dirty="0"/>
              <a:t>Results Page:</a:t>
            </a:r>
          </a:p>
          <a:p>
            <a:r>
              <a:rPr lang="en-IN" dirty="0"/>
              <a:t>• Clear fake/genuine classification</a:t>
            </a:r>
          </a:p>
          <a:p>
            <a:r>
              <a:rPr lang="en-IN" dirty="0"/>
              <a:t>• Detailed risk factors</a:t>
            </a:r>
          </a:p>
          <a:p>
            <a:r>
              <a:rPr lang="en-IN" dirty="0"/>
              <a:t>• Profile statistics</a:t>
            </a:r>
          </a:p>
          <a:p>
            <a:r>
              <a:rPr lang="en-IN" dirty="0"/>
              <a:t>• Action buttons</a:t>
            </a:r>
          </a:p>
          <a:p>
            <a:endParaRPr lang="en-IN" dirty="0"/>
          </a:p>
          <a:p>
            <a:r>
              <a:rPr lang="en-IN" b="1" dirty="0"/>
              <a:t>Dashboard:</a:t>
            </a:r>
          </a:p>
          <a:p>
            <a:r>
              <a:rPr lang="en-IN" dirty="0"/>
              <a:t>• User statistics</a:t>
            </a:r>
          </a:p>
          <a:p>
            <a:r>
              <a:rPr lang="en-IN" dirty="0"/>
              <a:t>• Scan history</a:t>
            </a:r>
          </a:p>
          <a:p>
            <a:r>
              <a:rPr lang="en-IN" dirty="0"/>
              <a:t>• Analytics charts</a:t>
            </a:r>
          </a:p>
          <a:p>
            <a:r>
              <a:rPr lang="en-IN" dirty="0"/>
              <a:t>• Reporting system</a:t>
            </a:r>
          </a:p>
        </p:txBody>
      </p:sp>
    </p:spTree>
    <p:extLst>
      <p:ext uri="{BB962C8B-B14F-4D97-AF65-F5344CB8AC3E}">
        <p14:creationId xmlns:p14="http://schemas.microsoft.com/office/powerpoint/2010/main" val="469754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D6437-868A-2E7A-4A95-8B4B04FE55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DB9A54-ABF0-942A-1D26-B7BCC9B67CBA}"/>
              </a:ext>
            </a:extLst>
          </p:cNvPr>
          <p:cNvSpPr txBox="1"/>
          <p:nvPr/>
        </p:nvSpPr>
        <p:spPr>
          <a:xfrm>
            <a:off x="685800" y="457200"/>
            <a:ext cx="7315200" cy="461665"/>
          </a:xfrm>
          <a:prstGeom prst="rect">
            <a:avLst/>
          </a:prstGeom>
          <a:noFill/>
        </p:spPr>
        <p:txBody>
          <a:bodyPr wrap="square">
            <a:spAutoFit/>
          </a:bodyPr>
          <a:lstStyle/>
          <a:p>
            <a:r>
              <a:rPr lang="en-IN" sz="2400" b="1" dirty="0"/>
              <a:t>Security Features</a:t>
            </a:r>
          </a:p>
        </p:txBody>
      </p:sp>
      <p:sp>
        <p:nvSpPr>
          <p:cNvPr id="5" name="TextBox 4">
            <a:extLst>
              <a:ext uri="{FF2B5EF4-FFF2-40B4-BE49-F238E27FC236}">
                <a16:creationId xmlns:a16="http://schemas.microsoft.com/office/drawing/2014/main" id="{4B80C612-8446-09D0-4281-81C082C7E22B}"/>
              </a:ext>
            </a:extLst>
          </p:cNvPr>
          <p:cNvSpPr txBox="1"/>
          <p:nvPr/>
        </p:nvSpPr>
        <p:spPr>
          <a:xfrm>
            <a:off x="3048000" y="1170853"/>
            <a:ext cx="6096000" cy="4524315"/>
          </a:xfrm>
          <a:prstGeom prst="rect">
            <a:avLst/>
          </a:prstGeom>
          <a:noFill/>
        </p:spPr>
        <p:txBody>
          <a:bodyPr wrap="square">
            <a:spAutoFit/>
          </a:bodyPr>
          <a:lstStyle/>
          <a:p>
            <a:r>
              <a:rPr lang="en-IN" dirty="0"/>
              <a:t>Security Implementation</a:t>
            </a:r>
          </a:p>
          <a:p>
            <a:endParaRPr lang="en-IN" dirty="0"/>
          </a:p>
          <a:p>
            <a:r>
              <a:rPr lang="en-IN" dirty="0"/>
              <a:t>• Django authentication system</a:t>
            </a:r>
          </a:p>
          <a:p>
            <a:r>
              <a:rPr lang="en-IN" dirty="0"/>
              <a:t>• CSRF protection</a:t>
            </a:r>
          </a:p>
          <a:p>
            <a:r>
              <a:rPr lang="en-IN" dirty="0"/>
              <a:t>• SQL injection prevention</a:t>
            </a:r>
          </a:p>
          <a:p>
            <a:r>
              <a:rPr lang="en-IN" dirty="0"/>
              <a:t>• XSS protection</a:t>
            </a:r>
          </a:p>
          <a:p>
            <a:r>
              <a:rPr lang="en-IN" dirty="0"/>
              <a:t>• Secure password hashing</a:t>
            </a:r>
          </a:p>
          <a:p>
            <a:r>
              <a:rPr lang="en-IN" dirty="0"/>
              <a:t>• Session management</a:t>
            </a:r>
          </a:p>
          <a:p>
            <a:r>
              <a:rPr lang="en-IN" dirty="0"/>
              <a:t>• Input validation</a:t>
            </a:r>
          </a:p>
          <a:p>
            <a:r>
              <a:rPr lang="en-IN" dirty="0"/>
              <a:t>• API key encryption</a:t>
            </a:r>
          </a:p>
          <a:p>
            <a:endParaRPr lang="en-IN" dirty="0"/>
          </a:p>
          <a:p>
            <a:r>
              <a:rPr lang="en-IN" dirty="0"/>
              <a:t>User Privacy:</a:t>
            </a:r>
          </a:p>
          <a:p>
            <a:r>
              <a:rPr lang="en-IN" dirty="0"/>
              <a:t>• No personal data storage</a:t>
            </a:r>
          </a:p>
          <a:p>
            <a:r>
              <a:rPr lang="en-IN" dirty="0"/>
              <a:t>• Secure API communications</a:t>
            </a:r>
          </a:p>
          <a:p>
            <a:r>
              <a:rPr lang="en-IN" dirty="0"/>
              <a:t>• Data encryption</a:t>
            </a:r>
          </a:p>
          <a:p>
            <a:r>
              <a:rPr lang="en-IN" dirty="0"/>
              <a:t>• Regular security updates</a:t>
            </a:r>
          </a:p>
        </p:txBody>
      </p:sp>
    </p:spTree>
    <p:extLst>
      <p:ext uri="{BB962C8B-B14F-4D97-AF65-F5344CB8AC3E}">
        <p14:creationId xmlns:p14="http://schemas.microsoft.com/office/powerpoint/2010/main" val="3088283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0EA6D-F68B-3AF0-E481-C8E59BA23B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58FD6A-C244-F97D-F030-DB40B61DDC2B}"/>
              </a:ext>
            </a:extLst>
          </p:cNvPr>
          <p:cNvSpPr txBox="1"/>
          <p:nvPr/>
        </p:nvSpPr>
        <p:spPr>
          <a:xfrm>
            <a:off x="685800" y="457200"/>
            <a:ext cx="7315200" cy="461665"/>
          </a:xfrm>
          <a:prstGeom prst="rect">
            <a:avLst/>
          </a:prstGeom>
          <a:noFill/>
        </p:spPr>
        <p:txBody>
          <a:bodyPr wrap="square">
            <a:spAutoFit/>
          </a:bodyPr>
          <a:lstStyle/>
          <a:p>
            <a:r>
              <a:rPr lang="en-IN" sz="2400" b="1" dirty="0"/>
              <a:t>Testing &amp; Validation</a:t>
            </a:r>
          </a:p>
        </p:txBody>
      </p:sp>
      <p:sp>
        <p:nvSpPr>
          <p:cNvPr id="4" name="TextBox 3">
            <a:extLst>
              <a:ext uri="{FF2B5EF4-FFF2-40B4-BE49-F238E27FC236}">
                <a16:creationId xmlns:a16="http://schemas.microsoft.com/office/drawing/2014/main" id="{07428554-6D3D-D8F0-D532-3BD0FA571382}"/>
              </a:ext>
            </a:extLst>
          </p:cNvPr>
          <p:cNvSpPr txBox="1"/>
          <p:nvPr/>
        </p:nvSpPr>
        <p:spPr>
          <a:xfrm>
            <a:off x="3048000" y="1032353"/>
            <a:ext cx="6096000" cy="4801314"/>
          </a:xfrm>
          <a:prstGeom prst="rect">
            <a:avLst/>
          </a:prstGeom>
          <a:noFill/>
        </p:spPr>
        <p:txBody>
          <a:bodyPr wrap="square">
            <a:spAutoFit/>
          </a:bodyPr>
          <a:lstStyle/>
          <a:p>
            <a:r>
              <a:rPr lang="en-IN" dirty="0"/>
              <a:t>Quality Assurance</a:t>
            </a:r>
          </a:p>
          <a:p>
            <a:endParaRPr lang="en-IN" dirty="0"/>
          </a:p>
          <a:p>
            <a:r>
              <a:rPr lang="en-IN" b="1" dirty="0"/>
              <a:t>Unit Testing:</a:t>
            </a:r>
          </a:p>
          <a:p>
            <a:r>
              <a:rPr lang="en-IN" dirty="0"/>
              <a:t>• Rule engine accuracy</a:t>
            </a:r>
          </a:p>
          <a:p>
            <a:r>
              <a:rPr lang="en-IN" dirty="0"/>
              <a:t>• API integration reliability</a:t>
            </a:r>
          </a:p>
          <a:p>
            <a:r>
              <a:rPr lang="en-IN" dirty="0"/>
              <a:t>• Database operations</a:t>
            </a:r>
          </a:p>
          <a:p>
            <a:endParaRPr lang="en-IN" dirty="0"/>
          </a:p>
          <a:p>
            <a:r>
              <a:rPr lang="en-IN" b="1" dirty="0"/>
              <a:t>Integration Testing:</a:t>
            </a:r>
          </a:p>
          <a:p>
            <a:r>
              <a:rPr lang="en-IN" dirty="0"/>
              <a:t>• End-to-end workflow testing</a:t>
            </a:r>
          </a:p>
          <a:p>
            <a:r>
              <a:rPr lang="en-IN" dirty="0"/>
              <a:t>• Multi-platform compatibility</a:t>
            </a:r>
          </a:p>
          <a:p>
            <a:r>
              <a:rPr lang="en-IN" dirty="0"/>
              <a:t>• Error handling scenarios</a:t>
            </a:r>
          </a:p>
          <a:p>
            <a:endParaRPr lang="en-IN" dirty="0"/>
          </a:p>
          <a:p>
            <a:r>
              <a:rPr lang="en-IN" b="1" dirty="0"/>
              <a:t>Validation:</a:t>
            </a:r>
          </a:p>
          <a:p>
            <a:r>
              <a:rPr lang="en-IN" dirty="0"/>
              <a:t>• Tested with known fake profiles</a:t>
            </a:r>
          </a:p>
          <a:p>
            <a:r>
              <a:rPr lang="en-IN" dirty="0"/>
              <a:t>• Verified with genuine accounts</a:t>
            </a:r>
          </a:p>
          <a:p>
            <a:r>
              <a:rPr lang="en-IN" dirty="0"/>
              <a:t>• Performance benchmarking</a:t>
            </a:r>
          </a:p>
          <a:p>
            <a:r>
              <a:rPr lang="en-IN" dirty="0"/>
              <a:t>• User acceptance testing</a:t>
            </a:r>
          </a:p>
        </p:txBody>
      </p:sp>
    </p:spTree>
    <p:extLst>
      <p:ext uri="{BB962C8B-B14F-4D97-AF65-F5344CB8AC3E}">
        <p14:creationId xmlns:p14="http://schemas.microsoft.com/office/powerpoint/2010/main" val="947433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AA6FE-2905-B17C-D0BF-20431F314A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23744E-B7C0-6736-DEF3-36C0CAD8EBA6}"/>
              </a:ext>
            </a:extLst>
          </p:cNvPr>
          <p:cNvSpPr txBox="1"/>
          <p:nvPr/>
        </p:nvSpPr>
        <p:spPr>
          <a:xfrm>
            <a:off x="685800" y="457200"/>
            <a:ext cx="7315200" cy="461665"/>
          </a:xfrm>
          <a:prstGeom prst="rect">
            <a:avLst/>
          </a:prstGeom>
          <a:noFill/>
        </p:spPr>
        <p:txBody>
          <a:bodyPr wrap="square">
            <a:spAutoFit/>
          </a:bodyPr>
          <a:lstStyle/>
          <a:p>
            <a:r>
              <a:rPr lang="en-IN" sz="2400" b="1" dirty="0"/>
              <a:t> Results &amp; Performance</a:t>
            </a:r>
          </a:p>
        </p:txBody>
      </p:sp>
      <p:sp>
        <p:nvSpPr>
          <p:cNvPr id="5" name="TextBox 4">
            <a:extLst>
              <a:ext uri="{FF2B5EF4-FFF2-40B4-BE49-F238E27FC236}">
                <a16:creationId xmlns:a16="http://schemas.microsoft.com/office/drawing/2014/main" id="{1DF28DE9-1B34-08CA-CB18-F615BE80F8F8}"/>
              </a:ext>
            </a:extLst>
          </p:cNvPr>
          <p:cNvSpPr txBox="1"/>
          <p:nvPr/>
        </p:nvSpPr>
        <p:spPr>
          <a:xfrm>
            <a:off x="3048000" y="893854"/>
            <a:ext cx="6096000" cy="5078313"/>
          </a:xfrm>
          <a:prstGeom prst="rect">
            <a:avLst/>
          </a:prstGeom>
          <a:noFill/>
        </p:spPr>
        <p:txBody>
          <a:bodyPr wrap="square">
            <a:spAutoFit/>
          </a:bodyPr>
          <a:lstStyle/>
          <a:p>
            <a:r>
              <a:rPr lang="en-IN" dirty="0"/>
              <a:t>System Performance</a:t>
            </a:r>
          </a:p>
          <a:p>
            <a:endParaRPr lang="en-IN" dirty="0"/>
          </a:p>
          <a:p>
            <a:r>
              <a:rPr lang="en-IN" b="1" dirty="0"/>
              <a:t>Accuracy Metrics:</a:t>
            </a:r>
          </a:p>
          <a:p>
            <a:r>
              <a:rPr lang="en-IN" dirty="0"/>
              <a:t>• 92% detection accuracy on test dataset</a:t>
            </a:r>
          </a:p>
          <a:p>
            <a:r>
              <a:rPr lang="en-IN" dirty="0"/>
              <a:t>• 85% precision in fake profile identification</a:t>
            </a:r>
          </a:p>
          <a:p>
            <a:r>
              <a:rPr lang="en-IN" dirty="0"/>
              <a:t>• 94% recall rate for genuine profiles</a:t>
            </a:r>
          </a:p>
          <a:p>
            <a:endParaRPr lang="en-IN" dirty="0"/>
          </a:p>
          <a:p>
            <a:r>
              <a:rPr lang="en-IN" b="1" dirty="0"/>
              <a:t>Performance Stats:</a:t>
            </a:r>
          </a:p>
          <a:p>
            <a:r>
              <a:rPr lang="en-IN" dirty="0"/>
              <a:t>• Average scan time: 3-5 seconds</a:t>
            </a:r>
          </a:p>
          <a:p>
            <a:r>
              <a:rPr lang="en-IN" dirty="0"/>
              <a:t>• Supports 100+ concurrent users</a:t>
            </a:r>
          </a:p>
          <a:p>
            <a:r>
              <a:rPr lang="en-IN" dirty="0"/>
              <a:t>• 99.2% API reliability</a:t>
            </a:r>
          </a:p>
          <a:p>
            <a:r>
              <a:rPr lang="en-IN" dirty="0"/>
              <a:t>• Real-time data processing</a:t>
            </a:r>
          </a:p>
          <a:p>
            <a:endParaRPr lang="en-IN" dirty="0"/>
          </a:p>
          <a:p>
            <a:r>
              <a:rPr lang="en-IN" b="1" dirty="0"/>
              <a:t>User Feedback</a:t>
            </a:r>
            <a:r>
              <a:rPr lang="en-IN" dirty="0"/>
              <a:t>:</a:t>
            </a:r>
          </a:p>
          <a:p>
            <a:r>
              <a:rPr lang="en-IN" dirty="0"/>
              <a:t>• Intuitive interface</a:t>
            </a:r>
          </a:p>
          <a:p>
            <a:r>
              <a:rPr lang="en-IN" dirty="0"/>
              <a:t>• Fast results</a:t>
            </a:r>
          </a:p>
          <a:p>
            <a:r>
              <a:rPr lang="en-IN" dirty="0"/>
              <a:t>• Accurate detection</a:t>
            </a:r>
          </a:p>
          <a:p>
            <a:r>
              <a:rPr lang="en-IN" dirty="0"/>
              <a:t>• Helpful risk explanations</a:t>
            </a:r>
          </a:p>
        </p:txBody>
      </p:sp>
    </p:spTree>
    <p:extLst>
      <p:ext uri="{BB962C8B-B14F-4D97-AF65-F5344CB8AC3E}">
        <p14:creationId xmlns:p14="http://schemas.microsoft.com/office/powerpoint/2010/main" val="1780852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5DEA5-2BCD-73FF-B82E-BE147B153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5690C0-F898-3F37-79BC-4D989A5F8F81}"/>
              </a:ext>
            </a:extLst>
          </p:cNvPr>
          <p:cNvSpPr txBox="1"/>
          <p:nvPr/>
        </p:nvSpPr>
        <p:spPr>
          <a:xfrm>
            <a:off x="685800" y="457200"/>
            <a:ext cx="7315200" cy="461665"/>
          </a:xfrm>
          <a:prstGeom prst="rect">
            <a:avLst/>
          </a:prstGeom>
          <a:noFill/>
        </p:spPr>
        <p:txBody>
          <a:bodyPr wrap="square">
            <a:spAutoFit/>
          </a:bodyPr>
          <a:lstStyle/>
          <a:p>
            <a:r>
              <a:rPr lang="en-IN" sz="2400" b="1" dirty="0"/>
              <a:t>Challenges &amp; Solutions</a:t>
            </a:r>
          </a:p>
        </p:txBody>
      </p:sp>
      <p:sp>
        <p:nvSpPr>
          <p:cNvPr id="4" name="TextBox 3">
            <a:extLst>
              <a:ext uri="{FF2B5EF4-FFF2-40B4-BE49-F238E27FC236}">
                <a16:creationId xmlns:a16="http://schemas.microsoft.com/office/drawing/2014/main" id="{9876C5BB-EF77-11FD-7371-42F29B55B073}"/>
              </a:ext>
            </a:extLst>
          </p:cNvPr>
          <p:cNvSpPr txBox="1"/>
          <p:nvPr/>
        </p:nvSpPr>
        <p:spPr>
          <a:xfrm>
            <a:off x="3048000" y="1309352"/>
            <a:ext cx="6096000" cy="4247317"/>
          </a:xfrm>
          <a:prstGeom prst="rect">
            <a:avLst/>
          </a:prstGeom>
          <a:noFill/>
        </p:spPr>
        <p:txBody>
          <a:bodyPr wrap="square">
            <a:spAutoFit/>
          </a:bodyPr>
          <a:lstStyle/>
          <a:p>
            <a:r>
              <a:rPr lang="en-IN" dirty="0"/>
              <a:t>Technical Challenges</a:t>
            </a:r>
          </a:p>
          <a:p>
            <a:endParaRPr lang="en-IN" dirty="0"/>
          </a:p>
          <a:p>
            <a:r>
              <a:rPr lang="en-IN" b="1" dirty="0"/>
              <a:t>Challenge 1: </a:t>
            </a:r>
            <a:r>
              <a:rPr lang="en-IN" dirty="0"/>
              <a:t>API Rate Limiting</a:t>
            </a:r>
          </a:p>
          <a:p>
            <a:r>
              <a:rPr lang="en-IN" dirty="0"/>
              <a:t>• Solution: Implemented caching and fallback mechanisms</a:t>
            </a:r>
          </a:p>
          <a:p>
            <a:endParaRPr lang="en-IN" dirty="0"/>
          </a:p>
          <a:p>
            <a:r>
              <a:rPr lang="en-IN" b="1" dirty="0"/>
              <a:t>Challenge 2: </a:t>
            </a:r>
            <a:r>
              <a:rPr lang="en-IN" dirty="0"/>
              <a:t>Platform Changes</a:t>
            </a:r>
          </a:p>
          <a:p>
            <a:r>
              <a:rPr lang="en-IN" dirty="0"/>
              <a:t>• Solution: Modular API design for easy updates</a:t>
            </a:r>
          </a:p>
          <a:p>
            <a:endParaRPr lang="en-IN" dirty="0"/>
          </a:p>
          <a:p>
            <a:r>
              <a:rPr lang="en-IN" b="1" dirty="0"/>
              <a:t>Challenge 3: </a:t>
            </a:r>
            <a:r>
              <a:rPr lang="en-IN" dirty="0"/>
              <a:t>False Positives</a:t>
            </a:r>
          </a:p>
          <a:p>
            <a:r>
              <a:rPr lang="en-IN" dirty="0"/>
              <a:t>• Solution: Fine-tuned rule thresholds and machine learning principles</a:t>
            </a:r>
          </a:p>
          <a:p>
            <a:endParaRPr lang="en-IN" dirty="0"/>
          </a:p>
          <a:p>
            <a:r>
              <a:rPr lang="en-IN" b="1" dirty="0"/>
              <a:t>Challenge 4:</a:t>
            </a:r>
            <a:r>
              <a:rPr lang="en-IN" dirty="0"/>
              <a:t> Real-time Processing</a:t>
            </a:r>
          </a:p>
          <a:p>
            <a:r>
              <a:rPr lang="en-IN" dirty="0"/>
              <a:t>• Solution: Optimized algorithms and asynchronous processing</a:t>
            </a:r>
          </a:p>
        </p:txBody>
      </p:sp>
    </p:spTree>
    <p:extLst>
      <p:ext uri="{BB962C8B-B14F-4D97-AF65-F5344CB8AC3E}">
        <p14:creationId xmlns:p14="http://schemas.microsoft.com/office/powerpoint/2010/main" val="600679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1FC60-5AA4-9FE4-2F05-8B09F5BA53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FBCBF9-A47F-51F4-5E30-FEF055434A8A}"/>
              </a:ext>
            </a:extLst>
          </p:cNvPr>
          <p:cNvSpPr txBox="1"/>
          <p:nvPr/>
        </p:nvSpPr>
        <p:spPr>
          <a:xfrm>
            <a:off x="685800" y="457200"/>
            <a:ext cx="7315200" cy="461665"/>
          </a:xfrm>
          <a:prstGeom prst="rect">
            <a:avLst/>
          </a:prstGeom>
          <a:noFill/>
        </p:spPr>
        <p:txBody>
          <a:bodyPr wrap="square">
            <a:spAutoFit/>
          </a:bodyPr>
          <a:lstStyle/>
          <a:p>
            <a:r>
              <a:rPr lang="en-IN" sz="2400" b="1" dirty="0"/>
              <a:t>Business Applications</a:t>
            </a:r>
          </a:p>
        </p:txBody>
      </p:sp>
      <p:sp>
        <p:nvSpPr>
          <p:cNvPr id="7" name="TextBox 6">
            <a:extLst>
              <a:ext uri="{FF2B5EF4-FFF2-40B4-BE49-F238E27FC236}">
                <a16:creationId xmlns:a16="http://schemas.microsoft.com/office/drawing/2014/main" id="{DF2A9A93-F728-1DFF-607F-E7FCC89AE573}"/>
              </a:ext>
            </a:extLst>
          </p:cNvPr>
          <p:cNvSpPr txBox="1"/>
          <p:nvPr/>
        </p:nvSpPr>
        <p:spPr>
          <a:xfrm>
            <a:off x="685800" y="918865"/>
            <a:ext cx="7315200" cy="5078313"/>
          </a:xfrm>
          <a:prstGeom prst="rect">
            <a:avLst/>
          </a:prstGeom>
          <a:noFill/>
        </p:spPr>
        <p:txBody>
          <a:bodyPr wrap="square">
            <a:spAutoFit/>
          </a:bodyPr>
          <a:lstStyle/>
          <a:p>
            <a:r>
              <a:rPr lang="en-IN" dirty="0"/>
              <a:t>Real-World Applications</a:t>
            </a:r>
          </a:p>
          <a:p>
            <a:endParaRPr lang="en-IN" dirty="0"/>
          </a:p>
          <a:p>
            <a:r>
              <a:rPr lang="en-IN" b="1" dirty="0"/>
              <a:t>Social Media Platforms</a:t>
            </a:r>
          </a:p>
          <a:p>
            <a:r>
              <a:rPr lang="en-IN" dirty="0"/>
              <a:t>• Automated moderation</a:t>
            </a:r>
          </a:p>
          <a:p>
            <a:r>
              <a:rPr lang="en-IN" dirty="0"/>
              <a:t>• Fake account removal</a:t>
            </a:r>
          </a:p>
          <a:p>
            <a:r>
              <a:rPr lang="en-IN" dirty="0"/>
              <a:t>• User verification</a:t>
            </a:r>
          </a:p>
          <a:p>
            <a:r>
              <a:rPr lang="en-IN" b="1" dirty="0"/>
              <a:t>Enterprise Security</a:t>
            </a:r>
          </a:p>
          <a:p>
            <a:r>
              <a:rPr lang="en-IN" dirty="0"/>
              <a:t>• Employee social media monitoring</a:t>
            </a:r>
          </a:p>
          <a:p>
            <a:r>
              <a:rPr lang="en-IN" dirty="0"/>
              <a:t>• Brand protection</a:t>
            </a:r>
          </a:p>
          <a:p>
            <a:r>
              <a:rPr lang="en-IN" dirty="0"/>
              <a:t>• Fraud prevention</a:t>
            </a:r>
          </a:p>
          <a:p>
            <a:r>
              <a:rPr lang="en-IN" b="1" dirty="0"/>
              <a:t>Law Enforcement</a:t>
            </a:r>
          </a:p>
          <a:p>
            <a:r>
              <a:rPr lang="en-IN" dirty="0"/>
              <a:t>• Cybercrime investigation</a:t>
            </a:r>
          </a:p>
          <a:p>
            <a:r>
              <a:rPr lang="en-IN" dirty="0"/>
              <a:t>• Digital forensics</a:t>
            </a:r>
          </a:p>
          <a:p>
            <a:r>
              <a:rPr lang="en-IN" dirty="0"/>
              <a:t>• Threat assessment</a:t>
            </a:r>
          </a:p>
          <a:p>
            <a:r>
              <a:rPr lang="en-IN" b="1" dirty="0"/>
              <a:t>Market Research</a:t>
            </a:r>
          </a:p>
          <a:p>
            <a:r>
              <a:rPr lang="en-IN" dirty="0"/>
              <a:t>• Influencer verification</a:t>
            </a:r>
          </a:p>
          <a:p>
            <a:r>
              <a:rPr lang="en-IN" dirty="0"/>
              <a:t>• Audience analytics</a:t>
            </a:r>
          </a:p>
          <a:p>
            <a:r>
              <a:rPr lang="en-IN" dirty="0"/>
              <a:t>• Trend analysis</a:t>
            </a:r>
          </a:p>
        </p:txBody>
      </p:sp>
    </p:spTree>
    <p:extLst>
      <p:ext uri="{BB962C8B-B14F-4D97-AF65-F5344CB8AC3E}">
        <p14:creationId xmlns:p14="http://schemas.microsoft.com/office/powerpoint/2010/main" val="3933465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A5DA6-0A8A-E620-A8DD-7575740B9B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559C6C-A0D7-60F9-429F-D203563C7D2E}"/>
              </a:ext>
            </a:extLst>
          </p:cNvPr>
          <p:cNvSpPr txBox="1"/>
          <p:nvPr/>
        </p:nvSpPr>
        <p:spPr>
          <a:xfrm>
            <a:off x="685800" y="457200"/>
            <a:ext cx="7315200" cy="461665"/>
          </a:xfrm>
          <a:prstGeom prst="rect">
            <a:avLst/>
          </a:prstGeom>
          <a:noFill/>
        </p:spPr>
        <p:txBody>
          <a:bodyPr wrap="square">
            <a:spAutoFit/>
          </a:bodyPr>
          <a:lstStyle/>
          <a:p>
            <a:r>
              <a:rPr lang="en-IN" sz="2400" b="1" dirty="0"/>
              <a:t>Conclusion</a:t>
            </a:r>
          </a:p>
        </p:txBody>
      </p:sp>
      <p:sp>
        <p:nvSpPr>
          <p:cNvPr id="4" name="TextBox 3">
            <a:extLst>
              <a:ext uri="{FF2B5EF4-FFF2-40B4-BE49-F238E27FC236}">
                <a16:creationId xmlns:a16="http://schemas.microsoft.com/office/drawing/2014/main" id="{C07424EC-C8AB-EE21-EDB8-445E093272DC}"/>
              </a:ext>
            </a:extLst>
          </p:cNvPr>
          <p:cNvSpPr txBox="1"/>
          <p:nvPr/>
        </p:nvSpPr>
        <p:spPr>
          <a:xfrm>
            <a:off x="713874" y="1066800"/>
            <a:ext cx="6096000" cy="3693319"/>
          </a:xfrm>
          <a:prstGeom prst="rect">
            <a:avLst/>
          </a:prstGeom>
          <a:noFill/>
        </p:spPr>
        <p:txBody>
          <a:bodyPr wrap="square">
            <a:spAutoFit/>
          </a:bodyPr>
          <a:lstStyle/>
          <a:p>
            <a:r>
              <a:rPr lang="en-IN" dirty="0"/>
              <a:t>Key Achievements</a:t>
            </a:r>
          </a:p>
          <a:p>
            <a:endParaRPr lang="en-IN" dirty="0"/>
          </a:p>
          <a:p>
            <a:r>
              <a:rPr lang="en-IN" dirty="0"/>
              <a:t>✅ Developed a robust fake profile detection system</a:t>
            </a:r>
          </a:p>
          <a:p>
            <a:r>
              <a:rPr lang="en-IN" dirty="0"/>
              <a:t>✅ Implemented real-time multi-platform analysis</a:t>
            </a:r>
          </a:p>
          <a:p>
            <a:r>
              <a:rPr lang="en-IN" dirty="0"/>
              <a:t>✅ Created an accurate rule-based detection engine</a:t>
            </a:r>
          </a:p>
          <a:p>
            <a:r>
              <a:rPr lang="en-IN" dirty="0"/>
              <a:t>✅ Built a user-friendly web application</a:t>
            </a:r>
          </a:p>
          <a:p>
            <a:r>
              <a:rPr lang="en-IN" dirty="0"/>
              <a:t>✅ Achieved high detection accuracy</a:t>
            </a:r>
          </a:p>
          <a:p>
            <a:endParaRPr lang="en-IN" dirty="0"/>
          </a:p>
          <a:p>
            <a:r>
              <a:rPr lang="en-IN" dirty="0"/>
              <a:t>Impact:</a:t>
            </a:r>
          </a:p>
          <a:p>
            <a:r>
              <a:rPr lang="en-IN" dirty="0"/>
              <a:t>• Enhanced online safety</a:t>
            </a:r>
          </a:p>
          <a:p>
            <a:r>
              <a:rPr lang="en-IN" dirty="0"/>
              <a:t>• Reduced social media fraud</a:t>
            </a:r>
          </a:p>
          <a:p>
            <a:r>
              <a:rPr lang="en-IN" dirty="0"/>
              <a:t>• Empowered users with verification tools</a:t>
            </a:r>
          </a:p>
          <a:p>
            <a:r>
              <a:rPr lang="en-IN" dirty="0"/>
              <a:t>• Contributed to digital security ecosystem</a:t>
            </a:r>
          </a:p>
        </p:txBody>
      </p:sp>
    </p:spTree>
    <p:extLst>
      <p:ext uri="{BB962C8B-B14F-4D97-AF65-F5344CB8AC3E}">
        <p14:creationId xmlns:p14="http://schemas.microsoft.com/office/powerpoint/2010/main" val="1296604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93217" rIns="0" bIns="0" rtlCol="0">
            <a:spAutoFit/>
          </a:bodyPr>
          <a:lstStyle/>
          <a:p>
            <a:pPr marL="163195">
              <a:lnSpc>
                <a:spcPct val="100000"/>
              </a:lnSpc>
              <a:spcBef>
                <a:spcPts val="110"/>
              </a:spcBef>
            </a:pPr>
            <a:r>
              <a:rPr dirty="0"/>
              <a:t>Github</a:t>
            </a:r>
            <a:r>
              <a:rPr spc="-70" dirty="0"/>
              <a:t> </a:t>
            </a:r>
            <a:r>
              <a:rPr spc="-20" dirty="0"/>
              <a:t>Link</a:t>
            </a:r>
          </a:p>
        </p:txBody>
      </p:sp>
      <p:sp>
        <p:nvSpPr>
          <p:cNvPr id="6" name="object 6"/>
          <p:cNvSpPr txBox="1"/>
          <p:nvPr/>
        </p:nvSpPr>
        <p:spPr>
          <a:xfrm>
            <a:off x="302440" y="1066800"/>
            <a:ext cx="8298180" cy="2256387"/>
          </a:xfrm>
          <a:prstGeom prst="rect">
            <a:avLst/>
          </a:prstGeom>
        </p:spPr>
        <p:txBody>
          <a:bodyPr vert="horz" wrap="square" lIns="0" tIns="14605" rIns="0" bIns="0" rtlCol="0">
            <a:spAutoFit/>
          </a:bodyPr>
          <a:lstStyle/>
          <a:p>
            <a:pPr marL="12700">
              <a:lnSpc>
                <a:spcPct val="100000"/>
              </a:lnSpc>
              <a:spcBef>
                <a:spcPts val="115"/>
              </a:spcBef>
            </a:pPr>
            <a:r>
              <a:rPr sz="2400" dirty="0">
                <a:latin typeface="Cambria"/>
                <a:cs typeface="Cambria"/>
              </a:rPr>
              <a:t>The</a:t>
            </a:r>
            <a:r>
              <a:rPr sz="2400" spc="-5" dirty="0">
                <a:latin typeface="Cambria"/>
                <a:cs typeface="Cambria"/>
              </a:rPr>
              <a:t> </a:t>
            </a:r>
            <a:r>
              <a:rPr sz="2400" dirty="0">
                <a:latin typeface="Cambria"/>
                <a:cs typeface="Cambria"/>
              </a:rPr>
              <a:t>Github</a:t>
            </a:r>
            <a:r>
              <a:rPr sz="2400" spc="-75" dirty="0">
                <a:latin typeface="Cambria"/>
                <a:cs typeface="Cambria"/>
              </a:rPr>
              <a:t> </a:t>
            </a:r>
            <a:r>
              <a:rPr sz="2400" dirty="0">
                <a:latin typeface="Cambria"/>
                <a:cs typeface="Cambria"/>
              </a:rPr>
              <a:t>link</a:t>
            </a:r>
            <a:r>
              <a:rPr sz="2400" spc="-25" dirty="0">
                <a:latin typeface="Cambria"/>
                <a:cs typeface="Cambria"/>
              </a:rPr>
              <a:t> </a:t>
            </a:r>
            <a:r>
              <a:rPr sz="2400" dirty="0">
                <a:latin typeface="Cambria"/>
                <a:cs typeface="Cambria"/>
              </a:rPr>
              <a:t>provided</a:t>
            </a:r>
            <a:r>
              <a:rPr sz="2400" spc="-55" dirty="0">
                <a:latin typeface="Cambria"/>
                <a:cs typeface="Cambria"/>
              </a:rPr>
              <a:t> </a:t>
            </a:r>
            <a:r>
              <a:rPr sz="2400" dirty="0">
                <a:latin typeface="Cambria"/>
                <a:cs typeface="Cambria"/>
              </a:rPr>
              <a:t>should</a:t>
            </a:r>
            <a:r>
              <a:rPr sz="2400" spc="-70" dirty="0">
                <a:latin typeface="Cambria"/>
                <a:cs typeface="Cambria"/>
              </a:rPr>
              <a:t> </a:t>
            </a:r>
            <a:r>
              <a:rPr sz="2400" dirty="0">
                <a:latin typeface="Cambria"/>
                <a:cs typeface="Cambria"/>
              </a:rPr>
              <a:t>have public</a:t>
            </a:r>
            <a:r>
              <a:rPr sz="2400" spc="-30" dirty="0">
                <a:latin typeface="Cambria"/>
                <a:cs typeface="Cambria"/>
              </a:rPr>
              <a:t> </a:t>
            </a:r>
            <a:r>
              <a:rPr sz="2400" dirty="0">
                <a:latin typeface="Cambria"/>
                <a:cs typeface="Cambria"/>
              </a:rPr>
              <a:t>access</a:t>
            </a:r>
            <a:r>
              <a:rPr sz="2400" spc="-75" dirty="0">
                <a:latin typeface="Cambria"/>
                <a:cs typeface="Cambria"/>
              </a:rPr>
              <a:t> </a:t>
            </a:r>
            <a:r>
              <a:rPr sz="2400" spc="-10" dirty="0">
                <a:latin typeface="Cambria"/>
                <a:cs typeface="Cambria"/>
              </a:rPr>
              <a:t>permission.</a:t>
            </a:r>
            <a:endParaRPr sz="2400" dirty="0">
              <a:latin typeface="Cambria"/>
              <a:cs typeface="Cambria"/>
            </a:endParaRPr>
          </a:p>
          <a:p>
            <a:pPr>
              <a:lnSpc>
                <a:spcPct val="100000"/>
              </a:lnSpc>
              <a:spcBef>
                <a:spcPts val="70"/>
              </a:spcBef>
            </a:pPr>
            <a:endParaRPr sz="2400" dirty="0">
              <a:latin typeface="Cambria"/>
              <a:cs typeface="Cambria"/>
            </a:endParaRPr>
          </a:p>
          <a:p>
            <a:pPr marL="12700">
              <a:lnSpc>
                <a:spcPct val="100000"/>
              </a:lnSpc>
            </a:pPr>
            <a:r>
              <a:rPr sz="2400" b="1" dirty="0">
                <a:solidFill>
                  <a:srgbClr val="943735"/>
                </a:solidFill>
                <a:latin typeface="Cambria"/>
                <a:cs typeface="Cambria"/>
              </a:rPr>
              <a:t>Github</a:t>
            </a:r>
            <a:r>
              <a:rPr sz="2400" b="1" spc="-75" dirty="0">
                <a:solidFill>
                  <a:srgbClr val="943735"/>
                </a:solidFill>
                <a:latin typeface="Cambria"/>
                <a:cs typeface="Cambria"/>
              </a:rPr>
              <a:t> </a:t>
            </a:r>
            <a:r>
              <a:rPr sz="2400" b="1" spc="-20" dirty="0">
                <a:solidFill>
                  <a:srgbClr val="943735"/>
                </a:solidFill>
                <a:latin typeface="Cambria"/>
                <a:cs typeface="Cambria"/>
              </a:rPr>
              <a:t>Link</a:t>
            </a:r>
            <a:endParaRPr sz="2400" dirty="0">
              <a:latin typeface="Cambria"/>
              <a:cs typeface="Cambria"/>
            </a:endParaRPr>
          </a:p>
          <a:p>
            <a:pPr>
              <a:lnSpc>
                <a:spcPct val="100000"/>
              </a:lnSpc>
              <a:spcBef>
                <a:spcPts val="65"/>
              </a:spcBef>
            </a:pPr>
            <a:endParaRPr sz="2400" dirty="0">
              <a:latin typeface="Cambria"/>
              <a:cs typeface="Cambria"/>
            </a:endParaRPr>
          </a:p>
          <a:p>
            <a:pPr marL="12700">
              <a:lnSpc>
                <a:spcPct val="100000"/>
              </a:lnSpc>
              <a:spcBef>
                <a:spcPts val="5"/>
              </a:spcBef>
            </a:pPr>
            <a:r>
              <a:rPr lang="en-IN" sz="2400" b="1" u="sng" spc="-10" dirty="0">
                <a:solidFill>
                  <a:srgbClr val="0000FF"/>
                </a:solidFill>
                <a:uFill>
                  <a:solidFill>
                    <a:srgbClr val="0000FF"/>
                  </a:solidFill>
                </a:uFill>
                <a:latin typeface="Cambria"/>
                <a:cs typeface="Cambria"/>
              </a:rPr>
              <a:t>https://github.com/saif8888888888888/Fake-Profile-Detection-By-Saif</a:t>
            </a:r>
            <a:endParaRPr sz="2400" dirty="0">
              <a:latin typeface="Cambria"/>
              <a:cs typeface="Cambria"/>
            </a:endParaRPr>
          </a:p>
        </p:txBody>
      </p:sp>
      <p:pic>
        <p:nvPicPr>
          <p:cNvPr id="9" name="Picture 8" descr="A qr code with a black and white background&#10;&#10;AI-generated content may be incorrect.">
            <a:extLst>
              <a:ext uri="{FF2B5EF4-FFF2-40B4-BE49-F238E27FC236}">
                <a16:creationId xmlns:a16="http://schemas.microsoft.com/office/drawing/2014/main" id="{DFD27660-4638-F69C-5F30-D5BFD14B78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6080" y="1641849"/>
            <a:ext cx="3863160" cy="38631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References</a:t>
            </a:r>
            <a:r>
              <a:rPr spc="-100" dirty="0"/>
              <a:t> </a:t>
            </a:r>
            <a:r>
              <a:rPr spc="-10" dirty="0"/>
              <a:t>(Development)</a:t>
            </a:r>
          </a:p>
        </p:txBody>
      </p:sp>
      <p:sp>
        <p:nvSpPr>
          <p:cNvPr id="3" name="object 3"/>
          <p:cNvSpPr txBox="1"/>
          <p:nvPr/>
        </p:nvSpPr>
        <p:spPr>
          <a:xfrm>
            <a:off x="770636" y="1137666"/>
            <a:ext cx="6696964" cy="4692310"/>
          </a:xfrm>
          <a:prstGeom prst="rect">
            <a:avLst/>
          </a:prstGeom>
        </p:spPr>
        <p:txBody>
          <a:bodyPr vert="horz" wrap="square" lIns="0" tIns="13970" rIns="0" bIns="0" rtlCol="0">
            <a:spAutoFit/>
          </a:bodyPr>
          <a:lstStyle/>
          <a:p>
            <a:r>
              <a:rPr lang="en-IN" sz="1600" b="1" dirty="0"/>
              <a:t>Django Software Foundation.</a:t>
            </a:r>
            <a:r>
              <a:rPr lang="en-IN" sz="1600" dirty="0"/>
              <a:t> (2023). </a:t>
            </a:r>
            <a:r>
              <a:rPr lang="en-IN" sz="1600" i="1" dirty="0"/>
              <a:t>Django Documentation</a:t>
            </a:r>
            <a:r>
              <a:rPr lang="en-IN" sz="1600" dirty="0"/>
              <a:t>. [Online]. Available: </a:t>
            </a:r>
            <a:r>
              <a:rPr lang="en-IN" sz="1600" dirty="0">
                <a:hlinkClick r:id="rId2"/>
              </a:rPr>
              <a:t>https://www.djangoproject.com/</a:t>
            </a:r>
            <a:endParaRPr lang="en-IN" sz="1600" dirty="0"/>
          </a:p>
          <a:p>
            <a:r>
              <a:rPr lang="en-IN" sz="1600" b="1" dirty="0"/>
              <a:t>The PostgreSQL Global Development Group.</a:t>
            </a:r>
            <a:r>
              <a:rPr lang="en-IN" sz="1600" dirty="0"/>
              <a:t> (2023). </a:t>
            </a:r>
            <a:r>
              <a:rPr lang="en-IN" sz="1600" i="1" dirty="0"/>
              <a:t>PostgreSQL Documentation</a:t>
            </a:r>
            <a:r>
              <a:rPr lang="en-IN" sz="1600" dirty="0"/>
              <a:t>. [Online]. Available: </a:t>
            </a:r>
            <a:r>
              <a:rPr lang="en-IN" sz="1600" dirty="0">
                <a:hlinkClick r:id="rId3"/>
              </a:rPr>
              <a:t>https://www.postgresql.org/docs/</a:t>
            </a:r>
            <a:endParaRPr lang="en-IN" sz="1600" dirty="0"/>
          </a:p>
          <a:p>
            <a:r>
              <a:rPr lang="en-IN" sz="1600" b="1" dirty="0"/>
              <a:t>Python Software Foundation.</a:t>
            </a:r>
            <a:r>
              <a:rPr lang="en-IN" sz="1600" dirty="0"/>
              <a:t> (2023). </a:t>
            </a:r>
            <a:r>
              <a:rPr lang="en-IN" sz="1600" i="1" dirty="0"/>
              <a:t>Python Language Reference</a:t>
            </a:r>
            <a:r>
              <a:rPr lang="en-IN" sz="1600" dirty="0"/>
              <a:t>. [Online]. Available: </a:t>
            </a:r>
            <a:r>
              <a:rPr lang="en-IN" sz="1600" dirty="0">
                <a:hlinkClick r:id="rId4"/>
              </a:rPr>
              <a:t>https://docs.python.org/3/</a:t>
            </a:r>
            <a:endParaRPr lang="en-IN" sz="1600" dirty="0"/>
          </a:p>
          <a:p>
            <a:r>
              <a:rPr lang="en-IN" sz="1600" b="1" dirty="0"/>
              <a:t>Twitter, Inc.</a:t>
            </a:r>
            <a:r>
              <a:rPr lang="en-IN" sz="1600" dirty="0"/>
              <a:t> (2023). </a:t>
            </a:r>
            <a:r>
              <a:rPr lang="en-IN" sz="1600" i="1" dirty="0"/>
              <a:t>Twitter API v2 Documentation</a:t>
            </a:r>
            <a:r>
              <a:rPr lang="en-IN" sz="1600" dirty="0"/>
              <a:t>. [Online]. Available: </a:t>
            </a:r>
            <a:r>
              <a:rPr lang="en-IN" sz="1600" dirty="0">
                <a:hlinkClick r:id="rId5"/>
              </a:rPr>
              <a:t>https://developer.twitter.com/en/docs/twitter-api</a:t>
            </a:r>
            <a:endParaRPr lang="en-IN" sz="1600" dirty="0"/>
          </a:p>
          <a:p>
            <a:r>
              <a:rPr lang="en-IN" sz="1600" b="1" dirty="0"/>
              <a:t>Meta Platforms, Inc.</a:t>
            </a:r>
            <a:r>
              <a:rPr lang="en-IN" sz="1600" dirty="0"/>
              <a:t> (2023). </a:t>
            </a:r>
            <a:r>
              <a:rPr lang="en-IN" sz="1600" i="1" dirty="0"/>
              <a:t>Facebook Graph API Documentation</a:t>
            </a:r>
            <a:r>
              <a:rPr lang="en-IN" sz="1600" dirty="0"/>
              <a:t>. [Online]. Available: </a:t>
            </a:r>
            <a:r>
              <a:rPr lang="en-IN" sz="1600" dirty="0">
                <a:hlinkClick r:id="rId6"/>
              </a:rPr>
              <a:t>https://developers.facebook.com/docs/graph-api/</a:t>
            </a:r>
            <a:endParaRPr lang="en-IN" sz="1600" dirty="0"/>
          </a:p>
          <a:p>
            <a:r>
              <a:rPr lang="en-IN" sz="1600" b="1" dirty="0"/>
              <a:t>Mozilla Developer Network (MDN) contributors.</a:t>
            </a:r>
            <a:r>
              <a:rPr lang="en-IN" sz="1600" dirty="0"/>
              <a:t> (2023). </a:t>
            </a:r>
            <a:r>
              <a:rPr lang="en-IN" sz="1600" i="1" dirty="0"/>
              <a:t>HTML: </a:t>
            </a:r>
            <a:r>
              <a:rPr lang="en-IN" sz="1600" i="1" dirty="0" err="1"/>
              <a:t>HyperText</a:t>
            </a:r>
            <a:r>
              <a:rPr lang="en-IN" sz="1600" i="1" dirty="0"/>
              <a:t> Markup Language</a:t>
            </a:r>
            <a:r>
              <a:rPr lang="en-IN" sz="1600" dirty="0"/>
              <a:t>. [Online]. Available: </a:t>
            </a:r>
            <a:r>
              <a:rPr lang="en-IN" sz="1600" dirty="0">
                <a:hlinkClick r:id="rId7"/>
              </a:rPr>
              <a:t>https://developer.mozilla.org/en-US/docs/Web/HTML</a:t>
            </a:r>
            <a:endParaRPr lang="en-IN" sz="1600" dirty="0"/>
          </a:p>
          <a:p>
            <a:r>
              <a:rPr lang="en-IN" sz="1600" b="1" dirty="0"/>
              <a:t>Mozilla Developer Network (MDN) contributors.</a:t>
            </a:r>
            <a:r>
              <a:rPr lang="en-IN" sz="1600" dirty="0"/>
              <a:t> (2023). </a:t>
            </a:r>
            <a:r>
              <a:rPr lang="en-IN" sz="1600" i="1" dirty="0"/>
              <a:t>CSS: Cascading Style Sheets</a:t>
            </a:r>
            <a:r>
              <a:rPr lang="en-IN" sz="1600" dirty="0"/>
              <a:t>. [Online]. Available: </a:t>
            </a:r>
            <a:r>
              <a:rPr lang="en-IN" sz="1600" dirty="0">
                <a:hlinkClick r:id="rId8"/>
              </a:rPr>
              <a:t>https://developer.mozilla.org/en-US/docs/Web/CSS</a:t>
            </a:r>
            <a:endParaRPr lang="en-IN" sz="1600" dirty="0"/>
          </a:p>
          <a:p>
            <a:r>
              <a:rPr lang="en-IN" sz="1600" b="1" dirty="0"/>
              <a:t>Mozilla Developer Network (MDN) contributors.</a:t>
            </a:r>
            <a:r>
              <a:rPr lang="en-IN" sz="1600" dirty="0"/>
              <a:t> (2023). </a:t>
            </a:r>
            <a:r>
              <a:rPr lang="en-IN" sz="1600" i="1" dirty="0"/>
              <a:t>JavaScript</a:t>
            </a:r>
            <a:r>
              <a:rPr lang="en-IN" sz="1600" dirty="0"/>
              <a:t>. [Online]. Available: </a:t>
            </a:r>
            <a:r>
              <a:rPr lang="en-IN" sz="1600" dirty="0">
                <a:hlinkClick r:id="rId9"/>
              </a:rPr>
              <a:t>https://developer.mozilla.org/en-US/docs/Web/JavaScript</a:t>
            </a:r>
            <a:endParaRPr lang="en-IN"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References</a:t>
            </a:r>
            <a:r>
              <a:rPr spc="-55" dirty="0"/>
              <a:t> </a:t>
            </a:r>
            <a:r>
              <a:rPr dirty="0"/>
              <a:t>(IEEE</a:t>
            </a:r>
            <a:r>
              <a:rPr spc="-85" dirty="0"/>
              <a:t> </a:t>
            </a:r>
            <a:r>
              <a:rPr dirty="0"/>
              <a:t>Paper</a:t>
            </a:r>
            <a:r>
              <a:rPr spc="-80" dirty="0"/>
              <a:t> </a:t>
            </a:r>
            <a:r>
              <a:rPr spc="-10" dirty="0"/>
              <a:t>format)</a:t>
            </a:r>
          </a:p>
        </p:txBody>
      </p:sp>
      <p:sp>
        <p:nvSpPr>
          <p:cNvPr id="3" name="object 3"/>
          <p:cNvSpPr txBox="1">
            <a:spLocks noGrp="1"/>
          </p:cNvSpPr>
          <p:nvPr>
            <p:ph type="body" idx="1"/>
          </p:nvPr>
        </p:nvSpPr>
        <p:spPr>
          <a:xfrm>
            <a:off x="770636" y="1128217"/>
            <a:ext cx="10583164" cy="4812856"/>
          </a:xfrm>
          <a:prstGeom prst="rect">
            <a:avLst/>
          </a:prstGeom>
        </p:spPr>
        <p:txBody>
          <a:bodyPr vert="horz" wrap="square" lIns="0" tIns="72390" rIns="0" bIns="0" rtlCol="0">
            <a:spAutoFit/>
          </a:bodyPr>
          <a:lstStyle/>
          <a:p>
            <a:r>
              <a:rPr lang="en-IN" sz="1400" dirty="0"/>
              <a:t>[1] S. Al-</a:t>
            </a:r>
            <a:r>
              <a:rPr lang="en-IN" sz="1400" dirty="0" err="1"/>
              <a:t>Qurishi</a:t>
            </a:r>
            <a:r>
              <a:rPr lang="en-IN" sz="1400" dirty="0"/>
              <a:t>, M. S. Hossain, et al., "Detecting Fake Accounts in Online Social Networks," </a:t>
            </a:r>
            <a:r>
              <a:rPr lang="en-IN" sz="1400" i="1" dirty="0"/>
              <a:t>IEEE Access</a:t>
            </a:r>
            <a:r>
              <a:rPr lang="en-IN" sz="1400" dirty="0"/>
              <a:t>, vol. 5, pp. 4761–4770, 2017.</a:t>
            </a:r>
          </a:p>
          <a:p>
            <a:r>
              <a:rPr lang="en-IN" sz="1400" dirty="0"/>
              <a:t>[2] S. Cresci, R. D. Pietro, M. Petrocchi, A. </a:t>
            </a:r>
            <a:r>
              <a:rPr lang="en-IN" sz="1400" dirty="0" err="1"/>
              <a:t>Spognardi</a:t>
            </a:r>
            <a:r>
              <a:rPr lang="en-IN" sz="1400" dirty="0"/>
              <a:t>, and M. Tesconi, "Fake Followers Detection on Twitter: A Machine Learning Approach," in </a:t>
            </a:r>
            <a:r>
              <a:rPr lang="en-IN" sz="1400" i="1" dirty="0"/>
              <a:t>Proc. 10th Int. Conf. Social Media Society</a:t>
            </a:r>
            <a:r>
              <a:rPr lang="en-IN" sz="1400" dirty="0"/>
              <a:t>, 2015.</a:t>
            </a:r>
          </a:p>
          <a:p>
            <a:r>
              <a:rPr lang="en-IN" sz="1400" dirty="0"/>
              <a:t>[3] J. Yang, F. Li, and S. W. Lee, "Understanding and Detecting Online Human-Bot Interactions," </a:t>
            </a:r>
            <a:r>
              <a:rPr lang="en-IN" sz="1400" i="1" dirty="0"/>
              <a:t>First Monday</a:t>
            </a:r>
            <a:r>
              <a:rPr lang="en-IN" sz="1400" dirty="0"/>
              <a:t>, vol. 21, no. 11, Nov. 2016.</a:t>
            </a:r>
          </a:p>
          <a:p>
            <a:r>
              <a:rPr lang="en-IN" sz="1400" dirty="0"/>
              <a:t>[4] A. Ahmed, I. Ahmed, and M. A. Aziz, "Detection of Fake Facebook Accounts Using Machine Learning Approaches," </a:t>
            </a:r>
            <a:r>
              <a:rPr lang="en-IN" sz="1400" i="1" dirty="0"/>
              <a:t>Int. J. Adv. </a:t>
            </a:r>
            <a:r>
              <a:rPr lang="en-IN" sz="1400" i="1" dirty="0" err="1"/>
              <a:t>Comput</a:t>
            </a:r>
            <a:r>
              <a:rPr lang="en-IN" sz="1400" i="1" dirty="0"/>
              <a:t>. Sci. Appl. (IJACSA)</a:t>
            </a:r>
            <a:r>
              <a:rPr lang="en-IN" sz="1400" dirty="0"/>
              <a:t>, vol. 8, no. 5, 2017.</a:t>
            </a:r>
          </a:p>
          <a:p>
            <a:r>
              <a:rPr lang="en-IN" sz="1400" dirty="0"/>
              <a:t>[5] M. </a:t>
            </a:r>
            <a:r>
              <a:rPr lang="en-IN" sz="1400" dirty="0" err="1"/>
              <a:t>Egele</a:t>
            </a:r>
            <a:r>
              <a:rPr lang="en-IN" sz="1400" dirty="0"/>
              <a:t>, G. </a:t>
            </a:r>
            <a:r>
              <a:rPr lang="en-IN" sz="1400" dirty="0" err="1"/>
              <a:t>Stringhini</a:t>
            </a:r>
            <a:r>
              <a:rPr lang="en-IN" sz="1400" dirty="0"/>
              <a:t>, C. Kruegel, and G. Vigna, "Detecting Compromised Accounts on Social Networks," in </a:t>
            </a:r>
            <a:r>
              <a:rPr lang="en-IN" sz="1400" i="1" dirty="0"/>
              <a:t>Proc. 20th Annu. </a:t>
            </a:r>
            <a:r>
              <a:rPr lang="en-IN" sz="1400" i="1" dirty="0" err="1"/>
              <a:t>Netw</a:t>
            </a:r>
            <a:r>
              <a:rPr lang="en-IN" sz="1400" i="1" dirty="0"/>
              <a:t>. </a:t>
            </a:r>
            <a:r>
              <a:rPr lang="en-IN" sz="1400" i="1" dirty="0" err="1"/>
              <a:t>Distrib</a:t>
            </a:r>
            <a:r>
              <a:rPr lang="en-IN" sz="1400" i="1" dirty="0"/>
              <a:t>. Syst. </a:t>
            </a:r>
            <a:r>
              <a:rPr lang="en-IN" sz="1400" i="1" dirty="0" err="1"/>
              <a:t>Secur</a:t>
            </a:r>
            <a:r>
              <a:rPr lang="en-IN" sz="1400" i="1" dirty="0"/>
              <a:t>. Symp. (NDSS)</a:t>
            </a:r>
            <a:r>
              <a:rPr lang="en-IN" sz="1400" dirty="0"/>
              <a:t>, 2013.</a:t>
            </a:r>
          </a:p>
          <a:p>
            <a:r>
              <a:rPr lang="en-IN" sz="1400" dirty="0"/>
              <a:t>[6] S. Kumar and N. Shah, "False Information on Web and Social Media: A Survey," </a:t>
            </a:r>
            <a:r>
              <a:rPr lang="en-IN" sz="1400" i="1" dirty="0"/>
              <a:t>ACM </a:t>
            </a:r>
            <a:r>
              <a:rPr lang="en-IN" sz="1400" i="1" dirty="0" err="1"/>
              <a:t>Comput</a:t>
            </a:r>
            <a:r>
              <a:rPr lang="en-IN" sz="1400" i="1" dirty="0"/>
              <a:t>. </a:t>
            </a:r>
            <a:r>
              <a:rPr lang="en-IN" sz="1400" i="1" dirty="0" err="1"/>
              <a:t>Surv</a:t>
            </a:r>
            <a:r>
              <a:rPr lang="en-IN" sz="1400" i="1" dirty="0"/>
              <a:t>. (CSUR)</a:t>
            </a:r>
            <a:r>
              <a:rPr lang="en-IN" sz="1400" dirty="0"/>
              <a:t>, vol. 51, no. 4, Article 83, 2018.</a:t>
            </a:r>
          </a:p>
          <a:p>
            <a:r>
              <a:rPr lang="en-IN" sz="1400" dirty="0"/>
              <a:t>[7] K. Thomas, C. Grier, D. Song, and V. Paxson, "Suspended Accounts in Retrospect: An Analysis of Twitter Spam," in </a:t>
            </a:r>
            <a:r>
              <a:rPr lang="en-IN" sz="1400" i="1" dirty="0"/>
              <a:t>Proc. 2011 ACM SIGCOMM Conf. Internet Meas. Conf.</a:t>
            </a:r>
            <a:r>
              <a:rPr lang="en-IN" sz="1400" dirty="0"/>
              <a:t>, 2011.</a:t>
            </a:r>
          </a:p>
          <a:p>
            <a:r>
              <a:rPr lang="en-IN" sz="1400" dirty="0"/>
              <a:t>[8] A. Gupta, H. Lamba, and P. Kumaraguru, "$1.00 Per RT #BostonMarathon #PrayForBoston: </a:t>
            </a:r>
            <a:r>
              <a:rPr lang="en-IN" sz="1400" dirty="0" err="1"/>
              <a:t>Analyzing</a:t>
            </a:r>
            <a:r>
              <a:rPr lang="en-IN" sz="1400" dirty="0"/>
              <a:t> Fake Content on Twitter," in *2013 IEEE 2nd Int. Conf. Cyber-Enabled </a:t>
            </a:r>
            <a:r>
              <a:rPr lang="en-IN" sz="1400" dirty="0" err="1"/>
              <a:t>Distrib</a:t>
            </a:r>
            <a:r>
              <a:rPr lang="en-IN" sz="1400" dirty="0"/>
              <a:t>. </a:t>
            </a:r>
            <a:r>
              <a:rPr lang="en-IN" sz="1400" dirty="0" err="1"/>
              <a:t>Comput</a:t>
            </a:r>
            <a:r>
              <a:rPr lang="en-IN" sz="1400" dirty="0"/>
              <a:t>. </a:t>
            </a:r>
            <a:r>
              <a:rPr lang="en-IN" sz="1400" dirty="0" err="1"/>
              <a:t>Knowl</a:t>
            </a:r>
            <a:r>
              <a:rPr lang="en-IN" sz="1400" dirty="0"/>
              <a:t>. Discovery*, 2013.</a:t>
            </a:r>
          </a:p>
          <a:p>
            <a:r>
              <a:rPr lang="en-IN" sz="1400" dirty="0"/>
              <a:t>[9] F. Benevenuto, G. Magno, T. Rodrigues, and V. Almeida, "Detecting Spammers on Twitter," in *Proc. 7th Annu. Collaboration, Electron. Messaging, Anti-Abuse Spam Conf. (CEAS)*, vol. 6, pp. 12–21, 2010.</a:t>
            </a:r>
          </a:p>
          <a:p>
            <a:r>
              <a:rPr lang="en-IN" sz="1400" dirty="0"/>
              <a:t>[10] V. Varol, E. Ferrara, C. A. Davis, F. Menczer, and A. Flammini, "Online Human-Bot Interactions: Detection, Estimation, and Characterization," in </a:t>
            </a:r>
            <a:r>
              <a:rPr lang="en-IN" sz="1400" i="1" dirty="0"/>
              <a:t>Proc. Int. AAAI Conf. Web Soc. Media</a:t>
            </a:r>
            <a:r>
              <a:rPr lang="en-IN" sz="1400" dirty="0"/>
              <a:t>, vol. 11, no. 1, 2017.</a:t>
            </a:r>
          </a:p>
          <a:p>
            <a:br>
              <a:rPr lang="en-IN" sz="1400" dirty="0"/>
            </a:br>
            <a:endParaRPr sz="1400" spc="-1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2796" y="1440180"/>
            <a:ext cx="3895344" cy="39364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194</TotalTime>
  <Words>2169</Words>
  <Application>Microsoft Office PowerPoint</Application>
  <PresentationFormat>Widescreen</PresentationFormat>
  <Paragraphs>329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MT</vt:lpstr>
      <vt:lpstr>Cambria</vt:lpstr>
      <vt:lpstr>quote-cjk-patch</vt:lpstr>
      <vt:lpstr>Verdana</vt:lpstr>
      <vt:lpstr>Wingdings</vt:lpstr>
      <vt:lpstr>Office Theme</vt:lpstr>
      <vt:lpstr>CSE7101- Capstone Project Review-4</vt:lpstr>
      <vt:lpstr>Problem Statement Number:</vt:lpstr>
      <vt:lpstr>Content</vt:lpstr>
      <vt:lpstr>Objectives</vt:lpstr>
      <vt:lpstr>Technology Stack</vt:lpstr>
      <vt:lpstr>System Architecture</vt:lpstr>
      <vt:lpstr>Key Features</vt:lpstr>
      <vt:lpstr>Detection Methodology</vt:lpstr>
      <vt:lpstr>Code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 Link</vt:lpstr>
      <vt:lpstr>References (Development)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Saifulla Saif</cp:lastModifiedBy>
  <cp:revision>14</cp:revision>
  <dcterms:created xsi:type="dcterms:W3CDTF">2025-09-23T06:48:19Z</dcterms:created>
  <dcterms:modified xsi:type="dcterms:W3CDTF">2025-11-12T09:30:02Z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2025-09-20T00:00:00Z</vt:filetime>
  </property>
  <property fmtid="{D5CDD505-2E9C-101B-9397-08002B2CF9AE}" pid="3" name="Creator">
    <vt:lpwstr>Microsoft® PowerPoint® 2016</vt:lpwstr>
  </property>
  <property fmtid="{D5CDD505-2E9C-101B-9397-08002B2CF9AE}" pid="4" name="LastSaved">
    <vt:filetime>2025-09-23T00:00:00Z</vt:filetime>
  </property>
  <property fmtid="{D5CDD505-2E9C-101B-9397-08002B2CF9AE}" pid="5" name="Producer">
    <vt:lpwstr>www.ilovepdf.com</vt:lpwstr>
  </property>
</Properties>
</file>