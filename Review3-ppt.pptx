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9" r:id="rId6"/>
    <p:sldId id="260" r:id="rId7"/>
    <p:sldId id="261" r:id="rId8"/>
    <p:sldId id="262" r:id="rId9"/>
    <p:sldId id="263" r:id="rId10"/>
    <p:sldId id="264" r:id="rId11"/>
    <p:sldId id="265" r:id="rId12"/>
    <p:sldId id="266" r:id="rId13"/>
    <p:sldId id="267" r:id="rId14"/>
    <p:sldId id="268"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2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876" y="2125980"/>
            <a:ext cx="10368598" cy="1440180"/>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9752" y="3840480"/>
            <a:ext cx="8538845" cy="1714500"/>
          </a:xfrm>
          <a:prstGeom prst="rect">
            <a:avLst/>
          </a:prstGeom>
        </p:spPr>
        <p:txBody>
          <a:bodyPr wrap="square" lIns="0" tIns="0" rIns="0" bIns="0">
            <a:spAutoFit/>
          </a:bodyPr>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sz="half" idx="2"/>
          </p:nvPr>
        </p:nvSpPr>
        <p:spPr>
          <a:xfrm>
            <a:off x="609917" y="1577340"/>
            <a:ext cx="5306282"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82150" y="1577340"/>
            <a:ext cx="5306282"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6102" y="886967"/>
            <a:ext cx="10668000" cy="59690"/>
          </a:xfrm>
          <a:custGeom>
            <a:avLst/>
            <a:gdLst/>
            <a:ahLst/>
            <a:cxnLst/>
            <a:rect l="l" t="t" r="r" b="b"/>
            <a:pathLst>
              <a:path w="10668000" h="59690">
                <a:moveTo>
                  <a:pt x="10668000" y="47498"/>
                </a:moveTo>
                <a:lnTo>
                  <a:pt x="0" y="47498"/>
                </a:lnTo>
                <a:lnTo>
                  <a:pt x="0" y="59436"/>
                </a:lnTo>
                <a:lnTo>
                  <a:pt x="10668000" y="59436"/>
                </a:lnTo>
                <a:lnTo>
                  <a:pt x="10668000" y="47498"/>
                </a:lnTo>
                <a:close/>
              </a:path>
              <a:path w="10668000" h="59690">
                <a:moveTo>
                  <a:pt x="10668000" y="0"/>
                </a:moveTo>
                <a:lnTo>
                  <a:pt x="0" y="0"/>
                </a:lnTo>
                <a:lnTo>
                  <a:pt x="0" y="35687"/>
                </a:lnTo>
                <a:lnTo>
                  <a:pt x="10668000" y="35687"/>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89320"/>
            <a:ext cx="12193523" cy="868680"/>
          </a:xfrm>
          <a:prstGeom prst="rect">
            <a:avLst/>
          </a:prstGeom>
        </p:spPr>
      </p:pic>
      <p:sp>
        <p:nvSpPr>
          <p:cNvPr id="2" name="Holder 2"/>
          <p:cNvSpPr>
            <a:spLocks noGrp="1"/>
          </p:cNvSpPr>
          <p:nvPr>
            <p:ph type="title"/>
          </p:nvPr>
        </p:nvSpPr>
        <p:spPr>
          <a:xfrm>
            <a:off x="891946" y="283286"/>
            <a:ext cx="5189855" cy="533272"/>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a:xfrm>
            <a:off x="770636" y="1128217"/>
            <a:ext cx="10427970" cy="4763770"/>
          </a:xfrm>
          <a:prstGeom prst="rect">
            <a:avLst/>
          </a:prstGeom>
        </p:spPr>
        <p:txBody>
          <a:bodyPr wrap="square" lIns="0" tIns="0" rIns="0" bIns="0">
            <a:spAutoFit/>
          </a:bodyPr>
          <a:lstStyle>
            <a:lvl1pPr>
              <a:defRPr sz="19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9/26/2025</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developer.mozilla.org/en-US/docs/Web/CSS" TargetMode="External"/><Relationship Id="rId3" Type="http://schemas.openxmlformats.org/officeDocument/2006/relationships/hyperlink" Target="https://www.postgresql.org/docs/" TargetMode="External"/><Relationship Id="rId7" Type="http://schemas.openxmlformats.org/officeDocument/2006/relationships/hyperlink" Target="https://developer.mozilla.org/en-US/docs/Web/HTML" TargetMode="External"/><Relationship Id="rId2" Type="http://schemas.openxmlformats.org/officeDocument/2006/relationships/hyperlink" Target="https://www.djangoproject.com/" TargetMode="External"/><Relationship Id="rId1" Type="http://schemas.openxmlformats.org/officeDocument/2006/relationships/slideLayout" Target="../slideLayouts/slideLayout2.xml"/><Relationship Id="rId6" Type="http://schemas.openxmlformats.org/officeDocument/2006/relationships/hyperlink" Target="https://developers.facebook.com/docs/graph-api/" TargetMode="External"/><Relationship Id="rId5" Type="http://schemas.openxmlformats.org/officeDocument/2006/relationships/hyperlink" Target="https://developer.twitter.com/en/docs/twitter-api" TargetMode="External"/><Relationship Id="rId4" Type="http://schemas.openxmlformats.org/officeDocument/2006/relationships/hyperlink" Target="https://docs.python.org/3/" TargetMode="External"/><Relationship Id="rId9" Type="http://schemas.openxmlformats.org/officeDocument/2006/relationships/hyperlink" Target="https://developer.mozilla.org/en-US/docs/Web/JavaScrip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705561" y="2774678"/>
          <a:ext cx="4495165" cy="283845"/>
        </p:xfrm>
        <a:graphic>
          <a:graphicData uri="http://schemas.openxmlformats.org/drawingml/2006/table">
            <a:tbl>
              <a:tblPr firstRow="1" bandRow="1">
                <a:tableStyleId>{2D5ABB26-0587-4C30-8999-92F81FD0307C}</a:tableStyleId>
              </a:tblPr>
              <a:tblGrid>
                <a:gridCol w="2138680">
                  <a:extLst>
                    <a:ext uri="{9D8B030D-6E8A-4147-A177-3AD203B41FA5}">
                      <a16:colId xmlns:a16="http://schemas.microsoft.com/office/drawing/2014/main" val="20000"/>
                    </a:ext>
                  </a:extLst>
                </a:gridCol>
                <a:gridCol w="2356485">
                  <a:extLst>
                    <a:ext uri="{9D8B030D-6E8A-4147-A177-3AD203B41FA5}">
                      <a16:colId xmlns:a16="http://schemas.microsoft.com/office/drawing/2014/main" val="20001"/>
                    </a:ext>
                  </a:extLst>
                </a:gridCol>
              </a:tblGrid>
              <a:tr h="283845">
                <a:tc>
                  <a:txBody>
                    <a:bodyPr/>
                    <a:lstStyle/>
                    <a:p>
                      <a:pPr marL="31750">
                        <a:lnSpc>
                          <a:spcPts val="2140"/>
                        </a:lnSpc>
                      </a:pPr>
                      <a:r>
                        <a:rPr sz="1900" b="1" spc="100" dirty="0">
                          <a:solidFill>
                            <a:srgbClr val="17365D"/>
                          </a:solidFill>
                          <a:latin typeface="Cambria"/>
                          <a:cs typeface="Cambria"/>
                        </a:rPr>
                        <a:t>Roll</a:t>
                      </a:r>
                      <a:r>
                        <a:rPr sz="1900" b="1" spc="220" dirty="0">
                          <a:solidFill>
                            <a:srgbClr val="17365D"/>
                          </a:solidFill>
                          <a:latin typeface="Cambria"/>
                          <a:cs typeface="Cambria"/>
                        </a:rPr>
                        <a:t> </a:t>
                      </a:r>
                      <a:r>
                        <a:rPr sz="1900" b="1" spc="80" dirty="0">
                          <a:solidFill>
                            <a:srgbClr val="17365D"/>
                          </a:solidFill>
                          <a:latin typeface="Cambria"/>
                          <a:cs typeface="Cambria"/>
                        </a:rPr>
                        <a:t>Number</a:t>
                      </a:r>
                      <a:endParaRPr sz="1900">
                        <a:latin typeface="Cambria"/>
                        <a:cs typeface="Cambria"/>
                      </a:endParaRPr>
                    </a:p>
                  </a:txBody>
                  <a:tcPr marL="0" marR="0" marT="0" marB="0"/>
                </a:tc>
                <a:tc>
                  <a:txBody>
                    <a:bodyPr/>
                    <a:lstStyle/>
                    <a:p>
                      <a:pPr marL="541655">
                        <a:lnSpc>
                          <a:spcPts val="2140"/>
                        </a:lnSpc>
                      </a:pPr>
                      <a:r>
                        <a:rPr sz="1900" b="1" spc="150" dirty="0">
                          <a:solidFill>
                            <a:srgbClr val="17365D"/>
                          </a:solidFill>
                          <a:latin typeface="Cambria"/>
                          <a:cs typeface="Cambria"/>
                        </a:rPr>
                        <a:t>Student</a:t>
                      </a:r>
                      <a:r>
                        <a:rPr sz="1900" b="1" spc="180" dirty="0">
                          <a:solidFill>
                            <a:srgbClr val="17365D"/>
                          </a:solidFill>
                          <a:latin typeface="Cambria"/>
                          <a:cs typeface="Cambria"/>
                        </a:rPr>
                        <a:t> </a:t>
                      </a:r>
                      <a:r>
                        <a:rPr sz="1900" b="1" spc="100" dirty="0">
                          <a:solidFill>
                            <a:srgbClr val="17365D"/>
                          </a:solidFill>
                          <a:latin typeface="Cambria"/>
                          <a:cs typeface="Cambria"/>
                        </a:rPr>
                        <a:t>Name</a:t>
                      </a:r>
                      <a:endParaRPr sz="1900">
                        <a:latin typeface="Cambria"/>
                        <a:cs typeface="Cambria"/>
                      </a:endParaRPr>
                    </a:p>
                  </a:txBody>
                  <a:tcPr marL="0" marR="0" marT="0" marB="0"/>
                </a:tc>
                <a:extLst>
                  <a:ext uri="{0D108BD9-81ED-4DB2-BD59-A6C34878D82A}">
                    <a16:rowId xmlns:a16="http://schemas.microsoft.com/office/drawing/2014/main" val="10000"/>
                  </a:ext>
                </a:extLst>
              </a:tr>
            </a:tbl>
          </a:graphicData>
        </a:graphic>
      </p:graphicFrame>
      <p:sp>
        <p:nvSpPr>
          <p:cNvPr id="3" name="object 3"/>
          <p:cNvSpPr txBox="1"/>
          <p:nvPr/>
        </p:nvSpPr>
        <p:spPr>
          <a:xfrm>
            <a:off x="78739" y="1163523"/>
            <a:ext cx="11357610" cy="4934043"/>
          </a:xfrm>
          <a:prstGeom prst="rect">
            <a:avLst/>
          </a:prstGeom>
        </p:spPr>
        <p:txBody>
          <a:bodyPr vert="horz" wrap="square" lIns="0" tIns="14605" rIns="0" bIns="0" rtlCol="0">
            <a:spAutoFit/>
          </a:bodyPr>
          <a:lstStyle/>
          <a:p>
            <a:pPr marL="1933575" marR="747395" indent="-750570" algn="ctr">
              <a:lnSpc>
                <a:spcPct val="100000"/>
              </a:lnSpc>
              <a:spcBef>
                <a:spcPts val="115"/>
              </a:spcBef>
            </a:pPr>
            <a:r>
              <a:rPr lang="en-US" sz="2400" b="1" dirty="0"/>
              <a:t>Fake Social Media Profile Detection </a:t>
            </a:r>
            <a:r>
              <a:rPr lang="en-US" sz="2400" b="1"/>
              <a:t>And Reporting</a:t>
            </a:r>
            <a:r>
              <a:rPr lang="en-US" sz="2400" b="1" spc="-10">
                <a:latin typeface="Cambria"/>
                <a:cs typeface="Cambria"/>
              </a:rPr>
              <a:t> </a:t>
            </a:r>
            <a:endParaRPr lang="en-US" sz="2400" b="1" dirty="0">
              <a:latin typeface="Cambria"/>
              <a:cs typeface="Cambria"/>
            </a:endParaRPr>
          </a:p>
          <a:p>
            <a:pPr marL="649605">
              <a:lnSpc>
                <a:spcPct val="100000"/>
              </a:lnSpc>
              <a:spcBef>
                <a:spcPts val="1300"/>
              </a:spcBef>
            </a:pPr>
            <a:r>
              <a:rPr sz="1800" b="1" dirty="0">
                <a:solidFill>
                  <a:srgbClr val="17365D"/>
                </a:solidFill>
                <a:latin typeface="Cambria"/>
                <a:cs typeface="Cambria"/>
              </a:rPr>
              <a:t>Batch</a:t>
            </a:r>
            <a:r>
              <a:rPr sz="1800" b="1" spc="-25" dirty="0">
                <a:solidFill>
                  <a:srgbClr val="17365D"/>
                </a:solidFill>
                <a:latin typeface="Cambria"/>
                <a:cs typeface="Cambria"/>
              </a:rPr>
              <a:t> </a:t>
            </a:r>
            <a:r>
              <a:rPr sz="1800" b="1" dirty="0">
                <a:solidFill>
                  <a:srgbClr val="17365D"/>
                </a:solidFill>
                <a:latin typeface="Cambria"/>
                <a:cs typeface="Cambria"/>
              </a:rPr>
              <a:t>Number:</a:t>
            </a:r>
            <a:r>
              <a:rPr sz="1800" b="1" spc="-45" dirty="0">
                <a:solidFill>
                  <a:srgbClr val="17365D"/>
                </a:solidFill>
                <a:latin typeface="Cambria"/>
                <a:cs typeface="Cambria"/>
              </a:rPr>
              <a:t> </a:t>
            </a:r>
            <a:r>
              <a:rPr sz="1550" b="1" spc="-10" dirty="0">
                <a:solidFill>
                  <a:srgbClr val="17365D"/>
                </a:solidFill>
                <a:latin typeface="Verdana"/>
                <a:cs typeface="Verdana"/>
              </a:rPr>
              <a:t>CCS_</a:t>
            </a:r>
            <a:r>
              <a:rPr lang="en-US" sz="1550" b="1" spc="-10" dirty="0">
                <a:solidFill>
                  <a:srgbClr val="17365D"/>
                </a:solidFill>
                <a:latin typeface="Verdana"/>
                <a:cs typeface="Verdana"/>
              </a:rPr>
              <a:t>23</a:t>
            </a:r>
            <a:endParaRPr sz="1550" dirty="0">
              <a:latin typeface="Verdana"/>
              <a:cs typeface="Verdana"/>
            </a:endParaRPr>
          </a:p>
          <a:p>
            <a:pPr marL="6964680">
              <a:lnSpc>
                <a:spcPct val="100000"/>
              </a:lnSpc>
              <a:spcBef>
                <a:spcPts val="1630"/>
              </a:spcBef>
            </a:pPr>
            <a:r>
              <a:rPr sz="1800" b="1" dirty="0">
                <a:solidFill>
                  <a:srgbClr val="17365D"/>
                </a:solidFill>
                <a:latin typeface="Cambria"/>
                <a:cs typeface="Cambria"/>
              </a:rPr>
              <a:t>Under</a:t>
            </a:r>
            <a:r>
              <a:rPr sz="1800" b="1" spc="-35" dirty="0">
                <a:solidFill>
                  <a:srgbClr val="17365D"/>
                </a:solidFill>
                <a:latin typeface="Cambria"/>
                <a:cs typeface="Cambria"/>
              </a:rPr>
              <a:t> </a:t>
            </a:r>
            <a:r>
              <a:rPr sz="1800" b="1" dirty="0">
                <a:solidFill>
                  <a:srgbClr val="17365D"/>
                </a:solidFill>
                <a:latin typeface="Cambria"/>
                <a:cs typeface="Cambria"/>
              </a:rPr>
              <a:t>the</a:t>
            </a:r>
            <a:r>
              <a:rPr sz="1800" b="1" spc="25" dirty="0">
                <a:solidFill>
                  <a:srgbClr val="17365D"/>
                </a:solidFill>
                <a:latin typeface="Cambria"/>
                <a:cs typeface="Cambria"/>
              </a:rPr>
              <a:t> </a:t>
            </a:r>
            <a:r>
              <a:rPr sz="1800" b="1" spc="-10" dirty="0">
                <a:solidFill>
                  <a:srgbClr val="17365D"/>
                </a:solidFill>
                <a:latin typeface="Cambria"/>
                <a:cs typeface="Cambria"/>
              </a:rPr>
              <a:t>Supervision</a:t>
            </a:r>
            <a:r>
              <a:rPr sz="1800" b="1" spc="-75"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980"/>
              </a:spcBef>
            </a:pPr>
            <a:endParaRPr sz="1800" dirty="0">
              <a:latin typeface="Cambria"/>
              <a:cs typeface="Cambria"/>
            </a:endParaRPr>
          </a:p>
          <a:p>
            <a:pPr marL="6964680">
              <a:lnSpc>
                <a:spcPct val="100000"/>
              </a:lnSpc>
            </a:pPr>
            <a:r>
              <a:rPr sz="1700" b="1" dirty="0">
                <a:solidFill>
                  <a:srgbClr val="17365D"/>
                </a:solidFill>
                <a:latin typeface="Cambria"/>
                <a:cs typeface="Cambria"/>
              </a:rPr>
              <a:t>Guide</a:t>
            </a:r>
            <a:r>
              <a:rPr sz="1700" b="1" spc="-35" dirty="0">
                <a:solidFill>
                  <a:srgbClr val="17365D"/>
                </a:solidFill>
                <a:latin typeface="Cambria"/>
                <a:cs typeface="Cambria"/>
              </a:rPr>
              <a:t> </a:t>
            </a:r>
            <a:r>
              <a:rPr lang="en-IN" sz="1700" b="1" dirty="0">
                <a:solidFill>
                  <a:srgbClr val="17365D"/>
                </a:solidFill>
                <a:latin typeface="Cambria"/>
                <a:cs typeface="Cambria"/>
              </a:rPr>
              <a:t>–</a:t>
            </a:r>
            <a:r>
              <a:rPr sz="1700" b="1" spc="-30" dirty="0">
                <a:solidFill>
                  <a:srgbClr val="17365D"/>
                </a:solidFill>
                <a:latin typeface="Cambria"/>
                <a:cs typeface="Cambria"/>
              </a:rPr>
              <a:t> </a:t>
            </a:r>
            <a:r>
              <a:rPr lang="en-US" sz="1700" b="1" spc="-30" dirty="0">
                <a:solidFill>
                  <a:srgbClr val="17365D"/>
                </a:solidFill>
                <a:latin typeface="Cambria"/>
                <a:cs typeface="Cambria"/>
              </a:rPr>
              <a:t>MS. Sterlin Minish T N (Assistant Professor)</a:t>
            </a:r>
            <a:endParaRPr sz="1700" dirty="0">
              <a:latin typeface="Cambria"/>
              <a:cs typeface="Cambria"/>
            </a:endParaRPr>
          </a:p>
          <a:p>
            <a:pPr marL="6964680">
              <a:lnSpc>
                <a:spcPct val="100000"/>
              </a:lnSpc>
              <a:spcBef>
                <a:spcPts val="305"/>
              </a:spcBef>
            </a:pPr>
            <a:r>
              <a:rPr sz="1700" b="1" dirty="0">
                <a:solidFill>
                  <a:srgbClr val="17365D"/>
                </a:solidFill>
                <a:latin typeface="Cambria"/>
                <a:cs typeface="Cambria"/>
              </a:rPr>
              <a:t>School</a:t>
            </a:r>
            <a:r>
              <a:rPr sz="1700" b="1" spc="-45" dirty="0">
                <a:solidFill>
                  <a:srgbClr val="17365D"/>
                </a:solidFill>
                <a:latin typeface="Cambria"/>
                <a:cs typeface="Cambria"/>
              </a:rPr>
              <a:t> </a:t>
            </a:r>
            <a:r>
              <a:rPr sz="1700" b="1" dirty="0">
                <a:solidFill>
                  <a:srgbClr val="17365D"/>
                </a:solidFill>
                <a:latin typeface="Cambria"/>
                <a:cs typeface="Cambria"/>
              </a:rPr>
              <a:t>of</a:t>
            </a:r>
            <a:r>
              <a:rPr sz="1700" b="1" spc="-35" dirty="0">
                <a:solidFill>
                  <a:srgbClr val="17365D"/>
                </a:solidFill>
                <a:latin typeface="Cambria"/>
                <a:cs typeface="Cambria"/>
              </a:rPr>
              <a:t> </a:t>
            </a:r>
            <a:r>
              <a:rPr sz="1700" b="1" spc="-10" dirty="0">
                <a:solidFill>
                  <a:srgbClr val="17365D"/>
                </a:solidFill>
                <a:latin typeface="Cambria"/>
                <a:cs typeface="Cambria"/>
              </a:rPr>
              <a:t>Computer</a:t>
            </a:r>
            <a:r>
              <a:rPr sz="1700" b="1" spc="-50" dirty="0">
                <a:solidFill>
                  <a:srgbClr val="17365D"/>
                </a:solidFill>
                <a:latin typeface="Cambria"/>
                <a:cs typeface="Cambria"/>
              </a:rPr>
              <a:t> </a:t>
            </a:r>
            <a:r>
              <a:rPr sz="1700" b="1" dirty="0">
                <a:solidFill>
                  <a:srgbClr val="17365D"/>
                </a:solidFill>
                <a:latin typeface="Cambria"/>
                <a:cs typeface="Cambria"/>
              </a:rPr>
              <a:t>Science</a:t>
            </a:r>
            <a:r>
              <a:rPr sz="1700" b="1" spc="5" dirty="0">
                <a:solidFill>
                  <a:srgbClr val="17365D"/>
                </a:solidFill>
                <a:latin typeface="Cambria"/>
                <a:cs typeface="Cambria"/>
              </a:rPr>
              <a:t> </a:t>
            </a:r>
            <a:r>
              <a:rPr sz="1700" b="1" dirty="0">
                <a:solidFill>
                  <a:srgbClr val="17365D"/>
                </a:solidFill>
                <a:latin typeface="Cambria"/>
                <a:cs typeface="Cambria"/>
              </a:rPr>
              <a:t>and</a:t>
            </a:r>
            <a:r>
              <a:rPr sz="1700" b="1" spc="-30" dirty="0">
                <a:solidFill>
                  <a:srgbClr val="17365D"/>
                </a:solidFill>
                <a:latin typeface="Cambria"/>
                <a:cs typeface="Cambria"/>
              </a:rPr>
              <a:t> </a:t>
            </a:r>
            <a:r>
              <a:rPr sz="1700" b="1" spc="-10" dirty="0">
                <a:solidFill>
                  <a:srgbClr val="17365D"/>
                </a:solidFill>
                <a:latin typeface="Cambria"/>
                <a:cs typeface="Cambria"/>
              </a:rPr>
              <a:t>Engineering</a:t>
            </a:r>
            <a:endParaRPr sz="1700" dirty="0">
              <a:latin typeface="Cambria"/>
              <a:cs typeface="Cambria"/>
            </a:endParaRPr>
          </a:p>
          <a:p>
            <a:pPr marL="6964680">
              <a:lnSpc>
                <a:spcPct val="100000"/>
              </a:lnSpc>
              <a:spcBef>
                <a:spcPts val="300"/>
              </a:spcBef>
            </a:pPr>
            <a:r>
              <a:rPr sz="1700" b="1" dirty="0">
                <a:solidFill>
                  <a:srgbClr val="17365D"/>
                </a:solidFill>
                <a:latin typeface="Cambria"/>
                <a:cs typeface="Cambria"/>
              </a:rPr>
              <a:t>Presidency</a:t>
            </a:r>
            <a:r>
              <a:rPr sz="1700" b="1" spc="-9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6964680">
              <a:lnSpc>
                <a:spcPct val="100000"/>
              </a:lnSpc>
              <a:spcBef>
                <a:spcPts val="300"/>
              </a:spcBef>
            </a:pPr>
            <a:r>
              <a:rPr sz="1700" b="1" dirty="0">
                <a:solidFill>
                  <a:srgbClr val="17365D"/>
                </a:solidFill>
                <a:latin typeface="Cambria"/>
                <a:cs typeface="Cambria"/>
              </a:rPr>
              <a:t>(</a:t>
            </a:r>
            <a:r>
              <a:rPr sz="1700" b="1" spc="-50" dirty="0">
                <a:solidFill>
                  <a:srgbClr val="17365D"/>
                </a:solidFill>
                <a:latin typeface="Cambria"/>
                <a:cs typeface="Cambria"/>
              </a:rPr>
              <a:t> </a:t>
            </a:r>
            <a:r>
              <a:rPr sz="1700" b="1" dirty="0">
                <a:solidFill>
                  <a:srgbClr val="17365D"/>
                </a:solidFill>
                <a:latin typeface="Cambria"/>
                <a:cs typeface="Cambria"/>
              </a:rPr>
              <a:t>Cyber</a:t>
            </a:r>
            <a:r>
              <a:rPr sz="1700" b="1" spc="-60" dirty="0">
                <a:solidFill>
                  <a:srgbClr val="17365D"/>
                </a:solidFill>
                <a:latin typeface="Cambria"/>
                <a:cs typeface="Cambria"/>
              </a:rPr>
              <a:t> </a:t>
            </a:r>
            <a:r>
              <a:rPr sz="1700" b="1" dirty="0">
                <a:solidFill>
                  <a:srgbClr val="17365D"/>
                </a:solidFill>
                <a:latin typeface="Cambria"/>
                <a:cs typeface="Cambria"/>
              </a:rPr>
              <a:t>Security</a:t>
            </a:r>
            <a:r>
              <a:rPr sz="1700" b="1" spc="-35" dirty="0">
                <a:solidFill>
                  <a:srgbClr val="17365D"/>
                </a:solidFill>
                <a:latin typeface="Cambria"/>
                <a:cs typeface="Cambria"/>
              </a:rPr>
              <a:t> </a:t>
            </a:r>
            <a:r>
              <a:rPr sz="1700" b="1" spc="-50" dirty="0">
                <a:solidFill>
                  <a:srgbClr val="17365D"/>
                </a:solidFill>
                <a:latin typeface="Cambria"/>
                <a:cs typeface="Cambria"/>
              </a:rPr>
              <a:t>)</a:t>
            </a:r>
            <a:endParaRPr sz="1700" dirty="0">
              <a:latin typeface="Cambria"/>
              <a:cs typeface="Cambria"/>
            </a:endParaRPr>
          </a:p>
          <a:p>
            <a:pPr marL="12700">
              <a:lnSpc>
                <a:spcPct val="100000"/>
              </a:lnSpc>
              <a:spcBef>
                <a:spcPts val="1605"/>
              </a:spcBef>
            </a:pPr>
            <a:endParaRPr lang="en-US" sz="1800" b="1" dirty="0">
              <a:solidFill>
                <a:srgbClr val="4F81BC"/>
              </a:solidFill>
              <a:latin typeface="Cambria"/>
              <a:cs typeface="Cambria"/>
            </a:endParaRPr>
          </a:p>
          <a:p>
            <a:pPr marL="12700">
              <a:lnSpc>
                <a:spcPct val="100000"/>
              </a:lnSpc>
              <a:spcBef>
                <a:spcPts val="1605"/>
              </a:spcBef>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50" dirty="0">
                <a:solidFill>
                  <a:srgbClr val="4F81BC"/>
                </a:solidFill>
                <a:latin typeface="Cambria"/>
                <a:cs typeface="Cambria"/>
              </a:rPr>
              <a:t> </a:t>
            </a:r>
            <a:r>
              <a:rPr sz="1800" b="1" spc="-10" dirty="0">
                <a:solidFill>
                  <a:srgbClr val="4F81BC"/>
                </a:solidFill>
                <a:latin typeface="Cambria"/>
                <a:cs typeface="Cambria"/>
              </a:rPr>
              <a:t>Program:</a:t>
            </a:r>
            <a:endParaRPr sz="1800" dirty="0">
              <a:latin typeface="Cambria"/>
              <a:cs typeface="Cambria"/>
            </a:endParaRPr>
          </a:p>
          <a:p>
            <a:pPr marL="12700">
              <a:lnSpc>
                <a:spcPct val="100000"/>
              </a:lnSpc>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HoD:</a:t>
            </a:r>
            <a:r>
              <a:rPr sz="1800" b="1" spc="25" dirty="0">
                <a:solidFill>
                  <a:srgbClr val="4F81BC"/>
                </a:solidFill>
                <a:latin typeface="Cambria"/>
                <a:cs typeface="Cambria"/>
              </a:rPr>
              <a:t> </a:t>
            </a:r>
            <a:r>
              <a:rPr sz="1800" b="1" dirty="0">
                <a:latin typeface="Arial"/>
                <a:cs typeface="Arial"/>
              </a:rPr>
              <a:t>Dr.</a:t>
            </a:r>
            <a:r>
              <a:rPr sz="1800" b="1" spc="-30" dirty="0">
                <a:latin typeface="Arial"/>
                <a:cs typeface="Arial"/>
              </a:rPr>
              <a:t> </a:t>
            </a:r>
            <a:r>
              <a:rPr sz="1800" b="1" dirty="0">
                <a:latin typeface="Arial"/>
                <a:cs typeface="Arial"/>
              </a:rPr>
              <a:t>Anandaraj</a:t>
            </a:r>
            <a:r>
              <a:rPr sz="1800" b="1" spc="40" dirty="0">
                <a:latin typeface="Arial"/>
                <a:cs typeface="Arial"/>
              </a:rPr>
              <a:t> </a:t>
            </a:r>
            <a:r>
              <a:rPr sz="1800" b="1" spc="-25" dirty="0">
                <a:latin typeface="Arial"/>
                <a:cs typeface="Arial"/>
              </a:rPr>
              <a:t>S.P</a:t>
            </a:r>
            <a:endParaRPr sz="1800" dirty="0">
              <a:latin typeface="Arial"/>
              <a:cs typeface="Arial"/>
            </a:endParaRPr>
          </a:p>
          <a:p>
            <a:pPr marL="12700">
              <a:lnSpc>
                <a:spcPct val="100000"/>
              </a:lnSpc>
              <a:spcBef>
                <a:spcPts val="5"/>
              </a:spcBef>
            </a:pPr>
            <a:r>
              <a:rPr sz="1800" b="1" dirty="0">
                <a:solidFill>
                  <a:srgbClr val="4F81BC"/>
                </a:solidFill>
                <a:latin typeface="Cambria"/>
                <a:cs typeface="Cambria"/>
              </a:rPr>
              <a:t>Name</a:t>
            </a:r>
            <a:r>
              <a:rPr sz="1800" b="1" spc="-70" dirty="0">
                <a:solidFill>
                  <a:srgbClr val="4F81BC"/>
                </a:solidFill>
                <a:latin typeface="Cambria"/>
                <a:cs typeface="Cambria"/>
              </a:rPr>
              <a:t> </a:t>
            </a:r>
            <a:r>
              <a:rPr sz="1800" b="1" dirty="0">
                <a:solidFill>
                  <a:srgbClr val="4F81BC"/>
                </a:solidFill>
                <a:latin typeface="Cambria"/>
                <a:cs typeface="Cambria"/>
              </a:rPr>
              <a:t>of</a:t>
            </a:r>
            <a:r>
              <a:rPr sz="1800" b="1" spc="-25" dirty="0">
                <a:solidFill>
                  <a:srgbClr val="4F81BC"/>
                </a:solidFill>
                <a:latin typeface="Cambria"/>
                <a:cs typeface="Cambria"/>
              </a:rPr>
              <a:t> </a:t>
            </a:r>
            <a:r>
              <a:rPr sz="1800" b="1" dirty="0">
                <a:solidFill>
                  <a:srgbClr val="4F81BC"/>
                </a:solidFill>
                <a:latin typeface="Cambria"/>
                <a:cs typeface="Cambria"/>
              </a:rPr>
              <a:t>the</a:t>
            </a:r>
            <a:r>
              <a:rPr sz="1800" b="1" spc="-65" dirty="0">
                <a:solidFill>
                  <a:srgbClr val="4F81BC"/>
                </a:solidFill>
                <a:latin typeface="Cambria"/>
                <a:cs typeface="Cambria"/>
              </a:rPr>
              <a:t> </a:t>
            </a:r>
            <a:r>
              <a:rPr sz="1800" b="1" dirty="0">
                <a:solidFill>
                  <a:srgbClr val="4F81BC"/>
                </a:solidFill>
                <a:latin typeface="Cambria"/>
                <a:cs typeface="Cambria"/>
              </a:rPr>
              <a:t>Program</a:t>
            </a:r>
            <a:r>
              <a:rPr sz="1800" b="1" spc="-30" dirty="0">
                <a:solidFill>
                  <a:srgbClr val="4F81BC"/>
                </a:solidFill>
                <a:latin typeface="Cambria"/>
                <a:cs typeface="Cambria"/>
              </a:rPr>
              <a:t> </a:t>
            </a:r>
            <a:r>
              <a:rPr sz="1800" b="1" dirty="0">
                <a:solidFill>
                  <a:srgbClr val="4F81BC"/>
                </a:solidFill>
                <a:latin typeface="Cambria"/>
                <a:cs typeface="Cambria"/>
              </a:rPr>
              <a:t>Project</a:t>
            </a:r>
            <a:r>
              <a:rPr sz="1800" b="1" spc="-50" dirty="0">
                <a:solidFill>
                  <a:srgbClr val="4F81BC"/>
                </a:solidFill>
                <a:latin typeface="Cambria"/>
                <a:cs typeface="Cambria"/>
              </a:rPr>
              <a:t> </a:t>
            </a:r>
            <a:r>
              <a:rPr sz="1800" b="1" dirty="0">
                <a:solidFill>
                  <a:srgbClr val="4F81BC"/>
                </a:solidFill>
                <a:latin typeface="Cambria"/>
                <a:cs typeface="Cambria"/>
              </a:rPr>
              <a:t>Coordinator:</a:t>
            </a:r>
            <a:r>
              <a:rPr sz="1800" b="1" spc="20" dirty="0">
                <a:solidFill>
                  <a:srgbClr val="4F81BC"/>
                </a:solidFill>
                <a:latin typeface="Cambria"/>
                <a:cs typeface="Cambria"/>
              </a:rPr>
              <a:t> </a:t>
            </a:r>
            <a:r>
              <a:rPr sz="1800" b="1" dirty="0">
                <a:latin typeface="Arial"/>
                <a:cs typeface="Arial"/>
              </a:rPr>
              <a:t>Dr.</a:t>
            </a:r>
            <a:r>
              <a:rPr sz="1800" b="1" spc="-20" dirty="0">
                <a:latin typeface="Arial"/>
                <a:cs typeface="Arial"/>
              </a:rPr>
              <a:t> </a:t>
            </a:r>
            <a:r>
              <a:rPr sz="1800" b="1" dirty="0">
                <a:latin typeface="Arial"/>
                <a:cs typeface="Arial"/>
              </a:rPr>
              <a:t>Sharmasth</a:t>
            </a:r>
            <a:r>
              <a:rPr sz="1800" b="1" spc="-25" dirty="0">
                <a:latin typeface="Arial"/>
                <a:cs typeface="Arial"/>
              </a:rPr>
              <a:t> </a:t>
            </a:r>
            <a:r>
              <a:rPr sz="1800" b="1" spc="-20" dirty="0">
                <a:latin typeface="Arial"/>
                <a:cs typeface="Arial"/>
              </a:rPr>
              <a:t>Vali</a:t>
            </a:r>
            <a:endParaRPr sz="1800" dirty="0">
              <a:latin typeface="Arial"/>
              <a:cs typeface="Arial"/>
            </a:endParaRPr>
          </a:p>
          <a:p>
            <a:pPr marL="12700">
              <a:lnSpc>
                <a:spcPct val="100000"/>
              </a:lnSpc>
            </a:pPr>
            <a:r>
              <a:rPr sz="1800" b="1" dirty="0">
                <a:solidFill>
                  <a:srgbClr val="4F81BC"/>
                </a:solidFill>
                <a:latin typeface="Cambria"/>
                <a:cs typeface="Cambria"/>
              </a:rPr>
              <a:t>Name</a:t>
            </a:r>
            <a:r>
              <a:rPr sz="1800" b="1" spc="-45" dirty="0">
                <a:solidFill>
                  <a:srgbClr val="4F81BC"/>
                </a:solidFill>
                <a:latin typeface="Cambria"/>
                <a:cs typeface="Cambria"/>
              </a:rPr>
              <a:t> </a:t>
            </a:r>
            <a:r>
              <a:rPr sz="1800" b="1" dirty="0">
                <a:solidFill>
                  <a:srgbClr val="4F81BC"/>
                </a:solidFill>
                <a:latin typeface="Cambria"/>
                <a:cs typeface="Cambria"/>
              </a:rPr>
              <a:t>of</a:t>
            </a:r>
            <a:r>
              <a:rPr sz="1800" b="1" spc="-5" dirty="0">
                <a:solidFill>
                  <a:srgbClr val="4F81BC"/>
                </a:solidFill>
                <a:latin typeface="Cambria"/>
                <a:cs typeface="Cambria"/>
              </a:rPr>
              <a:t> </a:t>
            </a:r>
            <a:r>
              <a:rPr sz="1800" b="1" dirty="0">
                <a:solidFill>
                  <a:srgbClr val="4F81BC"/>
                </a:solidFill>
                <a:latin typeface="Cambria"/>
                <a:cs typeface="Cambria"/>
              </a:rPr>
              <a:t>the</a:t>
            </a:r>
            <a:r>
              <a:rPr sz="1800" b="1" spc="-40" dirty="0">
                <a:solidFill>
                  <a:srgbClr val="4F81BC"/>
                </a:solidFill>
                <a:latin typeface="Cambria"/>
                <a:cs typeface="Cambria"/>
              </a:rPr>
              <a:t> </a:t>
            </a:r>
            <a:r>
              <a:rPr sz="1800" b="1" dirty="0">
                <a:solidFill>
                  <a:srgbClr val="4F81BC"/>
                </a:solidFill>
                <a:latin typeface="Cambria"/>
                <a:cs typeface="Cambria"/>
              </a:rPr>
              <a:t>School</a:t>
            </a:r>
            <a:r>
              <a:rPr sz="1800" b="1" spc="35" dirty="0">
                <a:solidFill>
                  <a:srgbClr val="4F81BC"/>
                </a:solidFill>
                <a:latin typeface="Cambria"/>
                <a:cs typeface="Cambria"/>
              </a:rPr>
              <a:t> </a:t>
            </a:r>
            <a:r>
              <a:rPr sz="1800" b="1" dirty="0">
                <a:solidFill>
                  <a:srgbClr val="4F81BC"/>
                </a:solidFill>
                <a:latin typeface="Cambria"/>
                <a:cs typeface="Cambria"/>
              </a:rPr>
              <a:t>Project Coordinators:</a:t>
            </a:r>
            <a:r>
              <a:rPr sz="1800" b="1" spc="10" dirty="0">
                <a:solidFill>
                  <a:srgbClr val="4F81BC"/>
                </a:solidFill>
                <a:latin typeface="Cambria"/>
                <a:cs typeface="Cambria"/>
              </a:rPr>
              <a:t> </a:t>
            </a:r>
            <a:r>
              <a:rPr sz="1800" b="1" dirty="0">
                <a:latin typeface="Cambria"/>
                <a:cs typeface="Cambria"/>
              </a:rPr>
              <a:t>Dr.</a:t>
            </a:r>
            <a:r>
              <a:rPr sz="1800" b="1" spc="-10" dirty="0">
                <a:latin typeface="Cambria"/>
                <a:cs typeface="Cambria"/>
              </a:rPr>
              <a:t> </a:t>
            </a:r>
            <a:r>
              <a:rPr sz="1800" b="1" dirty="0">
                <a:latin typeface="Cambria"/>
                <a:cs typeface="Cambria"/>
              </a:rPr>
              <a:t>Sampath</a:t>
            </a:r>
            <a:r>
              <a:rPr sz="1800" b="1" spc="-45" dirty="0">
                <a:latin typeface="Cambria"/>
                <a:cs typeface="Cambria"/>
              </a:rPr>
              <a:t> </a:t>
            </a:r>
            <a:r>
              <a:rPr sz="1800" b="1" dirty="0">
                <a:latin typeface="Cambria"/>
                <a:cs typeface="Cambria"/>
              </a:rPr>
              <a:t>A</a:t>
            </a:r>
            <a:r>
              <a:rPr sz="1800" b="1" spc="-15" dirty="0">
                <a:latin typeface="Cambria"/>
                <a:cs typeface="Cambria"/>
              </a:rPr>
              <a:t> </a:t>
            </a:r>
            <a:r>
              <a:rPr sz="1800" b="1" dirty="0">
                <a:latin typeface="Cambria"/>
                <a:cs typeface="Cambria"/>
              </a:rPr>
              <a:t>K</a:t>
            </a:r>
            <a:r>
              <a:rPr sz="1800" b="1" spc="-25" dirty="0">
                <a:latin typeface="Cambria"/>
                <a:cs typeface="Cambria"/>
              </a:rPr>
              <a:t> </a:t>
            </a:r>
            <a:r>
              <a:rPr sz="1800" b="1" dirty="0">
                <a:latin typeface="Cambria"/>
                <a:cs typeface="Cambria"/>
              </a:rPr>
              <a:t>,</a:t>
            </a:r>
            <a:r>
              <a:rPr sz="1800" b="1" spc="-45" dirty="0">
                <a:latin typeface="Cambria"/>
                <a:cs typeface="Cambria"/>
              </a:rPr>
              <a:t> </a:t>
            </a:r>
            <a:r>
              <a:rPr sz="1800" b="1" dirty="0">
                <a:latin typeface="Cambria"/>
                <a:cs typeface="Cambria"/>
              </a:rPr>
              <a:t>Dr.</a:t>
            </a:r>
            <a:r>
              <a:rPr sz="1800" b="1" spc="-5" dirty="0">
                <a:latin typeface="Cambria"/>
                <a:cs typeface="Cambria"/>
              </a:rPr>
              <a:t> </a:t>
            </a:r>
            <a:r>
              <a:rPr sz="1800" b="1" dirty="0">
                <a:latin typeface="Cambria"/>
                <a:cs typeface="Cambria"/>
              </a:rPr>
              <a:t>Geetha</a:t>
            </a:r>
            <a:r>
              <a:rPr sz="1800" b="1" spc="-40" dirty="0">
                <a:latin typeface="Cambria"/>
                <a:cs typeface="Cambria"/>
              </a:rPr>
              <a:t> </a:t>
            </a:r>
            <a:r>
              <a:rPr sz="1800" b="1" spc="-50" dirty="0">
                <a:latin typeface="Cambria"/>
                <a:cs typeface="Cambria"/>
              </a:rPr>
              <a:t>A</a:t>
            </a:r>
            <a:endParaRPr sz="1800" dirty="0">
              <a:latin typeface="Cambria"/>
              <a:cs typeface="Cambria"/>
            </a:endParaRPr>
          </a:p>
        </p:txBody>
      </p:sp>
      <p:sp>
        <p:nvSpPr>
          <p:cNvPr id="4" name="object 4"/>
          <p:cNvSpPr txBox="1">
            <a:spLocks noGrp="1"/>
          </p:cNvSpPr>
          <p:nvPr>
            <p:ph type="title"/>
          </p:nvPr>
        </p:nvSpPr>
        <p:spPr>
          <a:xfrm>
            <a:off x="4161282" y="128076"/>
            <a:ext cx="2848610" cy="617348"/>
          </a:xfrm>
          <a:prstGeom prst="rect">
            <a:avLst/>
          </a:prstGeom>
        </p:spPr>
        <p:txBody>
          <a:bodyPr vert="horz" wrap="square" lIns="0" tIns="12065" rIns="0" bIns="0" rtlCol="0">
            <a:spAutoFit/>
          </a:bodyPr>
          <a:lstStyle/>
          <a:p>
            <a:pPr marL="927100" marR="5080" indent="-915035">
              <a:lnSpc>
                <a:spcPct val="113500"/>
              </a:lnSpc>
              <a:spcBef>
                <a:spcPts val="95"/>
              </a:spcBef>
            </a:pPr>
            <a:r>
              <a:rPr sz="1800" dirty="0"/>
              <a:t>CSE7101-</a:t>
            </a:r>
            <a:r>
              <a:rPr sz="1800" spc="-80" dirty="0"/>
              <a:t> </a:t>
            </a:r>
            <a:r>
              <a:rPr sz="1800" dirty="0"/>
              <a:t>Capstone</a:t>
            </a:r>
            <a:r>
              <a:rPr sz="1800" spc="-30" dirty="0"/>
              <a:t> </a:t>
            </a:r>
            <a:r>
              <a:rPr sz="1800" spc="-10" dirty="0"/>
              <a:t>Project </a:t>
            </a:r>
            <a:r>
              <a:rPr sz="1800" dirty="0"/>
              <a:t>Review-</a:t>
            </a:r>
            <a:r>
              <a:rPr lang="en-US" sz="1800" spc="-50" dirty="0"/>
              <a:t>3</a:t>
            </a:r>
            <a:endParaRPr sz="1800" dirty="0"/>
          </a:p>
        </p:txBody>
      </p:sp>
      <p:graphicFrame>
        <p:nvGraphicFramePr>
          <p:cNvPr id="5" name="object 5"/>
          <p:cNvGraphicFramePr>
            <a:graphicFrameLocks noGrp="1"/>
          </p:cNvGraphicFramePr>
          <p:nvPr>
            <p:extLst>
              <p:ext uri="{D42A27DB-BD31-4B8C-83A1-F6EECF244321}">
                <p14:modId xmlns:p14="http://schemas.microsoft.com/office/powerpoint/2010/main" val="1288320849"/>
              </p:ext>
            </p:extLst>
          </p:nvPr>
        </p:nvGraphicFramePr>
        <p:xfrm>
          <a:off x="665556" y="3180460"/>
          <a:ext cx="4627880" cy="1111250"/>
        </p:xfrm>
        <a:graphic>
          <a:graphicData uri="http://schemas.openxmlformats.org/drawingml/2006/table">
            <a:tbl>
              <a:tblPr firstRow="1" bandRow="1">
                <a:tableStyleId>{2D5ABB26-0587-4C30-8999-92F81FD0307C}</a:tableStyleId>
              </a:tblPr>
              <a:tblGrid>
                <a:gridCol w="2313940">
                  <a:extLst>
                    <a:ext uri="{9D8B030D-6E8A-4147-A177-3AD203B41FA5}">
                      <a16:colId xmlns:a16="http://schemas.microsoft.com/office/drawing/2014/main" val="20000"/>
                    </a:ext>
                  </a:extLst>
                </a:gridCol>
                <a:gridCol w="2313940">
                  <a:extLst>
                    <a:ext uri="{9D8B030D-6E8A-4147-A177-3AD203B41FA5}">
                      <a16:colId xmlns:a16="http://schemas.microsoft.com/office/drawing/2014/main" val="20001"/>
                    </a:ext>
                  </a:extLst>
                </a:gridCol>
              </a:tblGrid>
              <a:tr h="370205">
                <a:tc>
                  <a:txBody>
                    <a:bodyPr/>
                    <a:lstStyle/>
                    <a:p>
                      <a:pPr marL="91440">
                        <a:lnSpc>
                          <a:spcPct val="100000"/>
                        </a:lnSpc>
                        <a:spcBef>
                          <a:spcPts val="345"/>
                        </a:spcBef>
                      </a:pPr>
                      <a:r>
                        <a:rPr lang="en-IN" sz="1400" dirty="0">
                          <a:latin typeface="Arial MT"/>
                          <a:cs typeface="Arial MT"/>
                        </a:rPr>
                        <a:t>20221CCS0012</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345"/>
                        </a:spcBef>
                      </a:pPr>
                      <a:r>
                        <a:rPr lang="en-US" sz="1400" dirty="0">
                          <a:latin typeface="Arial MT"/>
                          <a:cs typeface="Arial MT"/>
                        </a:rPr>
                        <a:t>Siddharth</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70840">
                <a:tc>
                  <a:txBody>
                    <a:bodyPr/>
                    <a:lstStyle/>
                    <a:p>
                      <a:pPr marL="91440">
                        <a:lnSpc>
                          <a:spcPct val="100000"/>
                        </a:lnSpc>
                        <a:spcBef>
                          <a:spcPts val="345"/>
                        </a:spcBef>
                      </a:pPr>
                      <a:r>
                        <a:rPr lang="en-US" sz="1400" spc="-10" dirty="0">
                          <a:latin typeface="Arial MT"/>
                          <a:cs typeface="Arial MT"/>
                        </a:rPr>
                        <a:t>20221CCS0036</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345"/>
                        </a:spcBef>
                      </a:pPr>
                      <a:r>
                        <a:rPr lang="en-US" sz="1400" dirty="0">
                          <a:latin typeface="Arial MT"/>
                          <a:cs typeface="Arial MT"/>
                        </a:rPr>
                        <a:t>Chinmay</a:t>
                      </a:r>
                      <a:endParaRPr sz="1400" dirty="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205">
                <a:tc>
                  <a:txBody>
                    <a:bodyPr/>
                    <a:lstStyle/>
                    <a:p>
                      <a:pPr marL="91440">
                        <a:lnSpc>
                          <a:spcPct val="100000"/>
                        </a:lnSpc>
                        <a:spcBef>
                          <a:spcPts val="350"/>
                        </a:spcBef>
                      </a:pPr>
                      <a:r>
                        <a:rPr lang="en-US" sz="1400" spc="-10" dirty="0">
                          <a:latin typeface="Arial MT"/>
                          <a:cs typeface="Arial MT"/>
                        </a:rPr>
                        <a:t>20231CCS3004</a:t>
                      </a:r>
                      <a:endParaRPr sz="1400" dirty="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 algn="ctr">
                        <a:lnSpc>
                          <a:spcPct val="100000"/>
                        </a:lnSpc>
                        <a:spcBef>
                          <a:spcPts val="350"/>
                        </a:spcBef>
                      </a:pPr>
                      <a:r>
                        <a:rPr lang="en-US" sz="1400" dirty="0">
                          <a:latin typeface="Arial MT"/>
                          <a:cs typeface="Arial MT"/>
                        </a:rPr>
                        <a:t>Syed Saifulla H</a:t>
                      </a:r>
                      <a:endParaRPr sz="1400" dirty="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Problem</a:t>
            </a:r>
            <a:r>
              <a:rPr spc="-110" dirty="0"/>
              <a:t> </a:t>
            </a:r>
            <a:r>
              <a:rPr dirty="0"/>
              <a:t>Statement</a:t>
            </a:r>
            <a:r>
              <a:rPr spc="-45" dirty="0"/>
              <a:t> </a:t>
            </a:r>
            <a:r>
              <a:rPr spc="-10" dirty="0"/>
              <a:t>Number:</a:t>
            </a:r>
          </a:p>
        </p:txBody>
      </p:sp>
      <p:sp>
        <p:nvSpPr>
          <p:cNvPr id="3" name="object 3"/>
          <p:cNvSpPr txBox="1"/>
          <p:nvPr/>
        </p:nvSpPr>
        <p:spPr>
          <a:xfrm>
            <a:off x="973023" y="1167460"/>
            <a:ext cx="10381615" cy="3667671"/>
          </a:xfrm>
          <a:prstGeom prst="rect">
            <a:avLst/>
          </a:prstGeom>
        </p:spPr>
        <p:txBody>
          <a:bodyPr vert="horz" wrap="square" lIns="0" tIns="15240" rIns="0" bIns="0" rtlCol="0">
            <a:spAutoFit/>
          </a:bodyPr>
          <a:lstStyle/>
          <a:p>
            <a:pPr marL="81915" marR="7850505" algn="just">
              <a:lnSpc>
                <a:spcPct val="99800"/>
              </a:lnSpc>
              <a:spcBef>
                <a:spcPts val="120"/>
              </a:spcBef>
            </a:pPr>
            <a:r>
              <a:rPr sz="2000" b="1" spc="-10" dirty="0">
                <a:latin typeface="Cambria"/>
                <a:cs typeface="Cambria"/>
              </a:rPr>
              <a:t>Organization</a:t>
            </a:r>
            <a:r>
              <a:rPr sz="2000" spc="-10" dirty="0">
                <a:latin typeface="Cambria"/>
                <a:cs typeface="Cambria"/>
              </a:rPr>
              <a:t>:</a:t>
            </a:r>
            <a:r>
              <a:rPr lang="en-IN" sz="2000" spc="-20" dirty="0">
                <a:latin typeface="Verdana"/>
                <a:cs typeface="Verdana"/>
              </a:rPr>
              <a:t> </a:t>
            </a:r>
            <a:r>
              <a:rPr sz="2000" b="1" dirty="0">
                <a:latin typeface="Cambria"/>
                <a:cs typeface="Cambria"/>
              </a:rPr>
              <a:t>Category</a:t>
            </a:r>
            <a:r>
              <a:rPr sz="2000" b="1" spc="-80" dirty="0">
                <a:latin typeface="Cambria"/>
                <a:cs typeface="Cambria"/>
              </a:rPr>
              <a:t> </a:t>
            </a:r>
            <a:r>
              <a:rPr sz="2000" dirty="0">
                <a:latin typeface="Cambria"/>
                <a:cs typeface="Cambria"/>
              </a:rPr>
              <a:t>:</a:t>
            </a:r>
            <a:r>
              <a:rPr sz="2000" spc="-10" dirty="0">
                <a:latin typeface="Cambria"/>
                <a:cs typeface="Cambria"/>
              </a:rPr>
              <a:t> </a:t>
            </a:r>
            <a:r>
              <a:rPr sz="2000" spc="-10" dirty="0">
                <a:latin typeface="Verdana"/>
                <a:cs typeface="Verdana"/>
              </a:rPr>
              <a:t>Software </a:t>
            </a:r>
            <a:r>
              <a:rPr sz="2000" b="1" dirty="0">
                <a:latin typeface="Cambria"/>
                <a:cs typeface="Cambria"/>
              </a:rPr>
              <a:t>Problem</a:t>
            </a:r>
            <a:r>
              <a:rPr sz="2000" b="1" spc="-75" dirty="0">
                <a:latin typeface="Cambria"/>
                <a:cs typeface="Cambria"/>
              </a:rPr>
              <a:t> </a:t>
            </a:r>
            <a:r>
              <a:rPr sz="2000" b="1" spc="-10" dirty="0">
                <a:latin typeface="Cambria"/>
                <a:cs typeface="Cambria"/>
              </a:rPr>
              <a:t>Description</a:t>
            </a:r>
            <a:endParaRPr sz="2000" dirty="0">
              <a:latin typeface="Cambria"/>
              <a:cs typeface="Cambria"/>
            </a:endParaRPr>
          </a:p>
          <a:p>
            <a:pPr>
              <a:lnSpc>
                <a:spcPct val="100000"/>
              </a:lnSpc>
              <a:spcBef>
                <a:spcPts val="380"/>
              </a:spcBef>
            </a:pPr>
            <a:endParaRPr sz="2000" dirty="0">
              <a:latin typeface="Cambria"/>
              <a:cs typeface="Cambria"/>
            </a:endParaRPr>
          </a:p>
          <a:p>
            <a:r>
              <a:rPr lang="en-US" sz="1400" dirty="0"/>
              <a:t>The overarching problem this project intends to address is the absence of available and usable tools that allow for the user-reported, timely reporting and preliminary detection of fake social media profiles. While there are internal processes on respective platforms, there is often a dearth of feedback and transparency in the user's process to report an account, and without some type of preliminary evidence, the user may not feel inclined to report. The goal is to build a user-centric web-based platform that: (a) provides a centralized, simple, usable portal for submitting profiles for analysis; (b) uses a transparent, rule-based set of checks to automate an initial assessment based on empirical research; (c) keeps a secure ledger of all reports made by users; and (d) provides a dashboard for administrators to view, validate, and act on user reports. The platform will serve to enhance the user intuition with data-driven validation and subsequent administrative workflow.</a:t>
            </a:r>
          </a:p>
          <a:p>
            <a:br>
              <a:rPr lang="en-US" sz="1400" dirty="0"/>
            </a:br>
            <a:br>
              <a:rPr lang="en-US" sz="1400" dirty="0"/>
            </a:br>
            <a:endParaRPr sz="1400" dirty="0">
              <a:latin typeface="Arial MT"/>
              <a:cs typeface="Arial MT"/>
            </a:endParaRPr>
          </a:p>
        </p:txBody>
      </p:sp>
      <p:sp>
        <p:nvSpPr>
          <p:cNvPr id="4" name="TextBox 3">
            <a:extLst>
              <a:ext uri="{FF2B5EF4-FFF2-40B4-BE49-F238E27FC236}">
                <a16:creationId xmlns:a16="http://schemas.microsoft.com/office/drawing/2014/main" id="{C99A8AF6-0ADA-1423-D167-DA189F6BEFDF}"/>
              </a:ext>
            </a:extLst>
          </p:cNvPr>
          <p:cNvSpPr txBox="1"/>
          <p:nvPr/>
        </p:nvSpPr>
        <p:spPr>
          <a:xfrm>
            <a:off x="2590800" y="1162380"/>
            <a:ext cx="5486400" cy="369332"/>
          </a:xfrm>
          <a:prstGeom prst="rect">
            <a:avLst/>
          </a:prstGeom>
          <a:noFill/>
        </p:spPr>
        <p:txBody>
          <a:bodyPr wrap="square" rtlCol="0">
            <a:spAutoFit/>
          </a:bodyPr>
          <a:lstStyle/>
          <a:p>
            <a:r>
              <a:rPr lang="en-US" dirty="0"/>
              <a:t>public services, sustainability, or governance.</a:t>
            </a:r>
            <a:endParaRPr lang="en-IN"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spc="-10" dirty="0"/>
              <a:t>Content</a:t>
            </a:r>
          </a:p>
        </p:txBody>
      </p:sp>
      <p:sp>
        <p:nvSpPr>
          <p:cNvPr id="3" name="object 3"/>
          <p:cNvSpPr txBox="1"/>
          <p:nvPr/>
        </p:nvSpPr>
        <p:spPr>
          <a:xfrm>
            <a:off x="885850" y="1724355"/>
            <a:ext cx="10361930" cy="3046095"/>
          </a:xfrm>
          <a:prstGeom prst="rect">
            <a:avLst/>
          </a:prstGeom>
        </p:spPr>
        <p:txBody>
          <a:bodyPr vert="horz" wrap="square" lIns="0" tIns="12065" rIns="0" bIns="0" rtlCol="0">
            <a:spAutoFit/>
          </a:bodyPr>
          <a:lstStyle/>
          <a:p>
            <a:pPr marL="354965" indent="-342265">
              <a:lnSpc>
                <a:spcPct val="100000"/>
              </a:lnSpc>
              <a:spcBef>
                <a:spcPts val="95"/>
              </a:spcBef>
              <a:buSzPct val="109090"/>
              <a:buFont typeface="Wingdings"/>
              <a:buChar char=""/>
              <a:tabLst>
                <a:tab pos="354965" algn="l"/>
              </a:tabLst>
            </a:pPr>
            <a:r>
              <a:rPr sz="2200" dirty="0">
                <a:latin typeface="Verdana"/>
                <a:cs typeface="Verdana"/>
              </a:rPr>
              <a:t>Algorithm</a:t>
            </a:r>
            <a:r>
              <a:rPr sz="2200" spc="-55" dirty="0">
                <a:latin typeface="Verdana"/>
                <a:cs typeface="Verdana"/>
              </a:rPr>
              <a:t> </a:t>
            </a:r>
            <a:r>
              <a:rPr sz="2200" spc="-10" dirty="0">
                <a:latin typeface="Verdana"/>
                <a:cs typeface="Verdana"/>
              </a:rPr>
              <a:t>Details</a:t>
            </a:r>
            <a:endParaRPr sz="2200">
              <a:latin typeface="Verdana"/>
              <a:cs typeface="Verdana"/>
            </a:endParaRPr>
          </a:p>
          <a:p>
            <a:pPr marL="354965" indent="-342265">
              <a:lnSpc>
                <a:spcPct val="100000"/>
              </a:lnSpc>
              <a:spcBef>
                <a:spcPts val="2655"/>
              </a:spcBef>
              <a:buSzPct val="109090"/>
              <a:buFont typeface="Wingdings"/>
              <a:buChar char=""/>
              <a:tabLst>
                <a:tab pos="354965" algn="l"/>
              </a:tabLst>
            </a:pPr>
            <a:r>
              <a:rPr sz="2200" dirty="0">
                <a:latin typeface="Verdana"/>
                <a:cs typeface="Verdana"/>
              </a:rPr>
              <a:t>Source</a:t>
            </a:r>
            <a:r>
              <a:rPr sz="2200" spc="-50" dirty="0">
                <a:latin typeface="Verdana"/>
                <a:cs typeface="Verdana"/>
              </a:rPr>
              <a:t> </a:t>
            </a:r>
            <a:r>
              <a:rPr sz="2200" dirty="0">
                <a:latin typeface="Verdana"/>
                <a:cs typeface="Verdana"/>
              </a:rPr>
              <a:t>Code</a:t>
            </a:r>
            <a:r>
              <a:rPr sz="2200" spc="-20" dirty="0">
                <a:latin typeface="Verdana"/>
                <a:cs typeface="Verdana"/>
              </a:rPr>
              <a:t> </a:t>
            </a:r>
            <a:r>
              <a:rPr sz="2200" dirty="0">
                <a:latin typeface="Verdana"/>
                <a:cs typeface="Verdana"/>
              </a:rPr>
              <a:t>Details</a:t>
            </a:r>
            <a:r>
              <a:rPr sz="2200" spc="-60" dirty="0">
                <a:latin typeface="Verdana"/>
                <a:cs typeface="Verdana"/>
              </a:rPr>
              <a:t> </a:t>
            </a:r>
            <a:r>
              <a:rPr sz="2200" spc="-10" dirty="0">
                <a:latin typeface="Verdana"/>
                <a:cs typeface="Verdana"/>
              </a:rPr>
              <a:t>(50%)</a:t>
            </a:r>
            <a:endParaRPr sz="2200">
              <a:latin typeface="Verdana"/>
              <a:cs typeface="Verdana"/>
            </a:endParaRPr>
          </a:p>
          <a:p>
            <a:pPr marL="354965" indent="-342265">
              <a:lnSpc>
                <a:spcPct val="100000"/>
              </a:lnSpc>
              <a:spcBef>
                <a:spcPts val="2620"/>
              </a:spcBef>
              <a:buSzPct val="109090"/>
              <a:buFont typeface="Wingdings"/>
              <a:buChar char=""/>
              <a:tabLst>
                <a:tab pos="354965" algn="l"/>
              </a:tabLst>
            </a:pPr>
            <a:r>
              <a:rPr sz="2200" dirty="0">
                <a:latin typeface="Verdana"/>
                <a:cs typeface="Verdana"/>
              </a:rPr>
              <a:t>50%</a:t>
            </a:r>
            <a:r>
              <a:rPr sz="2200" spc="-15" dirty="0">
                <a:latin typeface="Verdana"/>
                <a:cs typeface="Verdana"/>
              </a:rPr>
              <a:t> </a:t>
            </a:r>
            <a:r>
              <a:rPr sz="2200" dirty="0">
                <a:latin typeface="Verdana"/>
                <a:cs typeface="Verdana"/>
              </a:rPr>
              <a:t>Implementation</a:t>
            </a:r>
            <a:r>
              <a:rPr sz="2200" spc="-65" dirty="0">
                <a:latin typeface="Verdana"/>
                <a:cs typeface="Verdana"/>
              </a:rPr>
              <a:t> </a:t>
            </a:r>
            <a:r>
              <a:rPr sz="2200" dirty="0">
                <a:latin typeface="Verdana"/>
                <a:cs typeface="Verdana"/>
              </a:rPr>
              <a:t>with</a:t>
            </a:r>
            <a:r>
              <a:rPr sz="2200" spc="-50" dirty="0">
                <a:latin typeface="Verdana"/>
                <a:cs typeface="Verdana"/>
              </a:rPr>
              <a:t> </a:t>
            </a:r>
            <a:r>
              <a:rPr sz="2200" dirty="0">
                <a:latin typeface="Verdana"/>
                <a:cs typeface="Verdana"/>
              </a:rPr>
              <a:t>Live</a:t>
            </a:r>
            <a:r>
              <a:rPr sz="2200" spc="-35" dirty="0">
                <a:latin typeface="Verdana"/>
                <a:cs typeface="Verdana"/>
              </a:rPr>
              <a:t> </a:t>
            </a:r>
            <a:r>
              <a:rPr sz="2200" spc="-20" dirty="0">
                <a:latin typeface="Verdana"/>
                <a:cs typeface="Verdana"/>
              </a:rPr>
              <a:t>Demo</a:t>
            </a:r>
            <a:endParaRPr sz="2200">
              <a:latin typeface="Verdana"/>
              <a:cs typeface="Verdana"/>
            </a:endParaRPr>
          </a:p>
          <a:p>
            <a:pPr marL="355600" marR="5080" indent="-342900">
              <a:lnSpc>
                <a:spcPct val="200599"/>
              </a:lnSpc>
              <a:buSzPct val="109090"/>
              <a:buFont typeface="Wingdings"/>
              <a:buChar char=""/>
              <a:tabLst>
                <a:tab pos="355600" algn="l"/>
              </a:tabLst>
            </a:pPr>
            <a:r>
              <a:rPr sz="2200" dirty="0">
                <a:latin typeface="Verdana"/>
                <a:cs typeface="Verdana"/>
              </a:rPr>
              <a:t>50%</a:t>
            </a:r>
            <a:r>
              <a:rPr sz="2200" spc="315" dirty="0">
                <a:latin typeface="Verdana"/>
                <a:cs typeface="Verdana"/>
              </a:rPr>
              <a:t> </a:t>
            </a:r>
            <a:r>
              <a:rPr sz="2200" dirty="0">
                <a:latin typeface="Verdana"/>
                <a:cs typeface="Verdana"/>
              </a:rPr>
              <a:t>Report</a:t>
            </a:r>
            <a:r>
              <a:rPr sz="2200" spc="300" dirty="0">
                <a:latin typeface="Verdana"/>
                <a:cs typeface="Verdana"/>
              </a:rPr>
              <a:t> </a:t>
            </a:r>
            <a:r>
              <a:rPr sz="2200" dirty="0">
                <a:latin typeface="Verdana"/>
                <a:cs typeface="Verdana"/>
              </a:rPr>
              <a:t>Softcopy</a:t>
            </a:r>
            <a:r>
              <a:rPr sz="2200" spc="340" dirty="0">
                <a:latin typeface="Verdana"/>
                <a:cs typeface="Verdana"/>
              </a:rPr>
              <a:t> </a:t>
            </a:r>
            <a:r>
              <a:rPr sz="2200" spc="-10" dirty="0">
                <a:latin typeface="Verdana"/>
                <a:cs typeface="Verdana"/>
              </a:rPr>
              <a:t>Submission-</a:t>
            </a:r>
            <a:r>
              <a:rPr sz="2200" dirty="0">
                <a:latin typeface="Verdana"/>
                <a:cs typeface="Verdana"/>
              </a:rPr>
              <a:t>Draft</a:t>
            </a:r>
            <a:r>
              <a:rPr sz="2200" spc="305" dirty="0">
                <a:latin typeface="Verdana"/>
                <a:cs typeface="Verdana"/>
              </a:rPr>
              <a:t> </a:t>
            </a:r>
            <a:r>
              <a:rPr sz="2200" dirty="0">
                <a:latin typeface="Verdana"/>
                <a:cs typeface="Verdana"/>
              </a:rPr>
              <a:t>(Abstract,</a:t>
            </a:r>
            <a:r>
              <a:rPr sz="2200" spc="305" dirty="0">
                <a:latin typeface="Verdana"/>
                <a:cs typeface="Verdana"/>
              </a:rPr>
              <a:t> </a:t>
            </a:r>
            <a:r>
              <a:rPr sz="2200" dirty="0">
                <a:latin typeface="Verdana"/>
                <a:cs typeface="Verdana"/>
              </a:rPr>
              <a:t>Literature</a:t>
            </a:r>
            <a:r>
              <a:rPr sz="2200" spc="335" dirty="0">
                <a:latin typeface="Verdana"/>
                <a:cs typeface="Verdana"/>
              </a:rPr>
              <a:t> </a:t>
            </a:r>
            <a:r>
              <a:rPr sz="2200" spc="-10" dirty="0">
                <a:latin typeface="Verdana"/>
                <a:cs typeface="Verdana"/>
              </a:rPr>
              <a:t>Review, </a:t>
            </a:r>
            <a:r>
              <a:rPr sz="2200" dirty="0">
                <a:latin typeface="Verdana"/>
                <a:cs typeface="Verdana"/>
              </a:rPr>
              <a:t>System</a:t>
            </a:r>
            <a:r>
              <a:rPr sz="2200" spc="-20" dirty="0">
                <a:latin typeface="Verdana"/>
                <a:cs typeface="Verdana"/>
              </a:rPr>
              <a:t> </a:t>
            </a:r>
            <a:r>
              <a:rPr sz="2200" dirty="0">
                <a:latin typeface="Verdana"/>
                <a:cs typeface="Verdana"/>
              </a:rPr>
              <a:t>Design.</a:t>
            </a:r>
            <a:r>
              <a:rPr sz="2200" spc="-50" dirty="0">
                <a:latin typeface="Verdana"/>
                <a:cs typeface="Verdana"/>
              </a:rPr>
              <a:t> </a:t>
            </a:r>
            <a:r>
              <a:rPr sz="2200" dirty="0">
                <a:latin typeface="Verdana"/>
                <a:cs typeface="Verdana"/>
              </a:rPr>
              <a:t>Architecture,</a:t>
            </a:r>
            <a:r>
              <a:rPr sz="2200" spc="-70" dirty="0">
                <a:latin typeface="Verdana"/>
                <a:cs typeface="Verdana"/>
              </a:rPr>
              <a:t> </a:t>
            </a:r>
            <a:r>
              <a:rPr sz="2200" dirty="0">
                <a:latin typeface="Verdana"/>
                <a:cs typeface="Verdana"/>
              </a:rPr>
              <a:t>Algorithm</a:t>
            </a:r>
            <a:r>
              <a:rPr sz="2200" spc="-110" dirty="0">
                <a:latin typeface="Verdana"/>
                <a:cs typeface="Verdana"/>
              </a:rPr>
              <a:t> </a:t>
            </a:r>
            <a:r>
              <a:rPr sz="2200" dirty="0">
                <a:latin typeface="Verdana"/>
                <a:cs typeface="Verdana"/>
              </a:rPr>
              <a:t>Details</a:t>
            </a:r>
            <a:r>
              <a:rPr sz="2200" spc="-100" dirty="0">
                <a:latin typeface="Verdana"/>
                <a:cs typeface="Verdana"/>
              </a:rPr>
              <a:t> </a:t>
            </a:r>
            <a:r>
              <a:rPr sz="2200" dirty="0">
                <a:latin typeface="Verdana"/>
                <a:cs typeface="Verdana"/>
              </a:rPr>
              <a:t>Module</a:t>
            </a:r>
            <a:r>
              <a:rPr sz="2200" spc="-50" dirty="0">
                <a:latin typeface="Verdana"/>
                <a:cs typeface="Verdana"/>
              </a:rPr>
              <a:t> </a:t>
            </a:r>
            <a:r>
              <a:rPr sz="2200" spc="-10" dirty="0">
                <a:latin typeface="Verdana"/>
                <a:cs typeface="Verdana"/>
              </a:rPr>
              <a:t>Description)</a:t>
            </a:r>
            <a:endParaRPr sz="2200">
              <a:latin typeface="Verdana"/>
              <a:cs typeface="Verdan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latin typeface="Verdana"/>
                <a:cs typeface="Verdana"/>
              </a:rPr>
              <a:t>Algorithms</a:t>
            </a:r>
            <a:r>
              <a:rPr spc="-80" dirty="0">
                <a:latin typeface="Verdana"/>
                <a:cs typeface="Verdana"/>
              </a:rPr>
              <a:t> </a:t>
            </a:r>
            <a:r>
              <a:rPr spc="-20" dirty="0">
                <a:latin typeface="Verdana"/>
                <a:cs typeface="Verdana"/>
              </a:rPr>
              <a:t>Used</a:t>
            </a:r>
          </a:p>
        </p:txBody>
      </p:sp>
      <p:sp>
        <p:nvSpPr>
          <p:cNvPr id="7" name="TextBox 6">
            <a:extLst>
              <a:ext uri="{FF2B5EF4-FFF2-40B4-BE49-F238E27FC236}">
                <a16:creationId xmlns:a16="http://schemas.microsoft.com/office/drawing/2014/main" id="{AC44F80E-3AE7-AA3C-F46F-3115B93F12ED}"/>
              </a:ext>
            </a:extLst>
          </p:cNvPr>
          <p:cNvSpPr txBox="1"/>
          <p:nvPr/>
        </p:nvSpPr>
        <p:spPr>
          <a:xfrm>
            <a:off x="891946" y="1143000"/>
            <a:ext cx="10202173" cy="3088025"/>
          </a:xfrm>
          <a:prstGeom prst="rect">
            <a:avLst/>
          </a:prstGeom>
          <a:noFill/>
        </p:spPr>
        <p:txBody>
          <a:bodyPr wrap="square">
            <a:spAutoFit/>
          </a:bodyPr>
          <a:lstStyle/>
          <a:p>
            <a:pPr algn="l">
              <a:spcBef>
                <a:spcPts val="2400"/>
              </a:spcBef>
              <a:spcAft>
                <a:spcPts val="1200"/>
              </a:spcAft>
              <a:buNone/>
            </a:pPr>
            <a:r>
              <a:rPr lang="en-IN" b="1" dirty="0">
                <a:solidFill>
                  <a:schemeClr val="tx1"/>
                </a:solidFill>
                <a:effectLst/>
                <a:latin typeface="quote-cjk-patch"/>
              </a:rPr>
              <a:t>Algorithm 1: Profile Analysis Engine Input: </a:t>
            </a:r>
          </a:p>
          <a:p>
            <a:pPr marL="285750" indent="-285750" algn="l">
              <a:spcBef>
                <a:spcPts val="2400"/>
              </a:spcBef>
              <a:spcAft>
                <a:spcPts val="1200"/>
              </a:spcAft>
              <a:buFont typeface="Arial" panose="020B0604020202020204" pitchFamily="34" charset="0"/>
              <a:buChar char="•"/>
            </a:pPr>
            <a:r>
              <a:rPr lang="en-IN" b="0" i="0" dirty="0">
                <a:solidFill>
                  <a:schemeClr val="tx1"/>
                </a:solidFill>
                <a:effectLst/>
                <a:latin typeface="quote-cjk-patch"/>
              </a:rPr>
              <a:t>Social media profile URL</a:t>
            </a:r>
          </a:p>
          <a:p>
            <a:pPr algn="l">
              <a:spcBef>
                <a:spcPts val="450"/>
              </a:spcBef>
              <a:spcAft>
                <a:spcPts val="1200"/>
              </a:spcAft>
              <a:buFont typeface="Arial" panose="020B0604020202020204" pitchFamily="34" charset="0"/>
              <a:buChar char="•"/>
            </a:pPr>
            <a:r>
              <a:rPr lang="en-IN" b="0" i="0" dirty="0">
                <a:solidFill>
                  <a:schemeClr val="tx1"/>
                </a:solidFill>
                <a:effectLst/>
                <a:latin typeface="quote-cjk-patch"/>
              </a:rPr>
              <a:t>Platform type (Instagram, Facebook, Twitter, TikTok)</a:t>
            </a:r>
          </a:p>
          <a:p>
            <a:pPr algn="l">
              <a:spcBef>
                <a:spcPts val="450"/>
              </a:spcBef>
              <a:spcAft>
                <a:spcPts val="1200"/>
              </a:spcAft>
              <a:buFont typeface="Arial" panose="020B0604020202020204" pitchFamily="34" charset="0"/>
              <a:buChar char="•"/>
            </a:pPr>
            <a:r>
              <a:rPr lang="en-IN" b="0" i="0" dirty="0">
                <a:solidFill>
                  <a:schemeClr val="tx1"/>
                </a:solidFill>
                <a:effectLst/>
                <a:latin typeface="quote-cjk-patch"/>
              </a:rPr>
              <a:t>Profile metadata (username, bio, profile picture)</a:t>
            </a:r>
          </a:p>
          <a:p>
            <a:pPr algn="l">
              <a:spcBef>
                <a:spcPts val="450"/>
              </a:spcBef>
              <a:spcAft>
                <a:spcPts val="1200"/>
              </a:spcAft>
              <a:buFont typeface="Arial" panose="020B0604020202020204" pitchFamily="34" charset="0"/>
              <a:buChar char="•"/>
            </a:pPr>
            <a:r>
              <a:rPr lang="en-IN" b="0" i="0" dirty="0">
                <a:solidFill>
                  <a:schemeClr val="tx1"/>
                </a:solidFill>
                <a:effectLst/>
                <a:latin typeface="quote-cjk-patch"/>
              </a:rPr>
              <a:t>Social metrics (followers count, following count, post count)</a:t>
            </a:r>
          </a:p>
          <a:p>
            <a:pPr algn="l">
              <a:spcBef>
                <a:spcPts val="450"/>
              </a:spcBef>
              <a:spcAft>
                <a:spcPts val="1200"/>
              </a:spcAft>
              <a:buFont typeface="Arial" panose="020B0604020202020204" pitchFamily="34" charset="0"/>
              <a:buChar char="•"/>
            </a:pPr>
            <a:r>
              <a:rPr lang="en-IN" b="0" i="0" dirty="0">
                <a:solidFill>
                  <a:schemeClr val="tx1"/>
                </a:solidFill>
                <a:effectLst/>
                <a:latin typeface="quote-cjk-patch"/>
              </a:rPr>
              <a:t>Recent post content and engagement data</a:t>
            </a:r>
          </a:p>
        </p:txBody>
      </p:sp>
      <p:pic>
        <p:nvPicPr>
          <p:cNvPr id="11" name="Picture 10" descr="A screenshot of a computer screen&#10;&#10;AI-generated content may be incorrect.">
            <a:extLst>
              <a:ext uri="{FF2B5EF4-FFF2-40B4-BE49-F238E27FC236}">
                <a16:creationId xmlns:a16="http://schemas.microsoft.com/office/drawing/2014/main" id="{210A848C-A403-B808-E8F2-D09A75AB3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328" y="1372580"/>
            <a:ext cx="5457672" cy="4112839"/>
          </a:xfrm>
          <a:prstGeom prst="rect">
            <a:avLst/>
          </a:prstGeom>
        </p:spPr>
      </p:pic>
      <p:sp>
        <p:nvSpPr>
          <p:cNvPr id="14" name="TextBox 13">
            <a:extLst>
              <a:ext uri="{FF2B5EF4-FFF2-40B4-BE49-F238E27FC236}">
                <a16:creationId xmlns:a16="http://schemas.microsoft.com/office/drawing/2014/main" id="{45916831-C689-7001-CB21-CAD260400FC3}"/>
              </a:ext>
            </a:extLst>
          </p:cNvPr>
          <p:cNvSpPr txBox="1"/>
          <p:nvPr/>
        </p:nvSpPr>
        <p:spPr>
          <a:xfrm>
            <a:off x="6734328" y="990600"/>
            <a:ext cx="6156960" cy="374461"/>
          </a:xfrm>
          <a:prstGeom prst="rect">
            <a:avLst/>
          </a:prstGeom>
          <a:noFill/>
        </p:spPr>
        <p:txBody>
          <a:bodyPr wrap="square">
            <a:spAutoFit/>
          </a:bodyPr>
          <a:lstStyle/>
          <a:p>
            <a:pPr algn="l">
              <a:lnSpc>
                <a:spcPts val="2250"/>
              </a:lnSpc>
              <a:spcBef>
                <a:spcPts val="2400"/>
              </a:spcBef>
              <a:spcAft>
                <a:spcPts val="1200"/>
              </a:spcAft>
              <a:buNone/>
            </a:pPr>
            <a:r>
              <a:rPr lang="en-IN" b="1" dirty="0">
                <a:solidFill>
                  <a:schemeClr val="tx1"/>
                </a:solidFill>
                <a:effectLst/>
                <a:latin typeface="quote-cjk-patch"/>
              </a:rPr>
              <a:t>Process:</a:t>
            </a:r>
          </a:p>
        </p:txBody>
      </p:sp>
      <p:sp>
        <p:nvSpPr>
          <p:cNvPr id="19" name="TextBox 18">
            <a:extLst>
              <a:ext uri="{FF2B5EF4-FFF2-40B4-BE49-F238E27FC236}">
                <a16:creationId xmlns:a16="http://schemas.microsoft.com/office/drawing/2014/main" id="{6AA3570F-FC80-67EA-0CE7-97FA387BDB13}"/>
              </a:ext>
            </a:extLst>
          </p:cNvPr>
          <p:cNvSpPr txBox="1"/>
          <p:nvPr/>
        </p:nvSpPr>
        <p:spPr>
          <a:xfrm>
            <a:off x="533400" y="4868408"/>
            <a:ext cx="8159137" cy="1249060"/>
          </a:xfrm>
          <a:prstGeom prst="rect">
            <a:avLst/>
          </a:prstGeom>
          <a:noFill/>
        </p:spPr>
        <p:txBody>
          <a:bodyPr wrap="square">
            <a:spAutoFit/>
          </a:bodyPr>
          <a:lstStyle/>
          <a:p>
            <a:pPr algn="l">
              <a:lnSpc>
                <a:spcPts val="2250"/>
              </a:lnSpc>
              <a:spcBef>
                <a:spcPts val="2400"/>
              </a:spcBef>
              <a:spcAft>
                <a:spcPts val="1200"/>
              </a:spcAft>
              <a:buNone/>
            </a:pPr>
            <a:r>
              <a:rPr lang="en-US" b="1" dirty="0">
                <a:solidFill>
                  <a:schemeClr val="tx1"/>
                </a:solidFill>
                <a:effectLst/>
                <a:latin typeface="quote-cjk-patch"/>
              </a:rPr>
              <a:t>Output:</a:t>
            </a:r>
          </a:p>
          <a:p>
            <a:pPr algn="l">
              <a:spcBef>
                <a:spcPts val="1200"/>
              </a:spcBef>
              <a:spcAft>
                <a:spcPts val="1200"/>
              </a:spcAft>
              <a:buFont typeface="Arial" panose="020B0604020202020204" pitchFamily="34" charset="0"/>
              <a:buChar char="•"/>
            </a:pPr>
            <a:r>
              <a:rPr lang="en-US" b="0" i="0" dirty="0">
                <a:solidFill>
                  <a:schemeClr val="tx1"/>
                </a:solidFill>
                <a:effectLst/>
                <a:latin typeface="quote-cjk-patch"/>
              </a:rPr>
              <a:t>Risk score (0-100%), Classification result (Genuine/Suspicious/Fake), Detailed breakdown of detected indicators, Confidence level, Timestamp of analysis.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07B5-5E05-132A-9E6C-35AF27EAAC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4C2D81-9C37-411C-8031-9820C76D82CD}"/>
              </a:ext>
            </a:extLst>
          </p:cNvPr>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latin typeface="Verdana"/>
                <a:cs typeface="Verdana"/>
              </a:rPr>
              <a:t>Algorithms</a:t>
            </a:r>
            <a:r>
              <a:rPr spc="-80" dirty="0">
                <a:latin typeface="Verdana"/>
                <a:cs typeface="Verdana"/>
              </a:rPr>
              <a:t> </a:t>
            </a:r>
            <a:r>
              <a:rPr spc="-20" dirty="0">
                <a:latin typeface="Verdana"/>
                <a:cs typeface="Verdana"/>
              </a:rPr>
              <a:t>Used</a:t>
            </a:r>
          </a:p>
        </p:txBody>
      </p:sp>
      <p:sp>
        <p:nvSpPr>
          <p:cNvPr id="4" name="TextBox 3">
            <a:extLst>
              <a:ext uri="{FF2B5EF4-FFF2-40B4-BE49-F238E27FC236}">
                <a16:creationId xmlns:a16="http://schemas.microsoft.com/office/drawing/2014/main" id="{13A5847A-E301-82C0-5FA1-38B985D92119}"/>
              </a:ext>
            </a:extLst>
          </p:cNvPr>
          <p:cNvSpPr txBox="1"/>
          <p:nvPr/>
        </p:nvSpPr>
        <p:spPr>
          <a:xfrm>
            <a:off x="762000" y="990600"/>
            <a:ext cx="6096000" cy="2731517"/>
          </a:xfrm>
          <a:prstGeom prst="rect">
            <a:avLst/>
          </a:prstGeom>
          <a:noFill/>
        </p:spPr>
        <p:txBody>
          <a:bodyPr wrap="square">
            <a:spAutoFit/>
          </a:bodyPr>
          <a:lstStyle/>
          <a:p>
            <a:pPr algn="l">
              <a:lnSpc>
                <a:spcPts val="2400"/>
              </a:lnSpc>
              <a:spcBef>
                <a:spcPts val="2400"/>
              </a:spcBef>
              <a:spcAft>
                <a:spcPts val="1200"/>
              </a:spcAft>
              <a:buNone/>
            </a:pPr>
            <a:r>
              <a:rPr lang="en-US" b="1">
                <a:solidFill>
                  <a:schemeClr val="tx1"/>
                </a:solidFill>
                <a:effectLst/>
                <a:latin typeface="quote-cjk-patch"/>
              </a:rPr>
              <a:t>Algorithm 2: Rule-Based Detection Engine</a:t>
            </a:r>
          </a:p>
          <a:p>
            <a:pPr algn="l">
              <a:lnSpc>
                <a:spcPts val="2250"/>
              </a:lnSpc>
              <a:spcBef>
                <a:spcPts val="2400"/>
              </a:spcBef>
              <a:spcAft>
                <a:spcPts val="1200"/>
              </a:spcAft>
              <a:buNone/>
            </a:pPr>
            <a:r>
              <a:rPr lang="en-US" b="1">
                <a:solidFill>
                  <a:schemeClr val="tx1"/>
                </a:solidFill>
                <a:effectLst/>
                <a:latin typeface="quote-cjk-patch"/>
              </a:rPr>
              <a:t>Input:</a:t>
            </a:r>
          </a:p>
          <a:p>
            <a:pPr algn="l">
              <a:spcBef>
                <a:spcPts val="1200"/>
              </a:spcBef>
              <a:spcAft>
                <a:spcPts val="1200"/>
              </a:spcAft>
              <a:buFont typeface="Arial" panose="020B0604020202020204" pitchFamily="34" charset="0"/>
              <a:buChar char="•"/>
            </a:pPr>
            <a:r>
              <a:rPr lang="en-US" b="0" i="0">
                <a:solidFill>
                  <a:schemeClr val="tx1"/>
                </a:solidFill>
                <a:effectLst/>
                <a:latin typeface="quote-cjk-patch"/>
              </a:rPr>
              <a:t>Profile data object containing all extracted information</a:t>
            </a:r>
          </a:p>
          <a:p>
            <a:pPr algn="l">
              <a:spcBef>
                <a:spcPts val="450"/>
              </a:spcBef>
              <a:spcAft>
                <a:spcPts val="1200"/>
              </a:spcAft>
              <a:buFont typeface="Arial" panose="020B0604020202020204" pitchFamily="34" charset="0"/>
              <a:buChar char="•"/>
            </a:pPr>
            <a:r>
              <a:rPr lang="en-US" b="0" i="0">
                <a:solidFill>
                  <a:schemeClr val="tx1"/>
                </a:solidFill>
                <a:effectLst/>
                <a:latin typeface="quote-cjk-patch"/>
              </a:rPr>
              <a:t>Predefined rule thresholds and patterns</a:t>
            </a:r>
          </a:p>
          <a:p>
            <a:pPr algn="l">
              <a:spcBef>
                <a:spcPts val="450"/>
              </a:spcBef>
              <a:spcAft>
                <a:spcPts val="1200"/>
              </a:spcAft>
              <a:buFont typeface="Arial" panose="020B0604020202020204" pitchFamily="34" charset="0"/>
              <a:buChar char="•"/>
            </a:pPr>
            <a:r>
              <a:rPr lang="en-US" b="0" i="0">
                <a:solidFill>
                  <a:schemeClr val="tx1"/>
                </a:solidFill>
                <a:effectLst/>
                <a:latin typeface="quote-cjk-patch"/>
              </a:rPr>
              <a:t>Historical data for comparison</a:t>
            </a:r>
            <a:endParaRPr lang="en-US" b="0" i="0" dirty="0">
              <a:solidFill>
                <a:schemeClr val="tx1"/>
              </a:solidFill>
              <a:effectLst/>
              <a:latin typeface="quote-cjk-patch"/>
            </a:endParaRPr>
          </a:p>
        </p:txBody>
      </p:sp>
      <p:sp>
        <p:nvSpPr>
          <p:cNvPr id="6" name="TextBox 5">
            <a:extLst>
              <a:ext uri="{FF2B5EF4-FFF2-40B4-BE49-F238E27FC236}">
                <a16:creationId xmlns:a16="http://schemas.microsoft.com/office/drawing/2014/main" id="{A8238B67-F614-A6C7-D137-250434F2B99D}"/>
              </a:ext>
            </a:extLst>
          </p:cNvPr>
          <p:cNvSpPr txBox="1"/>
          <p:nvPr/>
        </p:nvSpPr>
        <p:spPr>
          <a:xfrm>
            <a:off x="6629400" y="990600"/>
            <a:ext cx="6096000" cy="374461"/>
          </a:xfrm>
          <a:prstGeom prst="rect">
            <a:avLst/>
          </a:prstGeom>
          <a:noFill/>
        </p:spPr>
        <p:txBody>
          <a:bodyPr wrap="square">
            <a:spAutoFit/>
          </a:bodyPr>
          <a:lstStyle/>
          <a:p>
            <a:pPr algn="l">
              <a:lnSpc>
                <a:spcPts val="2250"/>
              </a:lnSpc>
              <a:spcBef>
                <a:spcPts val="2400"/>
              </a:spcBef>
              <a:spcAft>
                <a:spcPts val="1200"/>
              </a:spcAft>
              <a:buNone/>
            </a:pPr>
            <a:r>
              <a:rPr lang="en-IN" b="1">
                <a:solidFill>
                  <a:schemeClr val="tx1"/>
                </a:solidFill>
                <a:effectLst/>
                <a:latin typeface="quote-cjk-patch"/>
              </a:rPr>
              <a:t>Process:</a:t>
            </a:r>
            <a:endParaRPr lang="en-IN" b="1" dirty="0">
              <a:solidFill>
                <a:schemeClr val="tx1"/>
              </a:solidFill>
              <a:effectLst/>
              <a:latin typeface="quote-cjk-patch"/>
            </a:endParaRPr>
          </a:p>
        </p:txBody>
      </p:sp>
      <p:pic>
        <p:nvPicPr>
          <p:cNvPr id="15" name="Picture 14" descr="A screenshot of a computer screen&#10;&#10;AI-generated content may be incorrect.">
            <a:extLst>
              <a:ext uri="{FF2B5EF4-FFF2-40B4-BE49-F238E27FC236}">
                <a16:creationId xmlns:a16="http://schemas.microsoft.com/office/drawing/2014/main" id="{EDAD8DF1-5688-4FC7-4655-7A48308B3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0734" y="1365061"/>
            <a:ext cx="5661266" cy="4883339"/>
          </a:xfrm>
          <a:prstGeom prst="rect">
            <a:avLst/>
          </a:prstGeom>
        </p:spPr>
      </p:pic>
      <p:sp>
        <p:nvSpPr>
          <p:cNvPr id="17" name="TextBox 16">
            <a:extLst>
              <a:ext uri="{FF2B5EF4-FFF2-40B4-BE49-F238E27FC236}">
                <a16:creationId xmlns:a16="http://schemas.microsoft.com/office/drawing/2014/main" id="{E1545FA7-9DCF-E735-E5C6-69599E71835D}"/>
              </a:ext>
            </a:extLst>
          </p:cNvPr>
          <p:cNvSpPr txBox="1"/>
          <p:nvPr/>
        </p:nvSpPr>
        <p:spPr>
          <a:xfrm>
            <a:off x="762000" y="3672104"/>
            <a:ext cx="6362700" cy="2457083"/>
          </a:xfrm>
          <a:prstGeom prst="rect">
            <a:avLst/>
          </a:prstGeom>
          <a:noFill/>
        </p:spPr>
        <p:txBody>
          <a:bodyPr wrap="square">
            <a:spAutoFit/>
          </a:bodyPr>
          <a:lstStyle/>
          <a:p>
            <a:pPr algn="l">
              <a:lnSpc>
                <a:spcPts val="2250"/>
              </a:lnSpc>
              <a:spcBef>
                <a:spcPts val="2400"/>
              </a:spcBef>
              <a:spcAft>
                <a:spcPts val="1200"/>
              </a:spcAft>
              <a:buNone/>
            </a:pPr>
            <a:r>
              <a:rPr lang="en-US" b="1" dirty="0">
                <a:solidFill>
                  <a:schemeClr val="tx1"/>
                </a:solidFill>
                <a:effectLst/>
                <a:latin typeface="quote-cjk-patch"/>
              </a:rPr>
              <a:t>Output:</a:t>
            </a:r>
          </a:p>
          <a:p>
            <a:pPr algn="l">
              <a:spcBef>
                <a:spcPts val="1200"/>
              </a:spcBef>
              <a:spcAft>
                <a:spcPts val="1200"/>
              </a:spcAft>
              <a:buFont typeface="Arial" panose="020B0604020202020204" pitchFamily="34" charset="0"/>
              <a:buChar char="•"/>
            </a:pPr>
            <a:r>
              <a:rPr lang="en-US" b="0" i="0" dirty="0">
                <a:solidFill>
                  <a:schemeClr val="tx1"/>
                </a:solidFill>
                <a:effectLst/>
                <a:latin typeface="quote-cjk-patch"/>
              </a:rPr>
              <a:t>List of triggered rules</a:t>
            </a:r>
          </a:p>
          <a:p>
            <a:pPr algn="l">
              <a:spcBef>
                <a:spcPts val="450"/>
              </a:spcBef>
              <a:spcAft>
                <a:spcPts val="1200"/>
              </a:spcAft>
              <a:buFont typeface="Arial" panose="020B0604020202020204" pitchFamily="34" charset="0"/>
              <a:buChar char="•"/>
            </a:pPr>
            <a:r>
              <a:rPr lang="en-US" b="0" i="0" dirty="0">
                <a:solidFill>
                  <a:schemeClr val="tx1"/>
                </a:solidFill>
                <a:effectLst/>
                <a:latin typeface="quote-cjk-patch"/>
              </a:rPr>
              <a:t>Individual rule scores</a:t>
            </a:r>
          </a:p>
          <a:p>
            <a:pPr algn="l">
              <a:spcBef>
                <a:spcPts val="450"/>
              </a:spcBef>
              <a:spcAft>
                <a:spcPts val="1200"/>
              </a:spcAft>
              <a:buFont typeface="Arial" panose="020B0604020202020204" pitchFamily="34" charset="0"/>
              <a:buChar char="•"/>
            </a:pPr>
            <a:r>
              <a:rPr lang="en-US" b="0" i="0" dirty="0">
                <a:solidFill>
                  <a:schemeClr val="tx1"/>
                </a:solidFill>
                <a:effectLst/>
                <a:latin typeface="quote-cjk-patch"/>
              </a:rPr>
              <a:t>Composite risk assessment</a:t>
            </a:r>
          </a:p>
          <a:p>
            <a:pPr algn="l">
              <a:spcBef>
                <a:spcPts val="450"/>
              </a:spcBef>
              <a:spcAft>
                <a:spcPts val="1200"/>
              </a:spcAft>
              <a:buFont typeface="Arial" panose="020B0604020202020204" pitchFamily="34" charset="0"/>
              <a:buChar char="•"/>
            </a:pPr>
            <a:r>
              <a:rPr lang="en-US" b="0" i="0" dirty="0">
                <a:solidFill>
                  <a:schemeClr val="tx1"/>
                </a:solidFill>
                <a:effectLst/>
                <a:latin typeface="quote-cjk-patch"/>
              </a:rPr>
              <a:t>Recommendation for manual review if needed</a:t>
            </a:r>
          </a:p>
        </p:txBody>
      </p:sp>
    </p:spTree>
    <p:extLst>
      <p:ext uri="{BB962C8B-B14F-4D97-AF65-F5344CB8AC3E}">
        <p14:creationId xmlns:p14="http://schemas.microsoft.com/office/powerpoint/2010/main" val="4148617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latin typeface="Verdana"/>
                <a:cs typeface="Verdana"/>
              </a:rPr>
              <a:t>Algorithms</a:t>
            </a:r>
            <a:r>
              <a:rPr spc="-80" dirty="0">
                <a:latin typeface="Verdana"/>
                <a:cs typeface="Verdana"/>
              </a:rPr>
              <a:t> </a:t>
            </a:r>
            <a:r>
              <a:rPr spc="-20" dirty="0">
                <a:latin typeface="Verdana"/>
                <a:cs typeface="Verdana"/>
              </a:rPr>
              <a:t>Used</a:t>
            </a:r>
          </a:p>
        </p:txBody>
      </p:sp>
      <p:sp>
        <p:nvSpPr>
          <p:cNvPr id="5" name="TextBox 4">
            <a:extLst>
              <a:ext uri="{FF2B5EF4-FFF2-40B4-BE49-F238E27FC236}">
                <a16:creationId xmlns:a16="http://schemas.microsoft.com/office/drawing/2014/main" id="{EE0B6AB4-C079-D48E-F0F7-3071A81FAE13}"/>
              </a:ext>
            </a:extLst>
          </p:cNvPr>
          <p:cNvSpPr txBox="1"/>
          <p:nvPr/>
        </p:nvSpPr>
        <p:spPr>
          <a:xfrm>
            <a:off x="891946" y="990600"/>
            <a:ext cx="6096000" cy="2731517"/>
          </a:xfrm>
          <a:prstGeom prst="rect">
            <a:avLst/>
          </a:prstGeom>
          <a:noFill/>
        </p:spPr>
        <p:txBody>
          <a:bodyPr wrap="square">
            <a:spAutoFit/>
          </a:bodyPr>
          <a:lstStyle/>
          <a:p>
            <a:pPr algn="l">
              <a:lnSpc>
                <a:spcPts val="2400"/>
              </a:lnSpc>
              <a:spcBef>
                <a:spcPts val="2400"/>
              </a:spcBef>
              <a:spcAft>
                <a:spcPts val="1200"/>
              </a:spcAft>
              <a:buNone/>
            </a:pPr>
            <a:r>
              <a:rPr lang="en-IN" b="1" dirty="0">
                <a:solidFill>
                  <a:schemeClr val="tx1"/>
                </a:solidFill>
                <a:effectLst/>
                <a:latin typeface="quote-cjk-patch"/>
              </a:rPr>
              <a:t>Algorithm 3: User Authentication System</a:t>
            </a:r>
          </a:p>
          <a:p>
            <a:pPr algn="l">
              <a:lnSpc>
                <a:spcPts val="2250"/>
              </a:lnSpc>
              <a:spcBef>
                <a:spcPts val="2400"/>
              </a:spcBef>
              <a:spcAft>
                <a:spcPts val="1200"/>
              </a:spcAft>
              <a:buNone/>
            </a:pPr>
            <a:r>
              <a:rPr lang="en-IN" b="1" dirty="0">
                <a:solidFill>
                  <a:schemeClr val="tx1"/>
                </a:solidFill>
                <a:effectLst/>
                <a:latin typeface="quote-cjk-patch"/>
              </a:rPr>
              <a:t>Input:</a:t>
            </a:r>
          </a:p>
          <a:p>
            <a:pPr algn="l">
              <a:spcBef>
                <a:spcPts val="1200"/>
              </a:spcBef>
              <a:spcAft>
                <a:spcPts val="1200"/>
              </a:spcAft>
              <a:buFont typeface="Arial" panose="020B0604020202020204" pitchFamily="34" charset="0"/>
              <a:buChar char="•"/>
            </a:pPr>
            <a:r>
              <a:rPr lang="en-IN" b="0" i="0" dirty="0">
                <a:solidFill>
                  <a:schemeClr val="tx1"/>
                </a:solidFill>
                <a:effectLst/>
                <a:latin typeface="quote-cjk-patch"/>
              </a:rPr>
              <a:t>User credentials (email, password)</a:t>
            </a:r>
          </a:p>
          <a:p>
            <a:pPr algn="l">
              <a:spcBef>
                <a:spcPts val="450"/>
              </a:spcBef>
              <a:spcAft>
                <a:spcPts val="1200"/>
              </a:spcAft>
              <a:buFont typeface="Arial" panose="020B0604020202020204" pitchFamily="34" charset="0"/>
              <a:buChar char="•"/>
            </a:pPr>
            <a:r>
              <a:rPr lang="en-IN" b="0" i="0" dirty="0">
                <a:solidFill>
                  <a:schemeClr val="tx1"/>
                </a:solidFill>
                <a:effectLst/>
                <a:latin typeface="quote-cjk-patch"/>
              </a:rPr>
              <a:t>Registration data (for new users)</a:t>
            </a:r>
          </a:p>
          <a:p>
            <a:pPr algn="l">
              <a:spcBef>
                <a:spcPts val="450"/>
              </a:spcBef>
              <a:spcAft>
                <a:spcPts val="1200"/>
              </a:spcAft>
              <a:buFont typeface="Arial" panose="020B0604020202020204" pitchFamily="34" charset="0"/>
              <a:buChar char="•"/>
            </a:pPr>
            <a:r>
              <a:rPr lang="en-IN" b="0" i="0" dirty="0">
                <a:solidFill>
                  <a:schemeClr val="tx1"/>
                </a:solidFill>
                <a:effectLst/>
                <a:latin typeface="quote-cjk-patch"/>
              </a:rPr>
              <a:t>Session tokens (for returning users)</a:t>
            </a:r>
          </a:p>
        </p:txBody>
      </p:sp>
      <p:sp>
        <p:nvSpPr>
          <p:cNvPr id="8" name="TextBox 7">
            <a:extLst>
              <a:ext uri="{FF2B5EF4-FFF2-40B4-BE49-F238E27FC236}">
                <a16:creationId xmlns:a16="http://schemas.microsoft.com/office/drawing/2014/main" id="{6D117C4A-2362-7A34-D209-28278F855DFE}"/>
              </a:ext>
            </a:extLst>
          </p:cNvPr>
          <p:cNvSpPr txBox="1"/>
          <p:nvPr/>
        </p:nvSpPr>
        <p:spPr>
          <a:xfrm>
            <a:off x="6705600" y="990600"/>
            <a:ext cx="6096000" cy="374461"/>
          </a:xfrm>
          <a:prstGeom prst="rect">
            <a:avLst/>
          </a:prstGeom>
          <a:noFill/>
        </p:spPr>
        <p:txBody>
          <a:bodyPr wrap="square">
            <a:spAutoFit/>
          </a:bodyPr>
          <a:lstStyle/>
          <a:p>
            <a:pPr algn="l">
              <a:lnSpc>
                <a:spcPts val="2250"/>
              </a:lnSpc>
              <a:spcBef>
                <a:spcPts val="2400"/>
              </a:spcBef>
              <a:spcAft>
                <a:spcPts val="1200"/>
              </a:spcAft>
              <a:buNone/>
            </a:pPr>
            <a:r>
              <a:rPr lang="en-IN" b="1" dirty="0">
                <a:solidFill>
                  <a:schemeClr val="tx1"/>
                </a:solidFill>
                <a:effectLst/>
                <a:latin typeface="quote-cjk-patch"/>
              </a:rPr>
              <a:t>Process:</a:t>
            </a:r>
          </a:p>
        </p:txBody>
      </p:sp>
      <p:pic>
        <p:nvPicPr>
          <p:cNvPr id="10" name="Picture 9" descr="A screenshot of a computer program&#10;&#10;AI-generated content may be incorrect.">
            <a:extLst>
              <a:ext uri="{FF2B5EF4-FFF2-40B4-BE49-F238E27FC236}">
                <a16:creationId xmlns:a16="http://schemas.microsoft.com/office/drawing/2014/main" id="{A006FCEB-F87C-351F-8FAE-028D0D30A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120" y="1380300"/>
            <a:ext cx="6096000" cy="5338509"/>
          </a:xfrm>
          <a:prstGeom prst="rect">
            <a:avLst/>
          </a:prstGeom>
        </p:spPr>
      </p:pic>
      <p:sp>
        <p:nvSpPr>
          <p:cNvPr id="12" name="TextBox 11">
            <a:extLst>
              <a:ext uri="{FF2B5EF4-FFF2-40B4-BE49-F238E27FC236}">
                <a16:creationId xmlns:a16="http://schemas.microsoft.com/office/drawing/2014/main" id="{11EDD7F1-F53A-2D37-282D-EF3507F71436}"/>
              </a:ext>
            </a:extLst>
          </p:cNvPr>
          <p:cNvSpPr txBox="1"/>
          <p:nvPr/>
        </p:nvSpPr>
        <p:spPr>
          <a:xfrm>
            <a:off x="891946" y="3722117"/>
            <a:ext cx="6400800" cy="2457083"/>
          </a:xfrm>
          <a:prstGeom prst="rect">
            <a:avLst/>
          </a:prstGeom>
          <a:noFill/>
        </p:spPr>
        <p:txBody>
          <a:bodyPr wrap="square">
            <a:spAutoFit/>
          </a:bodyPr>
          <a:lstStyle/>
          <a:p>
            <a:pPr algn="l">
              <a:lnSpc>
                <a:spcPts val="2250"/>
              </a:lnSpc>
              <a:spcBef>
                <a:spcPts val="2400"/>
              </a:spcBef>
              <a:spcAft>
                <a:spcPts val="1200"/>
              </a:spcAft>
              <a:buNone/>
            </a:pPr>
            <a:r>
              <a:rPr lang="en-US" b="1" dirty="0">
                <a:solidFill>
                  <a:schemeClr val="tx1"/>
                </a:solidFill>
                <a:effectLst/>
                <a:latin typeface="quote-cjk-patch"/>
              </a:rPr>
              <a:t>Output:</a:t>
            </a:r>
          </a:p>
          <a:p>
            <a:pPr algn="l">
              <a:spcBef>
                <a:spcPts val="1200"/>
              </a:spcBef>
              <a:spcAft>
                <a:spcPts val="1200"/>
              </a:spcAft>
              <a:buFont typeface="Arial" panose="020B0604020202020204" pitchFamily="34" charset="0"/>
              <a:buChar char="•"/>
            </a:pPr>
            <a:r>
              <a:rPr lang="en-US" b="0" i="0" dirty="0">
                <a:solidFill>
                  <a:schemeClr val="tx1"/>
                </a:solidFill>
                <a:effectLst/>
                <a:latin typeface="quote-cjk-patch"/>
              </a:rPr>
              <a:t>Authentication status (success/failure)</a:t>
            </a:r>
          </a:p>
          <a:p>
            <a:pPr algn="l">
              <a:spcBef>
                <a:spcPts val="450"/>
              </a:spcBef>
              <a:spcAft>
                <a:spcPts val="1200"/>
              </a:spcAft>
              <a:buFont typeface="Arial" panose="020B0604020202020204" pitchFamily="34" charset="0"/>
              <a:buChar char="•"/>
            </a:pPr>
            <a:r>
              <a:rPr lang="en-US" b="0" i="0" dirty="0">
                <a:solidFill>
                  <a:schemeClr val="tx1"/>
                </a:solidFill>
                <a:effectLst/>
                <a:latin typeface="quote-cjk-patch"/>
              </a:rPr>
              <a:t>User session data</a:t>
            </a:r>
          </a:p>
          <a:p>
            <a:pPr algn="l">
              <a:spcBef>
                <a:spcPts val="450"/>
              </a:spcBef>
              <a:spcAft>
                <a:spcPts val="1200"/>
              </a:spcAft>
              <a:buFont typeface="Arial" panose="020B0604020202020204" pitchFamily="34" charset="0"/>
              <a:buChar char="•"/>
            </a:pPr>
            <a:r>
              <a:rPr lang="en-US" b="0" i="0" dirty="0">
                <a:solidFill>
                  <a:schemeClr val="tx1"/>
                </a:solidFill>
                <a:effectLst/>
                <a:latin typeface="quote-cjk-patch"/>
              </a:rPr>
              <a:t>Error messages (if applicable)</a:t>
            </a:r>
          </a:p>
          <a:p>
            <a:pPr algn="l">
              <a:spcBef>
                <a:spcPts val="450"/>
              </a:spcBef>
              <a:spcAft>
                <a:spcPts val="1200"/>
              </a:spcAft>
              <a:buFont typeface="Arial" panose="020B0604020202020204" pitchFamily="34" charset="0"/>
              <a:buChar char="•"/>
            </a:pPr>
            <a:r>
              <a:rPr lang="en-US" b="0" i="0" dirty="0">
                <a:solidFill>
                  <a:schemeClr val="tx1"/>
                </a:solidFill>
                <a:effectLst/>
                <a:latin typeface="quote-cjk-patch"/>
              </a:rPr>
              <a:t>Security tokens for continued access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latin typeface="Verdana"/>
                <a:cs typeface="Verdana"/>
              </a:rPr>
              <a:t>Algorithms</a:t>
            </a:r>
            <a:r>
              <a:rPr spc="-80" dirty="0">
                <a:latin typeface="Verdana"/>
                <a:cs typeface="Verdana"/>
              </a:rPr>
              <a:t> </a:t>
            </a:r>
            <a:r>
              <a:rPr spc="-20" dirty="0">
                <a:latin typeface="Verdana"/>
                <a:cs typeface="Verdana"/>
              </a:rPr>
              <a:t>Used</a:t>
            </a:r>
          </a:p>
        </p:txBody>
      </p:sp>
      <p:sp>
        <p:nvSpPr>
          <p:cNvPr id="3" name="object 3"/>
          <p:cNvSpPr txBox="1"/>
          <p:nvPr/>
        </p:nvSpPr>
        <p:spPr>
          <a:xfrm>
            <a:off x="426212" y="1043381"/>
            <a:ext cx="5236845" cy="5554726"/>
          </a:xfrm>
          <a:prstGeom prst="rect">
            <a:avLst/>
          </a:prstGeom>
        </p:spPr>
        <p:txBody>
          <a:bodyPr vert="horz" wrap="square" lIns="0" tIns="14605" rIns="0" bIns="0" rtlCol="0">
            <a:spAutoFit/>
          </a:bodyPr>
          <a:lstStyle/>
          <a:p>
            <a:r>
              <a:rPr lang="en-US" sz="2400" b="1" dirty="0"/>
              <a:t>Algorithm 4: Report Management System</a:t>
            </a:r>
          </a:p>
          <a:p>
            <a:r>
              <a:rPr lang="en-US" sz="2400" b="1" dirty="0"/>
              <a:t>Input:</a:t>
            </a:r>
          </a:p>
          <a:p>
            <a:r>
              <a:rPr lang="en-US" sz="2400" dirty="0"/>
              <a:t>User ID and report details</a:t>
            </a:r>
          </a:p>
          <a:p>
            <a:r>
              <a:rPr lang="en-US" sz="2400" dirty="0"/>
              <a:t>Reported profile information</a:t>
            </a:r>
          </a:p>
          <a:p>
            <a:r>
              <a:rPr lang="en-US" sz="2400" dirty="0"/>
              <a:t>Evidence and context provided by user</a:t>
            </a:r>
          </a:p>
          <a:p>
            <a:r>
              <a:rPr lang="en-US" sz="2400" dirty="0"/>
              <a:t>Timestamp and platform information</a:t>
            </a:r>
          </a:p>
          <a:p>
            <a:endParaRPr lang="en-US" sz="2400" dirty="0"/>
          </a:p>
          <a:p>
            <a:r>
              <a:rPr lang="en-US" sz="2400" b="1" dirty="0"/>
              <a:t>Output:</a:t>
            </a:r>
          </a:p>
          <a:p>
            <a:r>
              <a:rPr lang="en-US" sz="2400" dirty="0"/>
              <a:t>Report ID and tracking information</a:t>
            </a:r>
          </a:p>
          <a:p>
            <a:r>
              <a:rPr lang="en-US" sz="2400" dirty="0"/>
              <a:t>Initial assessment results</a:t>
            </a:r>
          </a:p>
          <a:p>
            <a:r>
              <a:rPr lang="en-US" sz="2400" dirty="0"/>
              <a:t>Status update</a:t>
            </a:r>
          </a:p>
          <a:p>
            <a:r>
              <a:rPr lang="en-US" sz="2400" dirty="0"/>
              <a:t>Notification to relevant parties</a:t>
            </a:r>
          </a:p>
          <a:p>
            <a:endParaRPr lang="en-US" sz="2400" dirty="0"/>
          </a:p>
        </p:txBody>
      </p:sp>
      <p:sp>
        <p:nvSpPr>
          <p:cNvPr id="6" name="TextBox 5">
            <a:extLst>
              <a:ext uri="{FF2B5EF4-FFF2-40B4-BE49-F238E27FC236}">
                <a16:creationId xmlns:a16="http://schemas.microsoft.com/office/drawing/2014/main" id="{C08669F4-E7A0-836D-8813-260919307669}"/>
              </a:ext>
            </a:extLst>
          </p:cNvPr>
          <p:cNvSpPr txBox="1"/>
          <p:nvPr/>
        </p:nvSpPr>
        <p:spPr>
          <a:xfrm>
            <a:off x="6781800" y="1043381"/>
            <a:ext cx="6096000" cy="374461"/>
          </a:xfrm>
          <a:prstGeom prst="rect">
            <a:avLst/>
          </a:prstGeom>
          <a:noFill/>
        </p:spPr>
        <p:txBody>
          <a:bodyPr wrap="square">
            <a:spAutoFit/>
          </a:bodyPr>
          <a:lstStyle/>
          <a:p>
            <a:pPr algn="l">
              <a:lnSpc>
                <a:spcPts val="2250"/>
              </a:lnSpc>
              <a:spcBef>
                <a:spcPts val="2400"/>
              </a:spcBef>
              <a:spcAft>
                <a:spcPts val="1200"/>
              </a:spcAft>
              <a:buNone/>
            </a:pPr>
            <a:r>
              <a:rPr lang="en-IN" b="1" dirty="0">
                <a:solidFill>
                  <a:schemeClr val="tx1"/>
                </a:solidFill>
                <a:effectLst/>
                <a:latin typeface="quote-cjk-patch"/>
              </a:rPr>
              <a:t>Process:</a:t>
            </a:r>
          </a:p>
        </p:txBody>
      </p:sp>
      <p:pic>
        <p:nvPicPr>
          <p:cNvPr id="8" name="Picture 7" descr="A screenshot of a computer program&#10;&#10;AI-generated content may be incorrect.">
            <a:extLst>
              <a:ext uri="{FF2B5EF4-FFF2-40B4-BE49-F238E27FC236}">
                <a16:creationId xmlns:a16="http://schemas.microsoft.com/office/drawing/2014/main" id="{21F747E1-292C-3550-DC4F-CAE7F4577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1800" y="1417842"/>
            <a:ext cx="7490054" cy="57506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latin typeface="Verdana"/>
                <a:cs typeface="Verdana"/>
              </a:rPr>
              <a:t>Algorithms</a:t>
            </a:r>
            <a:r>
              <a:rPr spc="-80" dirty="0">
                <a:latin typeface="Verdana"/>
                <a:cs typeface="Verdana"/>
              </a:rPr>
              <a:t> </a:t>
            </a:r>
            <a:r>
              <a:rPr spc="-20" dirty="0">
                <a:latin typeface="Verdana"/>
                <a:cs typeface="Verdana"/>
              </a:rPr>
              <a:t>Used</a:t>
            </a:r>
          </a:p>
        </p:txBody>
      </p:sp>
      <p:sp>
        <p:nvSpPr>
          <p:cNvPr id="3" name="object 3"/>
          <p:cNvSpPr txBox="1"/>
          <p:nvPr/>
        </p:nvSpPr>
        <p:spPr>
          <a:xfrm>
            <a:off x="218033" y="931544"/>
            <a:ext cx="7097167" cy="5861861"/>
          </a:xfrm>
          <a:prstGeom prst="rect">
            <a:avLst/>
          </a:prstGeom>
        </p:spPr>
        <p:txBody>
          <a:bodyPr vert="horz" wrap="square" lIns="0" tIns="13970" rIns="0" bIns="0" rtlCol="0">
            <a:spAutoFit/>
          </a:bodyPr>
          <a:lstStyle/>
          <a:p>
            <a:r>
              <a:rPr lang="en-IN" sz="2400" b="1" dirty="0"/>
              <a:t>Algorithm 5: Administrative Dashboard Analytics</a:t>
            </a:r>
          </a:p>
          <a:p>
            <a:r>
              <a:rPr lang="en-IN" sz="2400" b="1" dirty="0"/>
              <a:t>Input:</a:t>
            </a:r>
          </a:p>
          <a:p>
            <a:r>
              <a:rPr lang="en-IN" sz="2400" dirty="0"/>
              <a:t>Time range parameters</a:t>
            </a:r>
          </a:p>
          <a:p>
            <a:r>
              <a:rPr lang="en-IN" sz="2400" dirty="0"/>
              <a:t>User activity data</a:t>
            </a:r>
          </a:p>
          <a:p>
            <a:r>
              <a:rPr lang="en-IN" sz="2400" dirty="0"/>
              <a:t>Report statistics</a:t>
            </a:r>
          </a:p>
          <a:p>
            <a:r>
              <a:rPr lang="en-IN" sz="2400" dirty="0"/>
              <a:t>System performance metrics</a:t>
            </a:r>
          </a:p>
          <a:p>
            <a:endParaRPr lang="en-IN" sz="2400" dirty="0"/>
          </a:p>
          <a:p>
            <a:r>
              <a:rPr lang="en-US" sz="2400" b="1" dirty="0"/>
              <a:t>Output:</a:t>
            </a:r>
          </a:p>
          <a:p>
            <a:r>
              <a:rPr lang="en-US" sz="2400" dirty="0"/>
              <a:t>Statistical summaries</a:t>
            </a:r>
          </a:p>
          <a:p>
            <a:r>
              <a:rPr lang="en-US" sz="2400" dirty="0"/>
              <a:t>Data visualizations</a:t>
            </a:r>
          </a:p>
          <a:p>
            <a:r>
              <a:rPr lang="en-US" sz="2400" dirty="0"/>
              <a:t>Performance metrics</a:t>
            </a:r>
          </a:p>
          <a:p>
            <a:r>
              <a:rPr lang="en-US" sz="2400" dirty="0"/>
              <a:t>Trend analysis reports</a:t>
            </a:r>
          </a:p>
          <a:p>
            <a:endParaRPr lang="en-IN" sz="2400" dirty="0"/>
          </a:p>
          <a:p>
            <a:br>
              <a:rPr lang="en-IN" sz="2400" dirty="0"/>
            </a:br>
            <a:endParaRPr sz="2000" dirty="0">
              <a:latin typeface="Verdana"/>
              <a:cs typeface="Verdana"/>
            </a:endParaRPr>
          </a:p>
        </p:txBody>
      </p:sp>
      <p:sp>
        <p:nvSpPr>
          <p:cNvPr id="6" name="TextBox 5">
            <a:extLst>
              <a:ext uri="{FF2B5EF4-FFF2-40B4-BE49-F238E27FC236}">
                <a16:creationId xmlns:a16="http://schemas.microsoft.com/office/drawing/2014/main" id="{6D708369-1CE3-D3F7-7311-0208396A9CE3}"/>
              </a:ext>
            </a:extLst>
          </p:cNvPr>
          <p:cNvSpPr txBox="1"/>
          <p:nvPr/>
        </p:nvSpPr>
        <p:spPr>
          <a:xfrm>
            <a:off x="6827520" y="931544"/>
            <a:ext cx="6096000" cy="374461"/>
          </a:xfrm>
          <a:prstGeom prst="rect">
            <a:avLst/>
          </a:prstGeom>
          <a:noFill/>
        </p:spPr>
        <p:txBody>
          <a:bodyPr wrap="square">
            <a:spAutoFit/>
          </a:bodyPr>
          <a:lstStyle/>
          <a:p>
            <a:pPr algn="l">
              <a:lnSpc>
                <a:spcPts val="2250"/>
              </a:lnSpc>
              <a:spcBef>
                <a:spcPts val="2400"/>
              </a:spcBef>
              <a:spcAft>
                <a:spcPts val="1200"/>
              </a:spcAft>
              <a:buNone/>
            </a:pPr>
            <a:r>
              <a:rPr lang="en-IN" b="1" dirty="0">
                <a:solidFill>
                  <a:schemeClr val="tx1"/>
                </a:solidFill>
                <a:effectLst/>
                <a:latin typeface="quote-cjk-patch"/>
              </a:rPr>
              <a:t>Process:</a:t>
            </a:r>
          </a:p>
        </p:txBody>
      </p:sp>
      <p:pic>
        <p:nvPicPr>
          <p:cNvPr id="8" name="Picture 7" descr="A screenshot of a computer&#10;&#10;AI-generated content may be incorrect.">
            <a:extLst>
              <a:ext uri="{FF2B5EF4-FFF2-40B4-BE49-F238E27FC236}">
                <a16:creationId xmlns:a16="http://schemas.microsoft.com/office/drawing/2014/main" id="{A66A7642-C95B-ABBE-B439-4700810988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0" y="1306005"/>
            <a:ext cx="6368696" cy="53479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latin typeface="Verdana"/>
                <a:cs typeface="Verdana"/>
              </a:rPr>
              <a:t>Algorithms</a:t>
            </a:r>
            <a:r>
              <a:rPr spc="-80" dirty="0">
                <a:latin typeface="Verdana"/>
                <a:cs typeface="Verdana"/>
              </a:rPr>
              <a:t> </a:t>
            </a:r>
            <a:r>
              <a:rPr spc="-20" dirty="0">
                <a:latin typeface="Verdana"/>
                <a:cs typeface="Verdana"/>
              </a:rPr>
              <a:t>Used</a:t>
            </a:r>
          </a:p>
        </p:txBody>
      </p:sp>
      <p:sp>
        <p:nvSpPr>
          <p:cNvPr id="4" name="object 4"/>
          <p:cNvSpPr txBox="1"/>
          <p:nvPr/>
        </p:nvSpPr>
        <p:spPr>
          <a:xfrm>
            <a:off x="969670" y="1205393"/>
            <a:ext cx="5448935" cy="5246949"/>
          </a:xfrm>
          <a:prstGeom prst="rect">
            <a:avLst/>
          </a:prstGeom>
        </p:spPr>
        <p:txBody>
          <a:bodyPr vert="horz" wrap="square" lIns="0" tIns="75565" rIns="0" bIns="0" rtlCol="0">
            <a:spAutoFit/>
          </a:bodyPr>
          <a:lstStyle/>
          <a:p>
            <a:r>
              <a:rPr lang="en-IN" sz="2400" b="1" dirty="0"/>
              <a:t>Algorithm 6: Notification System</a:t>
            </a:r>
          </a:p>
          <a:p>
            <a:r>
              <a:rPr lang="en-IN" sz="2400" b="1" dirty="0"/>
              <a:t>Input:</a:t>
            </a:r>
          </a:p>
          <a:p>
            <a:r>
              <a:rPr lang="en-IN" sz="2400" dirty="0"/>
              <a:t>Event type (report status change, new scan result, etc.)</a:t>
            </a:r>
          </a:p>
          <a:p>
            <a:r>
              <a:rPr lang="en-IN" sz="2400" dirty="0"/>
              <a:t>Recipient information</a:t>
            </a:r>
          </a:p>
          <a:p>
            <a:r>
              <a:rPr lang="en-IN" sz="2400" dirty="0"/>
              <a:t>Message template and variables</a:t>
            </a:r>
          </a:p>
          <a:p>
            <a:r>
              <a:rPr lang="en-IN" sz="2400" dirty="0"/>
              <a:t>Priority level</a:t>
            </a:r>
          </a:p>
          <a:p>
            <a:endParaRPr lang="en-IN" sz="2400" dirty="0"/>
          </a:p>
          <a:p>
            <a:r>
              <a:rPr lang="en-US" sz="2400" b="1" dirty="0"/>
              <a:t>Output:</a:t>
            </a:r>
          </a:p>
          <a:p>
            <a:r>
              <a:rPr lang="en-US" sz="2400" dirty="0"/>
              <a:t>Notification delivery status</a:t>
            </a:r>
          </a:p>
          <a:p>
            <a:r>
              <a:rPr lang="en-US" sz="2400" dirty="0"/>
              <a:t>User acknowledgment (if required)</a:t>
            </a:r>
          </a:p>
          <a:p>
            <a:r>
              <a:rPr lang="en-US" sz="2400" dirty="0"/>
              <a:t>Delivery timestamp</a:t>
            </a:r>
          </a:p>
          <a:p>
            <a:r>
              <a:rPr lang="en-US" sz="2400" dirty="0"/>
              <a:t>Error reports (if delivery fails)</a:t>
            </a:r>
          </a:p>
          <a:p>
            <a:endParaRPr lang="en-IN" sz="2400" dirty="0"/>
          </a:p>
        </p:txBody>
      </p:sp>
      <p:sp>
        <p:nvSpPr>
          <p:cNvPr id="6" name="TextBox 5">
            <a:extLst>
              <a:ext uri="{FF2B5EF4-FFF2-40B4-BE49-F238E27FC236}">
                <a16:creationId xmlns:a16="http://schemas.microsoft.com/office/drawing/2014/main" id="{C99C34EA-D599-398F-933B-00EF9AA596B7}"/>
              </a:ext>
            </a:extLst>
          </p:cNvPr>
          <p:cNvSpPr txBox="1"/>
          <p:nvPr/>
        </p:nvSpPr>
        <p:spPr>
          <a:xfrm>
            <a:off x="6643116" y="878267"/>
            <a:ext cx="6096000" cy="374461"/>
          </a:xfrm>
          <a:prstGeom prst="rect">
            <a:avLst/>
          </a:prstGeom>
          <a:noFill/>
        </p:spPr>
        <p:txBody>
          <a:bodyPr wrap="square">
            <a:spAutoFit/>
          </a:bodyPr>
          <a:lstStyle/>
          <a:p>
            <a:pPr algn="l">
              <a:lnSpc>
                <a:spcPts val="2250"/>
              </a:lnSpc>
              <a:spcBef>
                <a:spcPts val="2400"/>
              </a:spcBef>
              <a:spcAft>
                <a:spcPts val="1200"/>
              </a:spcAft>
              <a:buNone/>
            </a:pPr>
            <a:r>
              <a:rPr lang="en-IN" b="1" dirty="0">
                <a:solidFill>
                  <a:schemeClr val="tx1"/>
                </a:solidFill>
                <a:effectLst/>
                <a:latin typeface="quote-cjk-patch"/>
              </a:rPr>
              <a:t>Process:</a:t>
            </a:r>
          </a:p>
        </p:txBody>
      </p:sp>
      <p:pic>
        <p:nvPicPr>
          <p:cNvPr id="8" name="Picture 7" descr="A screenshot of a computer&#10;&#10;AI-generated content may be incorrect.">
            <a:extLst>
              <a:ext uri="{FF2B5EF4-FFF2-40B4-BE49-F238E27FC236}">
                <a16:creationId xmlns:a16="http://schemas.microsoft.com/office/drawing/2014/main" id="{3DD855F5-EADD-4525-62DA-9D1D1AC00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3116" y="1252728"/>
            <a:ext cx="6478866" cy="522427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0329AD-B122-9C40-5CD1-F915F44F3496}"/>
              </a:ext>
            </a:extLst>
          </p:cNvPr>
          <p:cNvSpPr txBox="1"/>
          <p:nvPr/>
        </p:nvSpPr>
        <p:spPr>
          <a:xfrm>
            <a:off x="685800" y="457200"/>
            <a:ext cx="7315200" cy="1292662"/>
          </a:xfrm>
          <a:prstGeom prst="rect">
            <a:avLst/>
          </a:prstGeom>
          <a:noFill/>
        </p:spPr>
        <p:txBody>
          <a:bodyPr wrap="square">
            <a:spAutoFit/>
          </a:bodyPr>
          <a:lstStyle/>
          <a:p>
            <a:pPr algn="l">
              <a:lnSpc>
                <a:spcPts val="2400"/>
              </a:lnSpc>
              <a:spcBef>
                <a:spcPts val="2400"/>
              </a:spcBef>
              <a:spcAft>
                <a:spcPts val="1200"/>
              </a:spcAft>
              <a:buNone/>
            </a:pPr>
            <a:r>
              <a:rPr lang="en-US" sz="2400" b="1" dirty="0">
                <a:solidFill>
                  <a:schemeClr val="tx1"/>
                </a:solidFill>
                <a:effectLst/>
                <a:latin typeface="quote-cjk-patch"/>
              </a:rPr>
              <a:t>Visual Representation: Rule-Based Detection Flowchart</a:t>
            </a:r>
          </a:p>
          <a:p>
            <a:pPr>
              <a:buNone/>
            </a:pPr>
            <a:br>
              <a:rPr lang="en-US" sz="2400" b="0" i="0" dirty="0">
                <a:solidFill>
                  <a:schemeClr val="tx1"/>
                </a:solidFill>
                <a:effectLst/>
                <a:latin typeface="quote-cjk-patch"/>
              </a:rPr>
            </a:br>
            <a:endParaRPr lang="en-IN" sz="2400" dirty="0">
              <a:solidFill>
                <a:schemeClr val="tx1"/>
              </a:solidFill>
            </a:endParaRPr>
          </a:p>
        </p:txBody>
      </p:sp>
      <p:pic>
        <p:nvPicPr>
          <p:cNvPr id="9" name="Picture 8" descr="A black background with white text&#10;&#10;AI-generated content may be incorrect.">
            <a:extLst>
              <a:ext uri="{FF2B5EF4-FFF2-40B4-BE49-F238E27FC236}">
                <a16:creationId xmlns:a16="http://schemas.microsoft.com/office/drawing/2014/main" id="{023B21C4-1DBF-E7C2-F3EC-772AB8108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8600" y="0"/>
            <a:ext cx="3429000" cy="6858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prstGeom prst="rect">
            <a:avLst/>
          </a:prstGeom>
        </p:spPr>
        <p:txBody>
          <a:bodyPr vert="horz" wrap="square" lIns="0" tIns="93217" rIns="0" bIns="0" rtlCol="0">
            <a:spAutoFit/>
          </a:bodyPr>
          <a:lstStyle/>
          <a:p>
            <a:pPr marL="163195">
              <a:lnSpc>
                <a:spcPct val="100000"/>
              </a:lnSpc>
              <a:spcBef>
                <a:spcPts val="110"/>
              </a:spcBef>
            </a:pPr>
            <a:r>
              <a:rPr dirty="0"/>
              <a:t>Github</a:t>
            </a:r>
            <a:r>
              <a:rPr spc="-70" dirty="0"/>
              <a:t> </a:t>
            </a:r>
            <a:r>
              <a:rPr spc="-20" dirty="0"/>
              <a:t>Link</a:t>
            </a:r>
          </a:p>
        </p:txBody>
      </p:sp>
      <p:sp>
        <p:nvSpPr>
          <p:cNvPr id="6" name="object 6"/>
          <p:cNvSpPr txBox="1"/>
          <p:nvPr/>
        </p:nvSpPr>
        <p:spPr>
          <a:xfrm>
            <a:off x="302440" y="1066800"/>
            <a:ext cx="8298180" cy="2256387"/>
          </a:xfrm>
          <a:prstGeom prst="rect">
            <a:avLst/>
          </a:prstGeom>
        </p:spPr>
        <p:txBody>
          <a:bodyPr vert="horz" wrap="square" lIns="0" tIns="14605" rIns="0" bIns="0" rtlCol="0">
            <a:spAutoFit/>
          </a:bodyPr>
          <a:lstStyle/>
          <a:p>
            <a:pPr marL="12700">
              <a:lnSpc>
                <a:spcPct val="100000"/>
              </a:lnSpc>
              <a:spcBef>
                <a:spcPts val="115"/>
              </a:spcBef>
            </a:pPr>
            <a:r>
              <a:rPr sz="2400" dirty="0">
                <a:latin typeface="Cambria"/>
                <a:cs typeface="Cambria"/>
              </a:rPr>
              <a:t>The</a:t>
            </a:r>
            <a:r>
              <a:rPr sz="2400" spc="-5" dirty="0">
                <a:latin typeface="Cambria"/>
                <a:cs typeface="Cambria"/>
              </a:rPr>
              <a:t> </a:t>
            </a:r>
            <a:r>
              <a:rPr sz="2400" dirty="0">
                <a:latin typeface="Cambria"/>
                <a:cs typeface="Cambria"/>
              </a:rPr>
              <a:t>Github</a:t>
            </a:r>
            <a:r>
              <a:rPr sz="2400" spc="-75" dirty="0">
                <a:latin typeface="Cambria"/>
                <a:cs typeface="Cambria"/>
              </a:rPr>
              <a:t> </a:t>
            </a:r>
            <a:r>
              <a:rPr sz="2400" dirty="0">
                <a:latin typeface="Cambria"/>
                <a:cs typeface="Cambria"/>
              </a:rPr>
              <a:t>link</a:t>
            </a:r>
            <a:r>
              <a:rPr sz="2400" spc="-25" dirty="0">
                <a:latin typeface="Cambria"/>
                <a:cs typeface="Cambria"/>
              </a:rPr>
              <a:t> </a:t>
            </a:r>
            <a:r>
              <a:rPr sz="2400" dirty="0">
                <a:latin typeface="Cambria"/>
                <a:cs typeface="Cambria"/>
              </a:rPr>
              <a:t>provided</a:t>
            </a:r>
            <a:r>
              <a:rPr sz="2400" spc="-55" dirty="0">
                <a:latin typeface="Cambria"/>
                <a:cs typeface="Cambria"/>
              </a:rPr>
              <a:t> </a:t>
            </a:r>
            <a:r>
              <a:rPr sz="2400" dirty="0">
                <a:latin typeface="Cambria"/>
                <a:cs typeface="Cambria"/>
              </a:rPr>
              <a:t>should</a:t>
            </a:r>
            <a:r>
              <a:rPr sz="2400" spc="-70" dirty="0">
                <a:latin typeface="Cambria"/>
                <a:cs typeface="Cambria"/>
              </a:rPr>
              <a:t> </a:t>
            </a:r>
            <a:r>
              <a:rPr sz="2400" dirty="0">
                <a:latin typeface="Cambria"/>
                <a:cs typeface="Cambria"/>
              </a:rPr>
              <a:t>have public</a:t>
            </a:r>
            <a:r>
              <a:rPr sz="2400" spc="-30" dirty="0">
                <a:latin typeface="Cambria"/>
                <a:cs typeface="Cambria"/>
              </a:rPr>
              <a:t> </a:t>
            </a:r>
            <a:r>
              <a:rPr sz="2400" dirty="0">
                <a:latin typeface="Cambria"/>
                <a:cs typeface="Cambria"/>
              </a:rPr>
              <a:t>access</a:t>
            </a:r>
            <a:r>
              <a:rPr sz="2400" spc="-75" dirty="0">
                <a:latin typeface="Cambria"/>
                <a:cs typeface="Cambria"/>
              </a:rPr>
              <a:t> </a:t>
            </a:r>
            <a:r>
              <a:rPr sz="2400" spc="-10" dirty="0">
                <a:latin typeface="Cambria"/>
                <a:cs typeface="Cambria"/>
              </a:rPr>
              <a:t>permission.</a:t>
            </a:r>
            <a:endParaRPr sz="2400" dirty="0">
              <a:latin typeface="Cambria"/>
              <a:cs typeface="Cambria"/>
            </a:endParaRPr>
          </a:p>
          <a:p>
            <a:pPr>
              <a:lnSpc>
                <a:spcPct val="100000"/>
              </a:lnSpc>
              <a:spcBef>
                <a:spcPts val="70"/>
              </a:spcBef>
            </a:pPr>
            <a:endParaRPr sz="2400" dirty="0">
              <a:latin typeface="Cambria"/>
              <a:cs typeface="Cambria"/>
            </a:endParaRPr>
          </a:p>
          <a:p>
            <a:pPr marL="12700">
              <a:lnSpc>
                <a:spcPct val="100000"/>
              </a:lnSpc>
            </a:pPr>
            <a:r>
              <a:rPr sz="2400" b="1" dirty="0">
                <a:solidFill>
                  <a:srgbClr val="943735"/>
                </a:solidFill>
                <a:latin typeface="Cambria"/>
                <a:cs typeface="Cambria"/>
              </a:rPr>
              <a:t>Github</a:t>
            </a:r>
            <a:r>
              <a:rPr sz="2400" b="1" spc="-75" dirty="0">
                <a:solidFill>
                  <a:srgbClr val="943735"/>
                </a:solidFill>
                <a:latin typeface="Cambria"/>
                <a:cs typeface="Cambria"/>
              </a:rPr>
              <a:t> </a:t>
            </a:r>
            <a:r>
              <a:rPr sz="2400" b="1" spc="-20" dirty="0">
                <a:solidFill>
                  <a:srgbClr val="943735"/>
                </a:solidFill>
                <a:latin typeface="Cambria"/>
                <a:cs typeface="Cambria"/>
              </a:rPr>
              <a:t>Link</a:t>
            </a:r>
            <a:endParaRPr sz="2400" dirty="0">
              <a:latin typeface="Cambria"/>
              <a:cs typeface="Cambria"/>
            </a:endParaRPr>
          </a:p>
          <a:p>
            <a:pPr>
              <a:lnSpc>
                <a:spcPct val="100000"/>
              </a:lnSpc>
              <a:spcBef>
                <a:spcPts val="65"/>
              </a:spcBef>
            </a:pPr>
            <a:endParaRPr sz="2400" dirty="0">
              <a:latin typeface="Cambria"/>
              <a:cs typeface="Cambria"/>
            </a:endParaRPr>
          </a:p>
          <a:p>
            <a:pPr marL="12700">
              <a:lnSpc>
                <a:spcPct val="100000"/>
              </a:lnSpc>
              <a:spcBef>
                <a:spcPts val="5"/>
              </a:spcBef>
            </a:pPr>
            <a:r>
              <a:rPr lang="en-IN" sz="2400" b="1" u="sng" spc="-10" dirty="0">
                <a:solidFill>
                  <a:srgbClr val="0000FF"/>
                </a:solidFill>
                <a:uFill>
                  <a:solidFill>
                    <a:srgbClr val="0000FF"/>
                  </a:solidFill>
                </a:uFill>
                <a:latin typeface="Cambria"/>
                <a:cs typeface="Cambria"/>
              </a:rPr>
              <a:t>https://github.com/saif8888888888888/Fake-Profile-Detection-By-Saif</a:t>
            </a:r>
            <a:endParaRPr sz="2400" dirty="0">
              <a:latin typeface="Cambria"/>
              <a:cs typeface="Cambria"/>
            </a:endParaRPr>
          </a:p>
        </p:txBody>
      </p:sp>
      <p:pic>
        <p:nvPicPr>
          <p:cNvPr id="9" name="Picture 8" descr="A qr code with a black and white background&#10;&#10;AI-generated content may be incorrect.">
            <a:extLst>
              <a:ext uri="{FF2B5EF4-FFF2-40B4-BE49-F238E27FC236}">
                <a16:creationId xmlns:a16="http://schemas.microsoft.com/office/drawing/2014/main" id="{DFD27660-4638-F69C-5F30-D5BFD14B78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6080" y="1641849"/>
            <a:ext cx="3863160" cy="38631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References</a:t>
            </a:r>
            <a:r>
              <a:rPr spc="-100" dirty="0"/>
              <a:t> </a:t>
            </a:r>
            <a:r>
              <a:rPr spc="-10" dirty="0"/>
              <a:t>(Development)</a:t>
            </a:r>
          </a:p>
        </p:txBody>
      </p:sp>
      <p:sp>
        <p:nvSpPr>
          <p:cNvPr id="3" name="object 3"/>
          <p:cNvSpPr txBox="1"/>
          <p:nvPr/>
        </p:nvSpPr>
        <p:spPr>
          <a:xfrm>
            <a:off x="770636" y="1137666"/>
            <a:ext cx="6696964" cy="4692310"/>
          </a:xfrm>
          <a:prstGeom prst="rect">
            <a:avLst/>
          </a:prstGeom>
        </p:spPr>
        <p:txBody>
          <a:bodyPr vert="horz" wrap="square" lIns="0" tIns="13970" rIns="0" bIns="0" rtlCol="0">
            <a:spAutoFit/>
          </a:bodyPr>
          <a:lstStyle/>
          <a:p>
            <a:r>
              <a:rPr lang="en-IN" sz="1600" b="1" dirty="0"/>
              <a:t>Django Software Foundation.</a:t>
            </a:r>
            <a:r>
              <a:rPr lang="en-IN" sz="1600" dirty="0"/>
              <a:t> (2023). </a:t>
            </a:r>
            <a:r>
              <a:rPr lang="en-IN" sz="1600" i="1" dirty="0"/>
              <a:t>Django Documentation</a:t>
            </a:r>
            <a:r>
              <a:rPr lang="en-IN" sz="1600" dirty="0"/>
              <a:t>. [Online]. Available: </a:t>
            </a:r>
            <a:r>
              <a:rPr lang="en-IN" sz="1600" dirty="0">
                <a:hlinkClick r:id="rId2"/>
              </a:rPr>
              <a:t>https://www.djangoproject.com/</a:t>
            </a:r>
            <a:endParaRPr lang="en-IN" sz="1600" dirty="0"/>
          </a:p>
          <a:p>
            <a:r>
              <a:rPr lang="en-IN" sz="1600" b="1" dirty="0"/>
              <a:t>The PostgreSQL Global Development Group.</a:t>
            </a:r>
            <a:r>
              <a:rPr lang="en-IN" sz="1600" dirty="0"/>
              <a:t> (2023). </a:t>
            </a:r>
            <a:r>
              <a:rPr lang="en-IN" sz="1600" i="1" dirty="0"/>
              <a:t>PostgreSQL Documentation</a:t>
            </a:r>
            <a:r>
              <a:rPr lang="en-IN" sz="1600" dirty="0"/>
              <a:t>. [Online]. Available: </a:t>
            </a:r>
            <a:r>
              <a:rPr lang="en-IN" sz="1600" dirty="0">
                <a:hlinkClick r:id="rId3"/>
              </a:rPr>
              <a:t>https://www.postgresql.org/docs/</a:t>
            </a:r>
            <a:endParaRPr lang="en-IN" sz="1600" dirty="0"/>
          </a:p>
          <a:p>
            <a:r>
              <a:rPr lang="en-IN" sz="1600" b="1" dirty="0"/>
              <a:t>Python Software Foundation.</a:t>
            </a:r>
            <a:r>
              <a:rPr lang="en-IN" sz="1600" dirty="0"/>
              <a:t> (2023). </a:t>
            </a:r>
            <a:r>
              <a:rPr lang="en-IN" sz="1600" i="1" dirty="0"/>
              <a:t>Python Language Reference</a:t>
            </a:r>
            <a:r>
              <a:rPr lang="en-IN" sz="1600" dirty="0"/>
              <a:t>. [Online]. Available: </a:t>
            </a:r>
            <a:r>
              <a:rPr lang="en-IN" sz="1600" dirty="0">
                <a:hlinkClick r:id="rId4"/>
              </a:rPr>
              <a:t>https://docs.python.org/3/</a:t>
            </a:r>
            <a:endParaRPr lang="en-IN" sz="1600" dirty="0"/>
          </a:p>
          <a:p>
            <a:r>
              <a:rPr lang="en-IN" sz="1600" b="1" dirty="0"/>
              <a:t>Twitter, Inc.</a:t>
            </a:r>
            <a:r>
              <a:rPr lang="en-IN" sz="1600" dirty="0"/>
              <a:t> (2023). </a:t>
            </a:r>
            <a:r>
              <a:rPr lang="en-IN" sz="1600" i="1" dirty="0"/>
              <a:t>Twitter API v2 Documentation</a:t>
            </a:r>
            <a:r>
              <a:rPr lang="en-IN" sz="1600" dirty="0"/>
              <a:t>. [Online]. Available: </a:t>
            </a:r>
            <a:r>
              <a:rPr lang="en-IN" sz="1600" dirty="0">
                <a:hlinkClick r:id="rId5"/>
              </a:rPr>
              <a:t>https://developer.twitter.com/en/docs/twitter-api</a:t>
            </a:r>
            <a:endParaRPr lang="en-IN" sz="1600" dirty="0"/>
          </a:p>
          <a:p>
            <a:r>
              <a:rPr lang="en-IN" sz="1600" b="1" dirty="0"/>
              <a:t>Meta Platforms, Inc.</a:t>
            </a:r>
            <a:r>
              <a:rPr lang="en-IN" sz="1600" dirty="0"/>
              <a:t> (2023). </a:t>
            </a:r>
            <a:r>
              <a:rPr lang="en-IN" sz="1600" i="1" dirty="0"/>
              <a:t>Facebook Graph API Documentation</a:t>
            </a:r>
            <a:r>
              <a:rPr lang="en-IN" sz="1600" dirty="0"/>
              <a:t>. [Online]. Available: </a:t>
            </a:r>
            <a:r>
              <a:rPr lang="en-IN" sz="1600" dirty="0">
                <a:hlinkClick r:id="rId6"/>
              </a:rPr>
              <a:t>https://developers.facebook.com/docs/graph-api/</a:t>
            </a:r>
            <a:endParaRPr lang="en-IN" sz="1600" dirty="0"/>
          </a:p>
          <a:p>
            <a:r>
              <a:rPr lang="en-IN" sz="1600" b="1" dirty="0"/>
              <a:t>Mozilla Developer Network (MDN) contributors.</a:t>
            </a:r>
            <a:r>
              <a:rPr lang="en-IN" sz="1600" dirty="0"/>
              <a:t> (2023). </a:t>
            </a:r>
            <a:r>
              <a:rPr lang="en-IN" sz="1600" i="1" dirty="0"/>
              <a:t>HTML: </a:t>
            </a:r>
            <a:r>
              <a:rPr lang="en-IN" sz="1600" i="1" dirty="0" err="1"/>
              <a:t>HyperText</a:t>
            </a:r>
            <a:r>
              <a:rPr lang="en-IN" sz="1600" i="1" dirty="0"/>
              <a:t> Markup Language</a:t>
            </a:r>
            <a:r>
              <a:rPr lang="en-IN" sz="1600" dirty="0"/>
              <a:t>. [Online]. Available: </a:t>
            </a:r>
            <a:r>
              <a:rPr lang="en-IN" sz="1600" dirty="0">
                <a:hlinkClick r:id="rId7"/>
              </a:rPr>
              <a:t>https://developer.mozilla.org/en-US/docs/Web/HTML</a:t>
            </a:r>
            <a:endParaRPr lang="en-IN" sz="1600" dirty="0"/>
          </a:p>
          <a:p>
            <a:r>
              <a:rPr lang="en-IN" sz="1600" b="1" dirty="0"/>
              <a:t>Mozilla Developer Network (MDN) contributors.</a:t>
            </a:r>
            <a:r>
              <a:rPr lang="en-IN" sz="1600" dirty="0"/>
              <a:t> (2023). </a:t>
            </a:r>
            <a:r>
              <a:rPr lang="en-IN" sz="1600" i="1" dirty="0"/>
              <a:t>CSS: Cascading Style Sheets</a:t>
            </a:r>
            <a:r>
              <a:rPr lang="en-IN" sz="1600" dirty="0"/>
              <a:t>. [Online]. Available: </a:t>
            </a:r>
            <a:r>
              <a:rPr lang="en-IN" sz="1600" dirty="0">
                <a:hlinkClick r:id="rId8"/>
              </a:rPr>
              <a:t>https://developer.mozilla.org/en-US/docs/Web/CSS</a:t>
            </a:r>
            <a:endParaRPr lang="en-IN" sz="1600" dirty="0"/>
          </a:p>
          <a:p>
            <a:r>
              <a:rPr lang="en-IN" sz="1600" b="1" dirty="0"/>
              <a:t>Mozilla Developer Network (MDN) contributors.</a:t>
            </a:r>
            <a:r>
              <a:rPr lang="en-IN" sz="1600" dirty="0"/>
              <a:t> (2023). </a:t>
            </a:r>
            <a:r>
              <a:rPr lang="en-IN" sz="1600" i="1" dirty="0"/>
              <a:t>JavaScript</a:t>
            </a:r>
            <a:r>
              <a:rPr lang="en-IN" sz="1600" dirty="0"/>
              <a:t>. [Online]. Available: </a:t>
            </a:r>
            <a:r>
              <a:rPr lang="en-IN" sz="1600" dirty="0">
                <a:hlinkClick r:id="rId9"/>
              </a:rPr>
              <a:t>https://developer.mozilla.org/en-US/docs/Web/JavaScript</a:t>
            </a:r>
            <a:endParaRPr lang="en-IN"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References</a:t>
            </a:r>
            <a:r>
              <a:rPr spc="-55" dirty="0"/>
              <a:t> </a:t>
            </a:r>
            <a:r>
              <a:rPr dirty="0"/>
              <a:t>(IEEE</a:t>
            </a:r>
            <a:r>
              <a:rPr spc="-85" dirty="0"/>
              <a:t> </a:t>
            </a:r>
            <a:r>
              <a:rPr dirty="0"/>
              <a:t>Paper</a:t>
            </a:r>
            <a:r>
              <a:rPr spc="-80" dirty="0"/>
              <a:t> </a:t>
            </a:r>
            <a:r>
              <a:rPr spc="-10" dirty="0"/>
              <a:t>format)</a:t>
            </a:r>
          </a:p>
        </p:txBody>
      </p:sp>
      <p:sp>
        <p:nvSpPr>
          <p:cNvPr id="3" name="object 3"/>
          <p:cNvSpPr txBox="1">
            <a:spLocks noGrp="1"/>
          </p:cNvSpPr>
          <p:nvPr>
            <p:ph type="body" idx="1"/>
          </p:nvPr>
        </p:nvSpPr>
        <p:spPr>
          <a:xfrm>
            <a:off x="770636" y="1128217"/>
            <a:ext cx="10583164" cy="4812856"/>
          </a:xfrm>
          <a:prstGeom prst="rect">
            <a:avLst/>
          </a:prstGeom>
        </p:spPr>
        <p:txBody>
          <a:bodyPr vert="horz" wrap="square" lIns="0" tIns="72390" rIns="0" bIns="0" rtlCol="0">
            <a:spAutoFit/>
          </a:bodyPr>
          <a:lstStyle/>
          <a:p>
            <a:r>
              <a:rPr lang="en-IN" sz="1400" dirty="0"/>
              <a:t>[1] S. Al-</a:t>
            </a:r>
            <a:r>
              <a:rPr lang="en-IN" sz="1400" dirty="0" err="1"/>
              <a:t>Qurishi</a:t>
            </a:r>
            <a:r>
              <a:rPr lang="en-IN" sz="1400" dirty="0"/>
              <a:t>, M. S. Hossain, et al., "Detecting Fake Accounts in Online Social Networks," </a:t>
            </a:r>
            <a:r>
              <a:rPr lang="en-IN" sz="1400" i="1" dirty="0"/>
              <a:t>IEEE Access</a:t>
            </a:r>
            <a:r>
              <a:rPr lang="en-IN" sz="1400" dirty="0"/>
              <a:t>, vol. 5, pp. 4761–4770, 2017.</a:t>
            </a:r>
          </a:p>
          <a:p>
            <a:r>
              <a:rPr lang="en-IN" sz="1400" dirty="0"/>
              <a:t>[2] S. Cresci, R. D. Pietro, M. Petrocchi, A. </a:t>
            </a:r>
            <a:r>
              <a:rPr lang="en-IN" sz="1400" dirty="0" err="1"/>
              <a:t>Spognardi</a:t>
            </a:r>
            <a:r>
              <a:rPr lang="en-IN" sz="1400" dirty="0"/>
              <a:t>, and M. Tesconi, "Fake Followers Detection on Twitter: A Machine Learning Approach," in </a:t>
            </a:r>
            <a:r>
              <a:rPr lang="en-IN" sz="1400" i="1" dirty="0"/>
              <a:t>Proc. 10th Int. Conf. Social Media Society</a:t>
            </a:r>
            <a:r>
              <a:rPr lang="en-IN" sz="1400" dirty="0"/>
              <a:t>, 2015.</a:t>
            </a:r>
          </a:p>
          <a:p>
            <a:r>
              <a:rPr lang="en-IN" sz="1400" dirty="0"/>
              <a:t>[3] J. Yang, F. Li, and S. W. Lee, "Understanding and Detecting Online Human-Bot Interactions," </a:t>
            </a:r>
            <a:r>
              <a:rPr lang="en-IN" sz="1400" i="1" dirty="0"/>
              <a:t>First Monday</a:t>
            </a:r>
            <a:r>
              <a:rPr lang="en-IN" sz="1400" dirty="0"/>
              <a:t>, vol. 21, no. 11, Nov. 2016.</a:t>
            </a:r>
          </a:p>
          <a:p>
            <a:r>
              <a:rPr lang="en-IN" sz="1400" dirty="0"/>
              <a:t>[4] A. Ahmed, I. Ahmed, and M. A. Aziz, "Detection of Fake Facebook Accounts Using Machine Learning Approaches," </a:t>
            </a:r>
            <a:r>
              <a:rPr lang="en-IN" sz="1400" i="1" dirty="0"/>
              <a:t>Int. J. Adv. </a:t>
            </a:r>
            <a:r>
              <a:rPr lang="en-IN" sz="1400" i="1" dirty="0" err="1"/>
              <a:t>Comput</a:t>
            </a:r>
            <a:r>
              <a:rPr lang="en-IN" sz="1400" i="1" dirty="0"/>
              <a:t>. Sci. Appl. (IJACSA)</a:t>
            </a:r>
            <a:r>
              <a:rPr lang="en-IN" sz="1400" dirty="0"/>
              <a:t>, vol. 8, no. 5, 2017.</a:t>
            </a:r>
          </a:p>
          <a:p>
            <a:r>
              <a:rPr lang="en-IN" sz="1400" dirty="0"/>
              <a:t>[5] M. </a:t>
            </a:r>
            <a:r>
              <a:rPr lang="en-IN" sz="1400" dirty="0" err="1"/>
              <a:t>Egele</a:t>
            </a:r>
            <a:r>
              <a:rPr lang="en-IN" sz="1400" dirty="0"/>
              <a:t>, G. </a:t>
            </a:r>
            <a:r>
              <a:rPr lang="en-IN" sz="1400" dirty="0" err="1"/>
              <a:t>Stringhini</a:t>
            </a:r>
            <a:r>
              <a:rPr lang="en-IN" sz="1400" dirty="0"/>
              <a:t>, C. Kruegel, and G. Vigna, "Detecting Compromised Accounts on Social Networks," in </a:t>
            </a:r>
            <a:r>
              <a:rPr lang="en-IN" sz="1400" i="1" dirty="0"/>
              <a:t>Proc. 20th Annu. </a:t>
            </a:r>
            <a:r>
              <a:rPr lang="en-IN" sz="1400" i="1" dirty="0" err="1"/>
              <a:t>Netw</a:t>
            </a:r>
            <a:r>
              <a:rPr lang="en-IN" sz="1400" i="1" dirty="0"/>
              <a:t>. </a:t>
            </a:r>
            <a:r>
              <a:rPr lang="en-IN" sz="1400" i="1" dirty="0" err="1"/>
              <a:t>Distrib</a:t>
            </a:r>
            <a:r>
              <a:rPr lang="en-IN" sz="1400" i="1" dirty="0"/>
              <a:t>. Syst. </a:t>
            </a:r>
            <a:r>
              <a:rPr lang="en-IN" sz="1400" i="1" dirty="0" err="1"/>
              <a:t>Secur</a:t>
            </a:r>
            <a:r>
              <a:rPr lang="en-IN" sz="1400" i="1" dirty="0"/>
              <a:t>. Symp. (NDSS)</a:t>
            </a:r>
            <a:r>
              <a:rPr lang="en-IN" sz="1400" dirty="0"/>
              <a:t>, 2013.</a:t>
            </a:r>
          </a:p>
          <a:p>
            <a:r>
              <a:rPr lang="en-IN" sz="1400" dirty="0"/>
              <a:t>[6] S. Kumar and N. Shah, "False Information on Web and Social Media: A Survey," </a:t>
            </a:r>
            <a:r>
              <a:rPr lang="en-IN" sz="1400" i="1" dirty="0"/>
              <a:t>ACM </a:t>
            </a:r>
            <a:r>
              <a:rPr lang="en-IN" sz="1400" i="1" dirty="0" err="1"/>
              <a:t>Comput</a:t>
            </a:r>
            <a:r>
              <a:rPr lang="en-IN" sz="1400" i="1" dirty="0"/>
              <a:t>. </a:t>
            </a:r>
            <a:r>
              <a:rPr lang="en-IN" sz="1400" i="1" dirty="0" err="1"/>
              <a:t>Surv</a:t>
            </a:r>
            <a:r>
              <a:rPr lang="en-IN" sz="1400" i="1" dirty="0"/>
              <a:t>. (CSUR)</a:t>
            </a:r>
            <a:r>
              <a:rPr lang="en-IN" sz="1400" dirty="0"/>
              <a:t>, vol. 51, no. 4, Article 83, 2018.</a:t>
            </a:r>
          </a:p>
          <a:p>
            <a:r>
              <a:rPr lang="en-IN" sz="1400" dirty="0"/>
              <a:t>[7] K. Thomas, C. Grier, D. Song, and V. Paxson, "Suspended Accounts in Retrospect: An Analysis of Twitter Spam," in </a:t>
            </a:r>
            <a:r>
              <a:rPr lang="en-IN" sz="1400" i="1" dirty="0"/>
              <a:t>Proc. 2011 ACM SIGCOMM Conf. Internet Meas. Conf.</a:t>
            </a:r>
            <a:r>
              <a:rPr lang="en-IN" sz="1400" dirty="0"/>
              <a:t>, 2011.</a:t>
            </a:r>
          </a:p>
          <a:p>
            <a:r>
              <a:rPr lang="en-IN" sz="1400" dirty="0"/>
              <a:t>[8] A. Gupta, H. Lamba, and P. Kumaraguru, "$1.00 Per RT #BostonMarathon #PrayForBoston: </a:t>
            </a:r>
            <a:r>
              <a:rPr lang="en-IN" sz="1400" dirty="0" err="1"/>
              <a:t>Analyzing</a:t>
            </a:r>
            <a:r>
              <a:rPr lang="en-IN" sz="1400" dirty="0"/>
              <a:t> Fake Content on Twitter," in *2013 IEEE 2nd Int. Conf. Cyber-Enabled </a:t>
            </a:r>
            <a:r>
              <a:rPr lang="en-IN" sz="1400" dirty="0" err="1"/>
              <a:t>Distrib</a:t>
            </a:r>
            <a:r>
              <a:rPr lang="en-IN" sz="1400" dirty="0"/>
              <a:t>. </a:t>
            </a:r>
            <a:r>
              <a:rPr lang="en-IN" sz="1400" dirty="0" err="1"/>
              <a:t>Comput</a:t>
            </a:r>
            <a:r>
              <a:rPr lang="en-IN" sz="1400" dirty="0"/>
              <a:t>. </a:t>
            </a:r>
            <a:r>
              <a:rPr lang="en-IN" sz="1400" dirty="0" err="1"/>
              <a:t>Knowl</a:t>
            </a:r>
            <a:r>
              <a:rPr lang="en-IN" sz="1400" dirty="0"/>
              <a:t>. Discovery*, 2013.</a:t>
            </a:r>
          </a:p>
          <a:p>
            <a:r>
              <a:rPr lang="en-IN" sz="1400" dirty="0"/>
              <a:t>[9] F. Benevenuto, G. Magno, T. Rodrigues, and V. Almeida, "Detecting Spammers on Twitter," in *Proc. 7th Annu. Collaboration, Electron. Messaging, Anti-Abuse Spam Conf. (CEAS)*, vol. 6, pp. 12–21, 2010.</a:t>
            </a:r>
          </a:p>
          <a:p>
            <a:r>
              <a:rPr lang="en-IN" sz="1400" dirty="0"/>
              <a:t>[10] V. Varol, E. Ferrara, C. A. Davis, F. Menczer, and A. Flammini, "Online Human-Bot Interactions: Detection, Estimation, and Characterization," in </a:t>
            </a:r>
            <a:r>
              <a:rPr lang="en-IN" sz="1400" i="1" dirty="0"/>
              <a:t>Proc. Int. AAAI Conf. Web Soc. Media</a:t>
            </a:r>
            <a:r>
              <a:rPr lang="en-IN" sz="1400" dirty="0"/>
              <a:t>, vol. 11, no. 1, 2017.</a:t>
            </a:r>
          </a:p>
          <a:p>
            <a:br>
              <a:rPr lang="en-IN" sz="1400" dirty="0"/>
            </a:br>
            <a:endParaRPr sz="1400" spc="-1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2796" y="1440180"/>
            <a:ext cx="3895344" cy="393649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TotalTime>
  <Words>1433</Words>
  <Application>Microsoft Office PowerPoint</Application>
  <PresentationFormat>Widescreen</PresentationFormat>
  <Paragraphs>140</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MT</vt:lpstr>
      <vt:lpstr>Cambria</vt:lpstr>
      <vt:lpstr>quote-cjk-patch</vt:lpstr>
      <vt:lpstr>Verdana</vt:lpstr>
      <vt:lpstr>Wingdings</vt:lpstr>
      <vt:lpstr>Office Theme</vt:lpstr>
      <vt:lpstr>CSE7101- Capstone Project Review-3</vt:lpstr>
      <vt:lpstr>Problem Statement Number:</vt:lpstr>
      <vt:lpstr>Content</vt:lpstr>
      <vt:lpstr>Algorithms Used</vt:lpstr>
      <vt:lpstr>Algorithms Used</vt:lpstr>
      <vt:lpstr>Algorithms Used</vt:lpstr>
      <vt:lpstr>Algorithms Used</vt:lpstr>
      <vt:lpstr>Algorithms Used</vt:lpstr>
      <vt:lpstr>Algorithms Used</vt:lpstr>
      <vt:lpstr>PowerPoint Presentation</vt:lpstr>
      <vt:lpstr>Github Link</vt:lpstr>
      <vt:lpstr>References (Development)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Saifulla Saif</cp:lastModifiedBy>
  <cp:revision>5</cp:revision>
  <dcterms:created xsi:type="dcterms:W3CDTF">2025-09-23T06:48:19Z</dcterms:created>
  <dcterms:modified xsi:type="dcterms:W3CDTF">2025-09-26T06:07:52Z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2025-09-20T00:00:00Z</vt:filetime>
  </property>
  <property fmtid="{D5CDD505-2E9C-101B-9397-08002B2CF9AE}" pid="3" name="Creator">
    <vt:lpwstr>Microsoft® PowerPoint® 2016</vt:lpwstr>
  </property>
  <property fmtid="{D5CDD505-2E9C-101B-9397-08002B2CF9AE}" pid="4" name="LastSaved">
    <vt:filetime>2025-09-23T00:00:00Z</vt:filetime>
  </property>
  <property fmtid="{D5CDD505-2E9C-101B-9397-08002B2CF9AE}" pid="5" name="Producer">
    <vt:lpwstr>www.ilovepdf.com</vt:lpwstr>
  </property>
</Properties>
</file>